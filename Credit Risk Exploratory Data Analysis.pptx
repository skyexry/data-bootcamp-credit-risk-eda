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0" r:id="rId3"/>
    <p:sldId id="261" r:id="rId4"/>
    <p:sldId id="262" r:id="rId5"/>
    <p:sldId id="263" r:id="rId6"/>
    <p:sldId id="264" r:id="rId7"/>
    <p:sldId id="269" r:id="rId8"/>
    <p:sldId id="271" r:id="rId9"/>
    <p:sldId id="266" r:id="rId10"/>
    <p:sldId id="267" r:id="rId11"/>
  </p:sldIdLst>
  <p:sldSz cx="12192000" cy="6858000"/>
  <p:notesSz cx="6858000" cy="12192000"/>
  <p:embeddedFontLst>
    <p:embeddedFont>
      <p:font typeface="Liter" panose="02000503030000020004" pitchFamily="2" charset="0"/>
      <p:regular r:id="rId1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63"/>
    <p:restoredTop sz="94610"/>
  </p:normalViewPr>
  <p:slideViewPr>
    <p:cSldViewPr snapToGrid="0" snapToObjects="1">
      <p:cViewPr>
        <p:scale>
          <a:sx n="113" d="100"/>
          <a:sy n="113" d="100"/>
        </p:scale>
        <p:origin x="44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455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117CE-39E8-92D2-67B1-C1A2E3E1C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A2FBF-BB0D-65F1-F6BC-FE7453B0D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382F0-6CAB-3851-4E1C-D22E96FF8E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EE086-2A1F-C755-0266-7E743DAFF6B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9541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83B59-9C22-0A55-DAE8-44F053BF5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C5F23-179C-5A12-70F4-7325DD9EB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FAD42-DC76-412E-3F1F-449098B21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B8358E-9B93-5266-34DB-D8832C0225E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09916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057"/>
        </a:solidFill>
        <a:effectLst/>
      </p:bgPr>
    </p:bg>
    <p:spTree>
      <p:nvGrpSpPr>
        <p:cNvPr id="1" name=""/>
        <p:cNvGrpSpPr/>
        <p:nvPr/>
      </p:nvGrpSpPr>
      <p:grpSpPr>
        <a:xfrm>
          <a:off x="0" y="0"/>
          <a:ext cx="0" cy="0"/>
          <a:chOff x="0" y="0"/>
          <a:chExt cx="0" cy="0"/>
        </a:xfrm>
      </p:grpSpPr>
      <p:pic>
        <p:nvPicPr>
          <p:cNvPr id="2" name="Image 0" descr="https://kimi-web-img.moonshot.cn/img/zoomchartswebstorage.blob.core.windows.net/956ae3e1726d32485e4922d5fa289fd383cc91da.webp"/>
          <p:cNvPicPr>
            <a:picLocks noChangeAspect="1"/>
          </p:cNvPicPr>
          <p:nvPr/>
        </p:nvPicPr>
        <p:blipFill>
          <a:blip r:embed="rId3">
            <a:alphaModFix amt="30000"/>
          </a:blip>
          <a:src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E4057">
                  <a:alpha val="95000"/>
                </a:srgbClr>
              </a:gs>
              <a:gs pos="50000">
                <a:srgbClr val="2E4057">
                  <a:alpha val="85000"/>
                </a:srgbClr>
              </a:gs>
              <a:gs pos="100000">
                <a:srgbClr val="2E4057">
                  <a:alpha val="70000"/>
                </a:srgbClr>
              </a:gs>
            </a:gsLst>
            <a:lin ang="2700000" scaled="1"/>
          </a:gradFill>
          <a:ln/>
        </p:spPr>
        <p:txBody>
          <a:bodyPr/>
          <a:lstStyle/>
          <a:p>
            <a:endParaRPr lang="zh-CN" altLang="en-US"/>
          </a:p>
        </p:txBody>
      </p:sp>
      <p:sp>
        <p:nvSpPr>
          <p:cNvPr id="4" name="Shape 1"/>
          <p:cNvSpPr/>
          <p:nvPr/>
        </p:nvSpPr>
        <p:spPr>
          <a:xfrm>
            <a:off x="381000" y="4953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C0A062"/>
          </a:solidFill>
          <a:ln/>
        </p:spPr>
        <p:txBody>
          <a:bodyPr/>
          <a:lstStyle/>
          <a:p>
            <a:endParaRPr lang="zh-CN" altLang="en-US"/>
          </a:p>
        </p:txBody>
      </p:sp>
      <p:sp>
        <p:nvSpPr>
          <p:cNvPr id="5" name="Text 2"/>
          <p:cNvSpPr/>
          <p:nvPr/>
        </p:nvSpPr>
        <p:spPr>
          <a:xfrm>
            <a:off x="1104900" y="381000"/>
            <a:ext cx="2790825" cy="266700"/>
          </a:xfrm>
          <a:prstGeom prst="rect">
            <a:avLst/>
          </a:prstGeom>
          <a:noFill/>
          <a:ln/>
        </p:spPr>
        <p:txBody>
          <a:bodyPr wrap="square" lIns="0" tIns="0" rIns="0" bIns="0" rtlCol="0" anchor="ctr"/>
          <a:lstStyle/>
          <a:p>
            <a:pPr>
              <a:lnSpc>
                <a:spcPct val="130000"/>
              </a:lnSpc>
            </a:pPr>
            <a:r>
              <a:rPr lang="en-US" sz="1350" b="1" kern="0" spc="135" dirty="0">
                <a:solidFill>
                  <a:srgbClr val="C0A062"/>
                </a:solidFill>
                <a:latin typeface="Liter" pitchFamily="34" charset="0"/>
                <a:ea typeface="Liter" pitchFamily="34" charset="-122"/>
                <a:cs typeface="Liter" pitchFamily="34" charset="-120"/>
              </a:rPr>
              <a:t>Data Bootcamp</a:t>
            </a:r>
            <a:endParaRPr lang="en-US" sz="1600" dirty="0"/>
          </a:p>
        </p:txBody>
      </p:sp>
      <p:sp>
        <p:nvSpPr>
          <p:cNvPr id="6" name="Text 3"/>
          <p:cNvSpPr/>
          <p:nvPr/>
        </p:nvSpPr>
        <p:spPr>
          <a:xfrm>
            <a:off x="381000" y="1628775"/>
            <a:ext cx="8877300" cy="2571750"/>
          </a:xfrm>
          <a:prstGeom prst="rect">
            <a:avLst/>
          </a:prstGeom>
          <a:noFill/>
          <a:ln/>
        </p:spPr>
        <p:txBody>
          <a:bodyPr wrap="square" lIns="0" tIns="0" rIns="0" bIns="0" rtlCol="0" anchor="ctr"/>
          <a:lstStyle/>
          <a:p>
            <a:pPr>
              <a:lnSpc>
                <a:spcPct val="100000"/>
              </a:lnSpc>
            </a:pPr>
            <a:r>
              <a:rPr lang="en-US" sz="5400" b="1" dirty="0">
                <a:solidFill>
                  <a:srgbClr val="F7FAFC"/>
                </a:solidFill>
                <a:latin typeface="Liter" pitchFamily="34" charset="0"/>
                <a:ea typeface="Liter" pitchFamily="34" charset="-122"/>
                <a:cs typeface="Liter" pitchFamily="34" charset="-120"/>
              </a:rPr>
              <a:t>Credit Risk</a:t>
            </a:r>
            <a:endParaRPr lang="en-US" sz="1600" dirty="0"/>
          </a:p>
          <a:p>
            <a:pPr>
              <a:lnSpc>
                <a:spcPct val="100000"/>
              </a:lnSpc>
            </a:pPr>
            <a:r>
              <a:rPr lang="en-US" sz="5400" b="1" dirty="0">
                <a:solidFill>
                  <a:srgbClr val="F7FAFC"/>
                </a:solidFill>
                <a:latin typeface="Liter" pitchFamily="34" charset="0"/>
                <a:ea typeface="Liter" pitchFamily="34" charset="-122"/>
                <a:cs typeface="Liter" pitchFamily="34" charset="-120"/>
              </a:rPr>
              <a:t>Exploratory Data</a:t>
            </a:r>
            <a:endParaRPr lang="en-US" sz="1600" dirty="0"/>
          </a:p>
          <a:p>
            <a:pPr>
              <a:lnSpc>
                <a:spcPct val="100000"/>
              </a:lnSpc>
            </a:pPr>
            <a:r>
              <a:rPr lang="en-US" sz="5400" b="1" dirty="0">
                <a:solidFill>
                  <a:srgbClr val="F7FAFC"/>
                </a:solidFill>
                <a:latin typeface="Liter" pitchFamily="34" charset="0"/>
                <a:ea typeface="Liter" pitchFamily="34" charset="-122"/>
                <a:cs typeface="Liter" pitchFamily="34" charset="-120"/>
              </a:rPr>
              <a:t>Analysis</a:t>
            </a:r>
            <a:endParaRPr lang="en-US" sz="1600" dirty="0"/>
          </a:p>
        </p:txBody>
      </p:sp>
      <p:sp>
        <p:nvSpPr>
          <p:cNvPr id="7" name="Shape 4"/>
          <p:cNvSpPr/>
          <p:nvPr/>
        </p:nvSpPr>
        <p:spPr>
          <a:xfrm>
            <a:off x="381000" y="4467225"/>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C0A062"/>
          </a:solidFill>
          <a:ln/>
        </p:spPr>
        <p:txBody>
          <a:bodyPr/>
          <a:lstStyle/>
          <a:p>
            <a:endParaRPr lang="zh-CN" altLang="en-US"/>
          </a:p>
        </p:txBody>
      </p:sp>
      <p:sp>
        <p:nvSpPr>
          <p:cNvPr id="8" name="Text 5"/>
          <p:cNvSpPr/>
          <p:nvPr/>
        </p:nvSpPr>
        <p:spPr>
          <a:xfrm>
            <a:off x="695325" y="4429125"/>
            <a:ext cx="838200" cy="266700"/>
          </a:xfrm>
          <a:prstGeom prst="rect">
            <a:avLst/>
          </a:prstGeom>
          <a:noFill/>
          <a:ln/>
        </p:spPr>
        <p:txBody>
          <a:bodyPr wrap="square" lIns="0" tIns="0" rIns="0" bIns="0" rtlCol="0" anchor="ctr"/>
          <a:lstStyle/>
          <a:p>
            <a:pPr>
              <a:lnSpc>
                <a:spcPct val="120000"/>
              </a:lnSpc>
            </a:pPr>
            <a:r>
              <a:rPr lang="en-US" sz="1500" dirty="0">
                <a:solidFill>
                  <a:srgbClr val="A0AEC0"/>
                </a:solidFill>
                <a:latin typeface="Liter" pitchFamily="34" charset="0"/>
                <a:ea typeface="Liter" pitchFamily="34" charset="-122"/>
                <a:cs typeface="Liter" pitchFamily="34" charset="-120"/>
              </a:rPr>
              <a:t>Group 12</a:t>
            </a:r>
            <a:endParaRPr lang="en-US" sz="1600" dirty="0"/>
          </a:p>
        </p:txBody>
      </p:sp>
      <p:sp>
        <p:nvSpPr>
          <p:cNvPr id="9" name="Shape 6"/>
          <p:cNvSpPr/>
          <p:nvPr/>
        </p:nvSpPr>
        <p:spPr>
          <a:xfrm>
            <a:off x="1667470" y="4448175"/>
            <a:ext cx="38100" cy="228600"/>
          </a:xfrm>
          <a:custGeom>
            <a:avLst/>
            <a:gdLst/>
            <a:ahLst/>
            <a:cxnLst/>
            <a:rect l="l" t="t" r="r" b="b"/>
            <a:pathLst>
              <a:path w="38100" h="228600">
                <a:moveTo>
                  <a:pt x="0" y="0"/>
                </a:moveTo>
                <a:lnTo>
                  <a:pt x="38100" y="0"/>
                </a:lnTo>
                <a:lnTo>
                  <a:pt x="38100" y="228600"/>
                </a:lnTo>
                <a:lnTo>
                  <a:pt x="0" y="228600"/>
                </a:lnTo>
                <a:lnTo>
                  <a:pt x="0" y="0"/>
                </a:lnTo>
                <a:close/>
              </a:path>
            </a:pathLst>
          </a:custGeom>
          <a:solidFill>
            <a:srgbClr val="A0AEC0"/>
          </a:solidFill>
          <a:ln/>
        </p:spPr>
        <p:txBody>
          <a:bodyPr/>
          <a:lstStyle/>
          <a:p>
            <a:endParaRPr lang="zh-CN" altLang="en-US"/>
          </a:p>
        </p:txBody>
      </p:sp>
      <p:sp>
        <p:nvSpPr>
          <p:cNvPr id="10" name="Shape 7"/>
          <p:cNvSpPr/>
          <p:nvPr/>
        </p:nvSpPr>
        <p:spPr>
          <a:xfrm>
            <a:off x="1969889" y="4467225"/>
            <a:ext cx="166688" cy="190500"/>
          </a:xfrm>
          <a:custGeom>
            <a:avLst/>
            <a:gdLst/>
            <a:ahLst/>
            <a:cxn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C0A062"/>
          </a:solidFill>
          <a:ln/>
        </p:spPr>
        <p:txBody>
          <a:bodyPr/>
          <a:lstStyle/>
          <a:p>
            <a:endParaRPr lang="zh-CN" altLang="en-US"/>
          </a:p>
        </p:txBody>
      </p:sp>
      <p:sp>
        <p:nvSpPr>
          <p:cNvPr id="11" name="Text 8"/>
          <p:cNvSpPr/>
          <p:nvPr/>
        </p:nvSpPr>
        <p:spPr>
          <a:xfrm>
            <a:off x="2248495" y="4429125"/>
            <a:ext cx="1343025" cy="266700"/>
          </a:xfrm>
          <a:prstGeom prst="rect">
            <a:avLst/>
          </a:prstGeom>
          <a:noFill/>
          <a:ln/>
        </p:spPr>
        <p:txBody>
          <a:bodyPr wrap="square" lIns="0" tIns="0" rIns="0" bIns="0" rtlCol="0" anchor="ctr"/>
          <a:lstStyle/>
          <a:p>
            <a:pPr>
              <a:lnSpc>
                <a:spcPct val="120000"/>
              </a:lnSpc>
            </a:pPr>
            <a:r>
              <a:rPr lang="en-US" sz="1500" dirty="0">
                <a:solidFill>
                  <a:srgbClr val="A0AEC0"/>
                </a:solidFill>
                <a:latin typeface="Liter" pitchFamily="34" charset="0"/>
                <a:ea typeface="Liter" pitchFamily="34" charset="-122"/>
                <a:cs typeface="Liter" pitchFamily="34" charset="-120"/>
              </a:rPr>
              <a:t>February 2026</a:t>
            </a:r>
            <a:endParaRPr lang="en-US" sz="1600" dirty="0"/>
          </a:p>
        </p:txBody>
      </p:sp>
      <p:sp>
        <p:nvSpPr>
          <p:cNvPr id="12" name="Shape 9"/>
          <p:cNvSpPr/>
          <p:nvPr/>
        </p:nvSpPr>
        <p:spPr>
          <a:xfrm>
            <a:off x="381000" y="60007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0A062"/>
          </a:solidFill>
          <a:ln/>
        </p:spPr>
        <p:txBody>
          <a:bodyPr/>
          <a:lstStyle/>
          <a:p>
            <a:endParaRPr lang="zh-CN" altLang="en-US"/>
          </a:p>
        </p:txBody>
      </p:sp>
      <p:sp>
        <p:nvSpPr>
          <p:cNvPr id="13" name="Shape 10"/>
          <p:cNvSpPr/>
          <p:nvPr/>
        </p:nvSpPr>
        <p:spPr>
          <a:xfrm>
            <a:off x="514350" y="613410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2E4057"/>
          </a:solidFill>
          <a:ln/>
        </p:spPr>
        <p:txBody>
          <a:bodyPr/>
          <a:lstStyle/>
          <a:p>
            <a:endParaRPr lang="zh-CN" altLang="en-US"/>
          </a:p>
        </p:txBody>
      </p:sp>
      <p:sp>
        <p:nvSpPr>
          <p:cNvPr id="14" name="Text 11"/>
          <p:cNvSpPr/>
          <p:nvPr/>
        </p:nvSpPr>
        <p:spPr>
          <a:xfrm>
            <a:off x="990600" y="5981700"/>
            <a:ext cx="1457325" cy="266700"/>
          </a:xfrm>
          <a:prstGeom prst="rect">
            <a:avLst/>
          </a:prstGeom>
          <a:noFill/>
          <a:ln/>
        </p:spPr>
        <p:txBody>
          <a:bodyPr wrap="square" lIns="0" tIns="0" rIns="0" bIns="0" rtlCol="0" anchor="ctr"/>
          <a:lstStyle/>
          <a:p>
            <a:pPr>
              <a:lnSpc>
                <a:spcPct val="130000"/>
              </a:lnSpc>
            </a:pPr>
            <a:r>
              <a:rPr lang="en-US" sz="1350" b="1" dirty="0">
                <a:solidFill>
                  <a:srgbClr val="F7FAFC"/>
                </a:solidFill>
                <a:latin typeface="Liter" pitchFamily="34" charset="0"/>
                <a:ea typeface="Liter" pitchFamily="34" charset="-122"/>
                <a:cs typeface="Liter" pitchFamily="34" charset="-120"/>
              </a:rPr>
              <a:t>Risk Assessment</a:t>
            </a:r>
            <a:endParaRPr lang="en-US" sz="1600" dirty="0"/>
          </a:p>
        </p:txBody>
      </p:sp>
      <p:sp>
        <p:nvSpPr>
          <p:cNvPr id="15" name="Text 12"/>
          <p:cNvSpPr/>
          <p:nvPr/>
        </p:nvSpPr>
        <p:spPr>
          <a:xfrm>
            <a:off x="990600" y="6248400"/>
            <a:ext cx="1447800" cy="228600"/>
          </a:xfrm>
          <a:prstGeom prst="rect">
            <a:avLst/>
          </a:prstGeom>
          <a:noFill/>
          <a:ln/>
        </p:spPr>
        <p:txBody>
          <a:bodyPr wrap="square" lIns="0" tIns="0" rIns="0" bIns="0" rtlCol="0" anchor="ctr"/>
          <a:lstStyle/>
          <a:p>
            <a:pPr>
              <a:lnSpc>
                <a:spcPct val="130000"/>
              </a:lnSpc>
            </a:pPr>
            <a:r>
              <a:rPr lang="en-US" sz="1200" dirty="0">
                <a:solidFill>
                  <a:srgbClr val="A0AEC0"/>
                </a:solidFill>
                <a:latin typeface="Liter" pitchFamily="34" charset="0"/>
                <a:ea typeface="Liter" pitchFamily="34" charset="-122"/>
                <a:cs typeface="Liter" pitchFamily="34" charset="-120"/>
              </a:rPr>
              <a:t>Data-Driven Insights</a:t>
            </a:r>
            <a:endParaRPr lang="en-US" sz="1600" dirty="0"/>
          </a:p>
        </p:txBody>
      </p:sp>
      <p:sp>
        <p:nvSpPr>
          <p:cNvPr id="16" name="Text 13"/>
          <p:cNvSpPr/>
          <p:nvPr/>
        </p:nvSpPr>
        <p:spPr>
          <a:xfrm>
            <a:off x="10163175" y="5577296"/>
            <a:ext cx="1647825" cy="899704"/>
          </a:xfrm>
          <a:prstGeom prst="rect">
            <a:avLst/>
          </a:prstGeom>
          <a:noFill/>
          <a:ln/>
        </p:spPr>
        <p:txBody>
          <a:bodyPr wrap="square" lIns="0" tIns="0" rIns="0" bIns="0" rtlCol="0" anchor="ctr"/>
          <a:lstStyle/>
          <a:p>
            <a:pPr algn="r">
              <a:lnSpc>
                <a:spcPct val="130000"/>
              </a:lnSpc>
            </a:pPr>
            <a:r>
              <a:rPr lang="en-US" sz="1200" dirty="0">
                <a:solidFill>
                  <a:srgbClr val="A0AEC0"/>
                </a:solidFill>
                <a:latin typeface="Liter" pitchFamily="34" charset="0"/>
                <a:ea typeface="Liter" pitchFamily="34" charset="-122"/>
                <a:cs typeface="Liter" pitchFamily="34" charset="-120"/>
              </a:rPr>
              <a:t>Skye Xi</a:t>
            </a:r>
          </a:p>
          <a:p>
            <a:pPr algn="r">
              <a:lnSpc>
                <a:spcPct val="130000"/>
              </a:lnSpc>
            </a:pPr>
            <a:r>
              <a:rPr lang="en-US" sz="1200" dirty="0">
                <a:solidFill>
                  <a:srgbClr val="A0AEC0"/>
                </a:solidFill>
                <a:latin typeface="Liter" pitchFamily="34" charset="0"/>
                <a:ea typeface="Liter" pitchFamily="34" charset="-122"/>
                <a:cs typeface="Liter" pitchFamily="34" charset="-120"/>
              </a:rPr>
              <a:t>Jonathan Cain Sab Rajesh Krishnan</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0A062"/>
                </a:solidFill>
                <a:latin typeface="Liter" pitchFamily="34" charset="0"/>
                <a:ea typeface="Liter" pitchFamily="34" charset="-122"/>
                <a:cs typeface="Liter" pitchFamily="34" charset="-120"/>
              </a:rPr>
              <a:t>02 • Key Variables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4057"/>
                </a:solidFill>
                <a:latin typeface="Liter" pitchFamily="34" charset="0"/>
                <a:ea typeface="Liter" pitchFamily="34" charset="-122"/>
                <a:cs typeface="Liter" pitchFamily="34" charset="-120"/>
              </a:rPr>
              <a:t>Risk Assessment Framework</a:t>
            </a:r>
            <a:endParaRPr lang="en-US" sz="1600" dirty="0"/>
          </a:p>
        </p:txBody>
      </p:sp>
      <p:sp>
        <p:nvSpPr>
          <p:cNvPr id="4" name="Shape 2"/>
          <p:cNvSpPr/>
          <p:nvPr/>
        </p:nvSpPr>
        <p:spPr>
          <a:xfrm>
            <a:off x="400050" y="1181100"/>
            <a:ext cx="6181725" cy="1485900"/>
          </a:xfrm>
          <a:custGeom>
            <a:avLst/>
            <a:gdLst/>
            <a:ahLst/>
            <a:cxnLst/>
            <a:rect l="l" t="t" r="r" b="b"/>
            <a:pathLst>
              <a:path w="6181725" h="1485900">
                <a:moveTo>
                  <a:pt x="38100" y="0"/>
                </a:moveTo>
                <a:lnTo>
                  <a:pt x="6105528" y="0"/>
                </a:lnTo>
                <a:cubicBezTo>
                  <a:pt x="6147610" y="0"/>
                  <a:pt x="6181725" y="34115"/>
                  <a:pt x="6181725" y="76197"/>
                </a:cubicBezTo>
                <a:lnTo>
                  <a:pt x="6181725" y="1409703"/>
                </a:lnTo>
                <a:cubicBezTo>
                  <a:pt x="6181725" y="1451785"/>
                  <a:pt x="6147610" y="1485900"/>
                  <a:pt x="6105528" y="1485900"/>
                </a:cubicBezTo>
                <a:lnTo>
                  <a:pt x="38100" y="1485900"/>
                </a:lnTo>
                <a:cubicBezTo>
                  <a:pt x="17072" y="1485900"/>
                  <a:pt x="0" y="1468828"/>
                  <a:pt x="0" y="144780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5" name="Shape 3"/>
          <p:cNvSpPr/>
          <p:nvPr/>
        </p:nvSpPr>
        <p:spPr>
          <a:xfrm>
            <a:off x="400050" y="1181100"/>
            <a:ext cx="38100" cy="1485900"/>
          </a:xfrm>
          <a:custGeom>
            <a:avLst/>
            <a:gdLst/>
            <a:ahLst/>
            <a:cxnLst/>
            <a:rect l="l" t="t" r="r" b="b"/>
            <a:pathLst>
              <a:path w="38100" h="1485900">
                <a:moveTo>
                  <a:pt x="38100" y="0"/>
                </a:moveTo>
                <a:lnTo>
                  <a:pt x="38100" y="0"/>
                </a:lnTo>
                <a:lnTo>
                  <a:pt x="38100" y="1485900"/>
                </a:lnTo>
                <a:lnTo>
                  <a:pt x="38100" y="1485900"/>
                </a:lnTo>
                <a:cubicBezTo>
                  <a:pt x="17072" y="1485900"/>
                  <a:pt x="0" y="1468828"/>
                  <a:pt x="0" y="1447800"/>
                </a:cubicBezTo>
                <a:lnTo>
                  <a:pt x="0" y="38100"/>
                </a:lnTo>
                <a:cubicBezTo>
                  <a:pt x="0" y="17072"/>
                  <a:pt x="17072" y="0"/>
                  <a:pt x="38100" y="0"/>
                </a:cubicBezTo>
                <a:close/>
              </a:path>
            </a:pathLst>
          </a:custGeom>
          <a:solidFill>
            <a:srgbClr val="C0A062"/>
          </a:solidFill>
          <a:ln/>
        </p:spPr>
        <p:txBody>
          <a:bodyPr/>
          <a:lstStyle/>
          <a:p>
            <a:endParaRPr lang="zh-CN" altLang="en-US"/>
          </a:p>
        </p:txBody>
      </p:sp>
      <p:sp>
        <p:nvSpPr>
          <p:cNvPr id="6" name="Shape 4"/>
          <p:cNvSpPr/>
          <p:nvPr/>
        </p:nvSpPr>
        <p:spPr>
          <a:xfrm>
            <a:off x="571500" y="13716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C0A062"/>
          </a:solidFill>
          <a:ln/>
        </p:spPr>
        <p:txBody>
          <a:bodyPr/>
          <a:lstStyle/>
          <a:p>
            <a:endParaRPr lang="zh-CN" altLang="en-US"/>
          </a:p>
        </p:txBody>
      </p:sp>
      <p:sp>
        <p:nvSpPr>
          <p:cNvPr id="7" name="Text 5"/>
          <p:cNvSpPr/>
          <p:nvPr/>
        </p:nvSpPr>
        <p:spPr>
          <a:xfrm>
            <a:off x="533400" y="1371600"/>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Liter" pitchFamily="34" charset="0"/>
                <a:ea typeface="Liter" pitchFamily="34" charset="-122"/>
                <a:cs typeface="Liter" pitchFamily="34" charset="-120"/>
              </a:rPr>
              <a:t>T</a:t>
            </a:r>
            <a:endParaRPr lang="en-US" sz="1600" dirty="0"/>
          </a:p>
        </p:txBody>
      </p:sp>
      <p:sp>
        <p:nvSpPr>
          <p:cNvPr id="8" name="Text 6"/>
          <p:cNvSpPr/>
          <p:nvPr/>
        </p:nvSpPr>
        <p:spPr>
          <a:xfrm>
            <a:off x="1066800" y="1333500"/>
            <a:ext cx="1619250"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TARGET</a:t>
            </a:r>
            <a:endParaRPr lang="en-US" sz="1600" dirty="0"/>
          </a:p>
        </p:txBody>
      </p:sp>
      <p:sp>
        <p:nvSpPr>
          <p:cNvPr id="9" name="Text 7"/>
          <p:cNvSpPr/>
          <p:nvPr/>
        </p:nvSpPr>
        <p:spPr>
          <a:xfrm>
            <a:off x="1066800" y="1600200"/>
            <a:ext cx="1600200" cy="190500"/>
          </a:xfrm>
          <a:prstGeom prst="rect">
            <a:avLst/>
          </a:prstGeom>
          <a:noFill/>
          <a:ln/>
        </p:spPr>
        <p:txBody>
          <a:bodyPr wrap="square" lIns="0" tIns="0" rIns="0" bIns="0" rtlCol="0" anchor="ctr"/>
          <a:lstStyle/>
          <a:p>
            <a:pPr>
              <a:lnSpc>
                <a:spcPct val="120000"/>
              </a:lnSpc>
            </a:pPr>
            <a:r>
              <a:rPr lang="en-US" sz="1050" dirty="0">
                <a:solidFill>
                  <a:srgbClr val="A0AEC0"/>
                </a:solidFill>
                <a:latin typeface="Liter" pitchFamily="34" charset="0"/>
                <a:ea typeface="Liter" pitchFamily="34" charset="-122"/>
                <a:cs typeface="Liter" pitchFamily="34" charset="-120"/>
              </a:rPr>
              <a:t>Primary Outcome Variable</a:t>
            </a:r>
            <a:endParaRPr lang="en-US" sz="1600" dirty="0"/>
          </a:p>
        </p:txBody>
      </p:sp>
      <p:sp>
        <p:nvSpPr>
          <p:cNvPr id="10" name="Shape 8"/>
          <p:cNvSpPr/>
          <p:nvPr/>
        </p:nvSpPr>
        <p:spPr>
          <a:xfrm>
            <a:off x="571500" y="1866900"/>
            <a:ext cx="2876550" cy="647700"/>
          </a:xfrm>
          <a:custGeom>
            <a:avLst/>
            <a:gdLst/>
            <a:ahLst/>
            <a:cxnLst/>
            <a:rect l="l" t="t" r="r" b="b"/>
            <a:pathLst>
              <a:path w="2876550" h="647700">
                <a:moveTo>
                  <a:pt x="38098" y="0"/>
                </a:moveTo>
                <a:lnTo>
                  <a:pt x="2838452" y="0"/>
                </a:lnTo>
                <a:cubicBezTo>
                  <a:pt x="2859479" y="0"/>
                  <a:pt x="2876550" y="17071"/>
                  <a:pt x="2876550" y="38098"/>
                </a:cubicBezTo>
                <a:lnTo>
                  <a:pt x="2876550" y="609602"/>
                </a:lnTo>
                <a:cubicBezTo>
                  <a:pt x="2876550" y="630643"/>
                  <a:pt x="2859493" y="647700"/>
                  <a:pt x="2838452" y="647700"/>
                </a:cubicBezTo>
                <a:lnTo>
                  <a:pt x="38098" y="647700"/>
                </a:lnTo>
                <a:cubicBezTo>
                  <a:pt x="17071" y="647700"/>
                  <a:pt x="0" y="630629"/>
                  <a:pt x="0" y="609602"/>
                </a:cubicBezTo>
                <a:lnTo>
                  <a:pt x="0" y="38098"/>
                </a:lnTo>
                <a:cubicBezTo>
                  <a:pt x="0" y="17071"/>
                  <a:pt x="17071" y="0"/>
                  <a:pt x="38098" y="0"/>
                </a:cubicBezTo>
                <a:close/>
              </a:path>
            </a:pathLst>
          </a:custGeom>
          <a:solidFill>
            <a:srgbClr val="2E4057">
              <a:alpha val="10196"/>
            </a:srgbClr>
          </a:solidFill>
          <a:ln/>
        </p:spPr>
        <p:txBody>
          <a:bodyPr/>
          <a:lstStyle/>
          <a:p>
            <a:endParaRPr lang="zh-CN" altLang="en-US"/>
          </a:p>
        </p:txBody>
      </p:sp>
      <p:sp>
        <p:nvSpPr>
          <p:cNvPr id="11" name="Text 9"/>
          <p:cNvSpPr/>
          <p:nvPr/>
        </p:nvSpPr>
        <p:spPr>
          <a:xfrm>
            <a:off x="590550" y="1943100"/>
            <a:ext cx="2838450" cy="304800"/>
          </a:xfrm>
          <a:prstGeom prst="rect">
            <a:avLst/>
          </a:prstGeom>
          <a:noFill/>
          <a:ln/>
        </p:spPr>
        <p:txBody>
          <a:bodyPr wrap="square" lIns="0" tIns="0" rIns="0" bIns="0" rtlCol="0" anchor="ctr"/>
          <a:lstStyle/>
          <a:p>
            <a:pPr algn="ctr">
              <a:lnSpc>
                <a:spcPct val="110000"/>
              </a:lnSpc>
            </a:pPr>
            <a:r>
              <a:rPr lang="en-US" sz="1800" b="1" dirty="0">
                <a:solidFill>
                  <a:srgbClr val="2E4057"/>
                </a:solidFill>
                <a:latin typeface="Liter" pitchFamily="34" charset="0"/>
                <a:ea typeface="Liter" pitchFamily="34" charset="-122"/>
                <a:cs typeface="Liter" pitchFamily="34" charset="-120"/>
              </a:rPr>
              <a:t>0</a:t>
            </a:r>
            <a:endParaRPr lang="en-US" sz="1600" dirty="0"/>
          </a:p>
        </p:txBody>
      </p:sp>
      <p:sp>
        <p:nvSpPr>
          <p:cNvPr id="12" name="Text 10"/>
          <p:cNvSpPr/>
          <p:nvPr/>
        </p:nvSpPr>
        <p:spPr>
          <a:xfrm>
            <a:off x="614363" y="2247900"/>
            <a:ext cx="2790825" cy="190500"/>
          </a:xfrm>
          <a:prstGeom prst="rect">
            <a:avLst/>
          </a:prstGeom>
          <a:noFill/>
          <a:ln/>
        </p:spPr>
        <p:txBody>
          <a:bodyPr wrap="square" lIns="0" tIns="0" rIns="0" bIns="0" rtlCol="0" anchor="ctr"/>
          <a:lstStyle/>
          <a:p>
            <a:pPr algn="ctr">
              <a:lnSpc>
                <a:spcPct val="120000"/>
              </a:lnSpc>
            </a:pPr>
            <a:r>
              <a:rPr lang="en-US" sz="1050" dirty="0">
                <a:solidFill>
                  <a:srgbClr val="2D3748"/>
                </a:solidFill>
                <a:latin typeface="Liter" pitchFamily="34" charset="0"/>
                <a:ea typeface="Liter" pitchFamily="34" charset="-122"/>
                <a:cs typeface="Liter" pitchFamily="34" charset="-120"/>
              </a:rPr>
              <a:t>On-time Payments</a:t>
            </a:r>
            <a:endParaRPr lang="en-US" sz="1600" dirty="0"/>
          </a:p>
        </p:txBody>
      </p:sp>
      <p:sp>
        <p:nvSpPr>
          <p:cNvPr id="13" name="Shape 11"/>
          <p:cNvSpPr/>
          <p:nvPr/>
        </p:nvSpPr>
        <p:spPr>
          <a:xfrm>
            <a:off x="3558555" y="1866900"/>
            <a:ext cx="2876550" cy="647700"/>
          </a:xfrm>
          <a:custGeom>
            <a:avLst/>
            <a:gdLst/>
            <a:ahLst/>
            <a:cxnLst/>
            <a:rect l="l" t="t" r="r" b="b"/>
            <a:pathLst>
              <a:path w="2876550" h="647700">
                <a:moveTo>
                  <a:pt x="38098" y="0"/>
                </a:moveTo>
                <a:lnTo>
                  <a:pt x="2838452" y="0"/>
                </a:lnTo>
                <a:cubicBezTo>
                  <a:pt x="2859479" y="0"/>
                  <a:pt x="2876550" y="17071"/>
                  <a:pt x="2876550" y="38098"/>
                </a:cubicBezTo>
                <a:lnTo>
                  <a:pt x="2876550" y="609602"/>
                </a:lnTo>
                <a:cubicBezTo>
                  <a:pt x="2876550" y="630643"/>
                  <a:pt x="2859493" y="647700"/>
                  <a:pt x="2838452" y="647700"/>
                </a:cubicBezTo>
                <a:lnTo>
                  <a:pt x="38098" y="647700"/>
                </a:lnTo>
                <a:cubicBezTo>
                  <a:pt x="17071" y="647700"/>
                  <a:pt x="0" y="630629"/>
                  <a:pt x="0" y="609602"/>
                </a:cubicBezTo>
                <a:lnTo>
                  <a:pt x="0" y="38098"/>
                </a:lnTo>
                <a:cubicBezTo>
                  <a:pt x="0" y="17071"/>
                  <a:pt x="17071" y="0"/>
                  <a:pt x="38098" y="0"/>
                </a:cubicBezTo>
                <a:close/>
              </a:path>
            </a:pathLst>
          </a:custGeom>
          <a:solidFill>
            <a:srgbClr val="C0A062">
              <a:alpha val="10196"/>
            </a:srgbClr>
          </a:solidFill>
          <a:ln/>
        </p:spPr>
        <p:txBody>
          <a:bodyPr/>
          <a:lstStyle/>
          <a:p>
            <a:endParaRPr lang="zh-CN" altLang="en-US"/>
          </a:p>
        </p:txBody>
      </p:sp>
      <p:sp>
        <p:nvSpPr>
          <p:cNvPr id="14" name="Text 12"/>
          <p:cNvSpPr/>
          <p:nvPr/>
        </p:nvSpPr>
        <p:spPr>
          <a:xfrm>
            <a:off x="3577605" y="1943100"/>
            <a:ext cx="2838450" cy="304800"/>
          </a:xfrm>
          <a:prstGeom prst="rect">
            <a:avLst/>
          </a:prstGeom>
          <a:noFill/>
          <a:ln/>
        </p:spPr>
        <p:txBody>
          <a:bodyPr wrap="square" lIns="0" tIns="0" rIns="0" bIns="0" rtlCol="0" anchor="ctr"/>
          <a:lstStyle/>
          <a:p>
            <a:pPr algn="ctr">
              <a:lnSpc>
                <a:spcPct val="110000"/>
              </a:lnSpc>
            </a:pPr>
            <a:r>
              <a:rPr lang="en-US" sz="1800" b="1" dirty="0">
                <a:solidFill>
                  <a:srgbClr val="C0A062"/>
                </a:solidFill>
                <a:latin typeface="Liter" pitchFamily="34" charset="0"/>
                <a:ea typeface="Liter" pitchFamily="34" charset="-122"/>
                <a:cs typeface="Liter" pitchFamily="34" charset="-120"/>
              </a:rPr>
              <a:t>1</a:t>
            </a:r>
            <a:endParaRPr lang="en-US" sz="1600" dirty="0"/>
          </a:p>
        </p:txBody>
      </p:sp>
      <p:sp>
        <p:nvSpPr>
          <p:cNvPr id="15" name="Text 13"/>
          <p:cNvSpPr/>
          <p:nvPr/>
        </p:nvSpPr>
        <p:spPr>
          <a:xfrm>
            <a:off x="3601417" y="2247900"/>
            <a:ext cx="2790825" cy="190500"/>
          </a:xfrm>
          <a:prstGeom prst="rect">
            <a:avLst/>
          </a:prstGeom>
          <a:noFill/>
          <a:ln/>
        </p:spPr>
        <p:txBody>
          <a:bodyPr wrap="square" lIns="0" tIns="0" rIns="0" bIns="0" rtlCol="0" anchor="ctr"/>
          <a:lstStyle/>
          <a:p>
            <a:pPr algn="ctr">
              <a:lnSpc>
                <a:spcPct val="120000"/>
              </a:lnSpc>
            </a:pPr>
            <a:r>
              <a:rPr lang="en-US" sz="1050" dirty="0">
                <a:solidFill>
                  <a:srgbClr val="2D3748"/>
                </a:solidFill>
                <a:latin typeface="Liter" pitchFamily="34" charset="0"/>
                <a:ea typeface="Liter" pitchFamily="34" charset="-122"/>
                <a:cs typeface="Liter" pitchFamily="34" charset="-120"/>
              </a:rPr>
              <a:t>Payment Difficulties</a:t>
            </a:r>
            <a:endParaRPr lang="en-US" sz="1600" dirty="0"/>
          </a:p>
        </p:txBody>
      </p:sp>
      <p:sp>
        <p:nvSpPr>
          <p:cNvPr id="16" name="Shape 14"/>
          <p:cNvSpPr/>
          <p:nvPr/>
        </p:nvSpPr>
        <p:spPr>
          <a:xfrm>
            <a:off x="381000" y="2781300"/>
            <a:ext cx="6200775" cy="3695700"/>
          </a:xfrm>
          <a:custGeom>
            <a:avLst/>
            <a:gdLst/>
            <a:ahLst/>
            <a:cxnLst/>
            <a:rect l="l" t="t" r="r" b="b"/>
            <a:pathLst>
              <a:path w="6200775" h="3695700">
                <a:moveTo>
                  <a:pt x="76205" y="0"/>
                </a:moveTo>
                <a:lnTo>
                  <a:pt x="6124570" y="0"/>
                </a:lnTo>
                <a:cubicBezTo>
                  <a:pt x="6166657" y="0"/>
                  <a:pt x="6200775" y="34118"/>
                  <a:pt x="6200775" y="76205"/>
                </a:cubicBezTo>
                <a:lnTo>
                  <a:pt x="6200775" y="3619495"/>
                </a:lnTo>
                <a:cubicBezTo>
                  <a:pt x="6200775" y="3661582"/>
                  <a:pt x="6166657" y="3695700"/>
                  <a:pt x="6124570" y="3695700"/>
                </a:cubicBezTo>
                <a:lnTo>
                  <a:pt x="76205" y="3695700"/>
                </a:lnTo>
                <a:cubicBezTo>
                  <a:pt x="34118" y="3695700"/>
                  <a:pt x="0" y="3661582"/>
                  <a:pt x="0" y="3619495"/>
                </a:cubicBezTo>
                <a:lnTo>
                  <a:pt x="0" y="76205"/>
                </a:lnTo>
                <a:cubicBezTo>
                  <a:pt x="0" y="34146"/>
                  <a:pt x="34146" y="0"/>
                  <a:pt x="76205"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17" name="Text 15"/>
          <p:cNvSpPr/>
          <p:nvPr/>
        </p:nvSpPr>
        <p:spPr>
          <a:xfrm>
            <a:off x="533400" y="2933700"/>
            <a:ext cx="5981700"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Variable Categories</a:t>
            </a:r>
            <a:endParaRPr lang="en-US" sz="1600" dirty="0"/>
          </a:p>
        </p:txBody>
      </p:sp>
      <p:sp>
        <p:nvSpPr>
          <p:cNvPr id="18" name="Shape 16"/>
          <p:cNvSpPr/>
          <p:nvPr/>
        </p:nvSpPr>
        <p:spPr>
          <a:xfrm>
            <a:off x="533400" y="3276600"/>
            <a:ext cx="2914650" cy="847725"/>
          </a:xfrm>
          <a:custGeom>
            <a:avLst/>
            <a:gdLst/>
            <a:ahLst/>
            <a:cxnLst/>
            <a:rect l="l" t="t" r="r" b="b"/>
            <a:pathLst>
              <a:path w="2914650" h="847725">
                <a:moveTo>
                  <a:pt x="38097" y="0"/>
                </a:moveTo>
                <a:lnTo>
                  <a:pt x="2876553" y="0"/>
                </a:lnTo>
                <a:cubicBezTo>
                  <a:pt x="2897593" y="0"/>
                  <a:pt x="2914650" y="17057"/>
                  <a:pt x="2914650" y="38097"/>
                </a:cubicBezTo>
                <a:lnTo>
                  <a:pt x="2914650" y="809628"/>
                </a:lnTo>
                <a:cubicBezTo>
                  <a:pt x="2914650" y="830668"/>
                  <a:pt x="2897593" y="847725"/>
                  <a:pt x="2876553" y="847725"/>
                </a:cubicBezTo>
                <a:lnTo>
                  <a:pt x="38097" y="847725"/>
                </a:lnTo>
                <a:cubicBezTo>
                  <a:pt x="17057" y="847725"/>
                  <a:pt x="0" y="830668"/>
                  <a:pt x="0" y="809628"/>
                </a:cubicBezTo>
                <a:lnTo>
                  <a:pt x="0" y="38097"/>
                </a:lnTo>
                <a:cubicBezTo>
                  <a:pt x="0" y="17057"/>
                  <a:pt x="17057" y="0"/>
                  <a:pt x="38097" y="0"/>
                </a:cubicBezTo>
                <a:close/>
              </a:path>
            </a:pathLst>
          </a:custGeom>
          <a:solidFill>
            <a:srgbClr val="F7F7F7"/>
          </a:solidFill>
          <a:ln/>
        </p:spPr>
        <p:txBody>
          <a:bodyPr/>
          <a:lstStyle/>
          <a:p>
            <a:endParaRPr lang="zh-CN" altLang="en-US"/>
          </a:p>
        </p:txBody>
      </p:sp>
      <p:sp>
        <p:nvSpPr>
          <p:cNvPr id="19" name="Shape 17"/>
          <p:cNvSpPr/>
          <p:nvPr/>
        </p:nvSpPr>
        <p:spPr>
          <a:xfrm>
            <a:off x="666750" y="3506763"/>
            <a:ext cx="152400" cy="152400"/>
          </a:xfrm>
          <a:custGeom>
            <a:avLst/>
            <a:gdLst/>
            <a:ahLst/>
            <a:cxnLst/>
            <a:rect l="l" t="t" r="r" b="b"/>
            <a:pathLst>
              <a:path w="152400" h="152400">
                <a:moveTo>
                  <a:pt x="59531" y="14288"/>
                </a:moveTo>
                <a:lnTo>
                  <a:pt x="92869" y="14288"/>
                </a:lnTo>
                <a:cubicBezTo>
                  <a:pt x="94178" y="14288"/>
                  <a:pt x="95250" y="15359"/>
                  <a:pt x="95250" y="16669"/>
                </a:cubicBezTo>
                <a:lnTo>
                  <a:pt x="95250" y="28575"/>
                </a:lnTo>
                <a:lnTo>
                  <a:pt x="57150" y="28575"/>
                </a:lnTo>
                <a:lnTo>
                  <a:pt x="57150" y="16669"/>
                </a:lnTo>
                <a:cubicBezTo>
                  <a:pt x="57150" y="15359"/>
                  <a:pt x="58222" y="14288"/>
                  <a:pt x="59531" y="14288"/>
                </a:cubicBezTo>
                <a:close/>
                <a:moveTo>
                  <a:pt x="42863" y="16669"/>
                </a:moveTo>
                <a:lnTo>
                  <a:pt x="42863" y="28575"/>
                </a:lnTo>
                <a:lnTo>
                  <a:pt x="19050" y="28575"/>
                </a:lnTo>
                <a:cubicBezTo>
                  <a:pt x="8543" y="28575"/>
                  <a:pt x="0" y="37118"/>
                  <a:pt x="0" y="47625"/>
                </a:cubicBezTo>
                <a:lnTo>
                  <a:pt x="0" y="76200"/>
                </a:lnTo>
                <a:lnTo>
                  <a:pt x="152400" y="76200"/>
                </a:lnTo>
                <a:lnTo>
                  <a:pt x="152400" y="47625"/>
                </a:lnTo>
                <a:cubicBezTo>
                  <a:pt x="152400" y="37118"/>
                  <a:pt x="143857" y="28575"/>
                  <a:pt x="133350" y="28575"/>
                </a:cubicBezTo>
                <a:lnTo>
                  <a:pt x="109537" y="28575"/>
                </a:lnTo>
                <a:lnTo>
                  <a:pt x="109537" y="16669"/>
                </a:lnTo>
                <a:cubicBezTo>
                  <a:pt x="109537" y="7471"/>
                  <a:pt x="102066" y="0"/>
                  <a:pt x="92869" y="0"/>
                </a:cubicBezTo>
                <a:lnTo>
                  <a:pt x="59531" y="0"/>
                </a:lnTo>
                <a:cubicBezTo>
                  <a:pt x="50334" y="0"/>
                  <a:pt x="42863" y="7471"/>
                  <a:pt x="42863" y="16669"/>
                </a:cubicBezTo>
                <a:close/>
                <a:moveTo>
                  <a:pt x="152400" y="90488"/>
                </a:moveTo>
                <a:lnTo>
                  <a:pt x="95250" y="90488"/>
                </a:lnTo>
                <a:lnTo>
                  <a:pt x="95250" y="95250"/>
                </a:lnTo>
                <a:cubicBezTo>
                  <a:pt x="95250" y="100519"/>
                  <a:pt x="90994" y="104775"/>
                  <a:pt x="85725" y="104775"/>
                </a:cubicBezTo>
                <a:lnTo>
                  <a:pt x="66675" y="104775"/>
                </a:lnTo>
                <a:cubicBezTo>
                  <a:pt x="61406" y="104775"/>
                  <a:pt x="57150" y="100519"/>
                  <a:pt x="57150" y="95250"/>
                </a:cubicBezTo>
                <a:lnTo>
                  <a:pt x="57150" y="90488"/>
                </a:lnTo>
                <a:lnTo>
                  <a:pt x="0" y="90488"/>
                </a:lnTo>
                <a:lnTo>
                  <a:pt x="0" y="123825"/>
                </a:lnTo>
                <a:cubicBezTo>
                  <a:pt x="0" y="134332"/>
                  <a:pt x="8543" y="142875"/>
                  <a:pt x="19050" y="142875"/>
                </a:cubicBezTo>
                <a:lnTo>
                  <a:pt x="133350" y="142875"/>
                </a:lnTo>
                <a:cubicBezTo>
                  <a:pt x="143857" y="142875"/>
                  <a:pt x="152400" y="134332"/>
                  <a:pt x="152400" y="123825"/>
                </a:cubicBezTo>
                <a:lnTo>
                  <a:pt x="152400" y="90488"/>
                </a:lnTo>
                <a:close/>
              </a:path>
            </a:pathLst>
          </a:custGeom>
          <a:solidFill>
            <a:srgbClr val="C0A062"/>
          </a:solidFill>
          <a:ln/>
        </p:spPr>
        <p:txBody>
          <a:bodyPr/>
          <a:lstStyle/>
          <a:p>
            <a:endParaRPr lang="zh-CN" altLang="en-US"/>
          </a:p>
        </p:txBody>
      </p:sp>
      <p:sp>
        <p:nvSpPr>
          <p:cNvPr id="20" name="Text 18"/>
          <p:cNvSpPr/>
          <p:nvPr/>
        </p:nvSpPr>
        <p:spPr>
          <a:xfrm>
            <a:off x="895350" y="3473425"/>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Employment</a:t>
            </a:r>
            <a:endParaRPr lang="en-US" sz="1600" dirty="0"/>
          </a:p>
        </p:txBody>
      </p:sp>
      <p:sp>
        <p:nvSpPr>
          <p:cNvPr id="21" name="Text 19"/>
          <p:cNvSpPr/>
          <p:nvPr/>
        </p:nvSpPr>
        <p:spPr>
          <a:xfrm>
            <a:off x="647700" y="3740125"/>
            <a:ext cx="2752725" cy="1905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DAYS_EMPLOYED, AMT_INCOME_TOTAL</a:t>
            </a:r>
            <a:endParaRPr lang="en-US" sz="1600" dirty="0"/>
          </a:p>
        </p:txBody>
      </p:sp>
      <p:sp>
        <p:nvSpPr>
          <p:cNvPr id="22" name="Shape 20"/>
          <p:cNvSpPr/>
          <p:nvPr/>
        </p:nvSpPr>
        <p:spPr>
          <a:xfrm>
            <a:off x="3520455" y="3276600"/>
            <a:ext cx="2914650" cy="847725"/>
          </a:xfrm>
          <a:custGeom>
            <a:avLst/>
            <a:gdLst/>
            <a:ahLst/>
            <a:cxnLst/>
            <a:rect l="l" t="t" r="r" b="b"/>
            <a:pathLst>
              <a:path w="2914650" h="847725">
                <a:moveTo>
                  <a:pt x="38097" y="0"/>
                </a:moveTo>
                <a:lnTo>
                  <a:pt x="2876553" y="0"/>
                </a:lnTo>
                <a:cubicBezTo>
                  <a:pt x="2897593" y="0"/>
                  <a:pt x="2914650" y="17057"/>
                  <a:pt x="2914650" y="38097"/>
                </a:cubicBezTo>
                <a:lnTo>
                  <a:pt x="2914650" y="809628"/>
                </a:lnTo>
                <a:cubicBezTo>
                  <a:pt x="2914650" y="830668"/>
                  <a:pt x="2897593" y="847725"/>
                  <a:pt x="2876553" y="847725"/>
                </a:cubicBezTo>
                <a:lnTo>
                  <a:pt x="38097" y="847725"/>
                </a:lnTo>
                <a:cubicBezTo>
                  <a:pt x="17057" y="847725"/>
                  <a:pt x="0" y="830668"/>
                  <a:pt x="0" y="809628"/>
                </a:cubicBezTo>
                <a:lnTo>
                  <a:pt x="0" y="38097"/>
                </a:lnTo>
                <a:cubicBezTo>
                  <a:pt x="0" y="17057"/>
                  <a:pt x="17057" y="0"/>
                  <a:pt x="38097" y="0"/>
                </a:cubicBezTo>
                <a:close/>
              </a:path>
            </a:pathLst>
          </a:custGeom>
          <a:solidFill>
            <a:srgbClr val="F7F7F7"/>
          </a:solidFill>
          <a:ln/>
        </p:spPr>
        <p:txBody>
          <a:bodyPr/>
          <a:lstStyle/>
          <a:p>
            <a:endParaRPr lang="zh-CN" altLang="en-US"/>
          </a:p>
        </p:txBody>
      </p:sp>
      <p:sp>
        <p:nvSpPr>
          <p:cNvPr id="23" name="Shape 21"/>
          <p:cNvSpPr/>
          <p:nvPr/>
        </p:nvSpPr>
        <p:spPr>
          <a:xfrm>
            <a:off x="3663330" y="3506763"/>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C0A062"/>
          </a:solidFill>
          <a:ln/>
        </p:spPr>
        <p:txBody>
          <a:bodyPr/>
          <a:lstStyle/>
          <a:p>
            <a:endParaRPr lang="zh-CN" altLang="en-US"/>
          </a:p>
        </p:txBody>
      </p:sp>
      <p:sp>
        <p:nvSpPr>
          <p:cNvPr id="24" name="Text 22"/>
          <p:cNvSpPr/>
          <p:nvPr/>
        </p:nvSpPr>
        <p:spPr>
          <a:xfrm>
            <a:off x="3882405" y="3473425"/>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Demographics</a:t>
            </a:r>
            <a:endParaRPr lang="en-US" sz="1600" dirty="0"/>
          </a:p>
        </p:txBody>
      </p:sp>
      <p:sp>
        <p:nvSpPr>
          <p:cNvPr id="25" name="Text 23"/>
          <p:cNvSpPr/>
          <p:nvPr/>
        </p:nvSpPr>
        <p:spPr>
          <a:xfrm>
            <a:off x="3634755" y="3740125"/>
            <a:ext cx="2752725" cy="1905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YEARS_BIRTH_CATEGORY, CODE_GENDER</a:t>
            </a:r>
            <a:endParaRPr lang="en-US" sz="1600" dirty="0"/>
          </a:p>
        </p:txBody>
      </p:sp>
      <p:sp>
        <p:nvSpPr>
          <p:cNvPr id="26" name="Shape 24"/>
          <p:cNvSpPr/>
          <p:nvPr/>
        </p:nvSpPr>
        <p:spPr>
          <a:xfrm>
            <a:off x="533400" y="4203650"/>
            <a:ext cx="2914650" cy="1038225"/>
          </a:xfrm>
          <a:custGeom>
            <a:avLst/>
            <a:gdLst/>
            <a:ahLst/>
            <a:cxnLst/>
            <a:rect l="l" t="t" r="r" b="b"/>
            <a:pathLst>
              <a:path w="2914650" h="1038225">
                <a:moveTo>
                  <a:pt x="38103" y="0"/>
                </a:moveTo>
                <a:lnTo>
                  <a:pt x="2876547" y="0"/>
                </a:lnTo>
                <a:cubicBezTo>
                  <a:pt x="2897577" y="0"/>
                  <a:pt x="2914650" y="17073"/>
                  <a:pt x="2914650" y="38103"/>
                </a:cubicBezTo>
                <a:lnTo>
                  <a:pt x="2914650" y="1000122"/>
                </a:lnTo>
                <a:cubicBezTo>
                  <a:pt x="2914650" y="1021166"/>
                  <a:pt x="2897591" y="1038225"/>
                  <a:pt x="2876547" y="1038225"/>
                </a:cubicBezTo>
                <a:lnTo>
                  <a:pt x="38103" y="1038225"/>
                </a:lnTo>
                <a:cubicBezTo>
                  <a:pt x="17059" y="1038225"/>
                  <a:pt x="0" y="1021166"/>
                  <a:pt x="0" y="1000122"/>
                </a:cubicBezTo>
                <a:lnTo>
                  <a:pt x="0" y="38103"/>
                </a:lnTo>
                <a:cubicBezTo>
                  <a:pt x="0" y="17073"/>
                  <a:pt x="17073" y="0"/>
                  <a:pt x="38103" y="0"/>
                </a:cubicBezTo>
                <a:close/>
              </a:path>
            </a:pathLst>
          </a:custGeom>
          <a:solidFill>
            <a:srgbClr val="F7F7F7"/>
          </a:solidFill>
          <a:ln/>
        </p:spPr>
        <p:txBody>
          <a:bodyPr/>
          <a:lstStyle/>
          <a:p>
            <a:endParaRPr lang="zh-CN" altLang="en-US"/>
          </a:p>
        </p:txBody>
      </p:sp>
      <p:sp>
        <p:nvSpPr>
          <p:cNvPr id="27" name="Shape 25"/>
          <p:cNvSpPr/>
          <p:nvPr/>
        </p:nvSpPr>
        <p:spPr>
          <a:xfrm>
            <a:off x="657225" y="4433813"/>
            <a:ext cx="171450" cy="152400"/>
          </a:xfrm>
          <a:custGeom>
            <a:avLst/>
            <a:gdLst/>
            <a:ahLst/>
            <a:cxnLst/>
            <a:rect l="l" t="t" r="r" b="b"/>
            <a:pathLst>
              <a:path w="171450" h="152400">
                <a:moveTo>
                  <a:pt x="14288" y="58281"/>
                </a:moveTo>
                <a:lnTo>
                  <a:pt x="76557" y="83909"/>
                </a:lnTo>
                <a:cubicBezTo>
                  <a:pt x="79474" y="85100"/>
                  <a:pt x="82570" y="85725"/>
                  <a:pt x="85725" y="85725"/>
                </a:cubicBezTo>
                <a:cubicBezTo>
                  <a:pt x="88880" y="85725"/>
                  <a:pt x="91976" y="85100"/>
                  <a:pt x="94893" y="83909"/>
                </a:cubicBezTo>
                <a:lnTo>
                  <a:pt x="167045" y="54203"/>
                </a:lnTo>
                <a:cubicBezTo>
                  <a:pt x="169724" y="53102"/>
                  <a:pt x="171450" y="50512"/>
                  <a:pt x="171450" y="47625"/>
                </a:cubicBezTo>
                <a:cubicBezTo>
                  <a:pt x="171450" y="44738"/>
                  <a:pt x="169724" y="42148"/>
                  <a:pt x="167045" y="41047"/>
                </a:cubicBezTo>
                <a:lnTo>
                  <a:pt x="94893" y="11341"/>
                </a:lnTo>
                <a:cubicBezTo>
                  <a:pt x="91976" y="10150"/>
                  <a:pt x="88880" y="9525"/>
                  <a:pt x="85725" y="9525"/>
                </a:cubicBezTo>
                <a:cubicBezTo>
                  <a:pt x="82570" y="9525"/>
                  <a:pt x="79474" y="10150"/>
                  <a:pt x="76557" y="11341"/>
                </a:cubicBezTo>
                <a:lnTo>
                  <a:pt x="4405" y="41047"/>
                </a:lnTo>
                <a:cubicBezTo>
                  <a:pt x="1726" y="42148"/>
                  <a:pt x="0" y="44738"/>
                  <a:pt x="0" y="47625"/>
                </a:cubicBezTo>
                <a:lnTo>
                  <a:pt x="0" y="135731"/>
                </a:lnTo>
                <a:cubicBezTo>
                  <a:pt x="0" y="139690"/>
                  <a:pt x="3185" y="142875"/>
                  <a:pt x="7144" y="142875"/>
                </a:cubicBezTo>
                <a:cubicBezTo>
                  <a:pt x="11103" y="142875"/>
                  <a:pt x="14288" y="139690"/>
                  <a:pt x="14288" y="135731"/>
                </a:cubicBezTo>
                <a:lnTo>
                  <a:pt x="14288" y="58281"/>
                </a:lnTo>
                <a:close/>
                <a:moveTo>
                  <a:pt x="28575" y="79623"/>
                </a:moveTo>
                <a:lnTo>
                  <a:pt x="28575" y="114300"/>
                </a:lnTo>
                <a:cubicBezTo>
                  <a:pt x="28575" y="130076"/>
                  <a:pt x="54173" y="142875"/>
                  <a:pt x="85725" y="142875"/>
                </a:cubicBezTo>
                <a:cubicBezTo>
                  <a:pt x="117277" y="142875"/>
                  <a:pt x="142875" y="130076"/>
                  <a:pt x="142875" y="114300"/>
                </a:cubicBezTo>
                <a:lnTo>
                  <a:pt x="142875" y="79593"/>
                </a:lnTo>
                <a:lnTo>
                  <a:pt x="100340" y="97125"/>
                </a:lnTo>
                <a:cubicBezTo>
                  <a:pt x="95696" y="99030"/>
                  <a:pt x="90755" y="100012"/>
                  <a:pt x="85725" y="100012"/>
                </a:cubicBezTo>
                <a:cubicBezTo>
                  <a:pt x="80695" y="100012"/>
                  <a:pt x="75754" y="99030"/>
                  <a:pt x="71110" y="97125"/>
                </a:cubicBezTo>
                <a:lnTo>
                  <a:pt x="28575" y="79593"/>
                </a:lnTo>
                <a:close/>
              </a:path>
            </a:pathLst>
          </a:custGeom>
          <a:solidFill>
            <a:srgbClr val="C0A062"/>
          </a:solidFill>
          <a:ln/>
        </p:spPr>
        <p:txBody>
          <a:bodyPr/>
          <a:lstStyle/>
          <a:p>
            <a:endParaRPr lang="zh-CN" altLang="en-US"/>
          </a:p>
        </p:txBody>
      </p:sp>
      <p:sp>
        <p:nvSpPr>
          <p:cNvPr id="28" name="Text 26"/>
          <p:cNvSpPr/>
          <p:nvPr/>
        </p:nvSpPr>
        <p:spPr>
          <a:xfrm>
            <a:off x="895350" y="4400476"/>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Socioeconomic</a:t>
            </a:r>
            <a:endParaRPr lang="en-US" sz="1600" dirty="0"/>
          </a:p>
        </p:txBody>
      </p:sp>
      <p:sp>
        <p:nvSpPr>
          <p:cNvPr id="29" name="Text 27"/>
          <p:cNvSpPr/>
          <p:nvPr/>
        </p:nvSpPr>
        <p:spPr>
          <a:xfrm>
            <a:off x="647700" y="4667176"/>
            <a:ext cx="2752725" cy="3810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NAME_EDUCATION_TYPE, NAME_INCOME_TYPE</a:t>
            </a:r>
            <a:endParaRPr lang="en-US" sz="1600" dirty="0"/>
          </a:p>
        </p:txBody>
      </p:sp>
      <p:sp>
        <p:nvSpPr>
          <p:cNvPr id="30" name="Shape 28"/>
          <p:cNvSpPr/>
          <p:nvPr/>
        </p:nvSpPr>
        <p:spPr>
          <a:xfrm>
            <a:off x="3520455" y="4203650"/>
            <a:ext cx="2914650" cy="1038225"/>
          </a:xfrm>
          <a:custGeom>
            <a:avLst/>
            <a:gdLst/>
            <a:ahLst/>
            <a:cxnLst/>
            <a:rect l="l" t="t" r="r" b="b"/>
            <a:pathLst>
              <a:path w="2914650" h="1038225">
                <a:moveTo>
                  <a:pt x="38103" y="0"/>
                </a:moveTo>
                <a:lnTo>
                  <a:pt x="2876547" y="0"/>
                </a:lnTo>
                <a:cubicBezTo>
                  <a:pt x="2897577" y="0"/>
                  <a:pt x="2914650" y="17073"/>
                  <a:pt x="2914650" y="38103"/>
                </a:cubicBezTo>
                <a:lnTo>
                  <a:pt x="2914650" y="1000122"/>
                </a:lnTo>
                <a:cubicBezTo>
                  <a:pt x="2914650" y="1021166"/>
                  <a:pt x="2897591" y="1038225"/>
                  <a:pt x="2876547" y="1038225"/>
                </a:cubicBezTo>
                <a:lnTo>
                  <a:pt x="38103" y="1038225"/>
                </a:lnTo>
                <a:cubicBezTo>
                  <a:pt x="17059" y="1038225"/>
                  <a:pt x="0" y="1021166"/>
                  <a:pt x="0" y="1000122"/>
                </a:cubicBezTo>
                <a:lnTo>
                  <a:pt x="0" y="38103"/>
                </a:lnTo>
                <a:cubicBezTo>
                  <a:pt x="0" y="17073"/>
                  <a:pt x="17073" y="0"/>
                  <a:pt x="38103" y="0"/>
                </a:cubicBezTo>
                <a:close/>
              </a:path>
            </a:pathLst>
          </a:custGeom>
          <a:solidFill>
            <a:srgbClr val="F7F7F7"/>
          </a:solidFill>
          <a:ln/>
        </p:spPr>
        <p:txBody>
          <a:bodyPr/>
          <a:lstStyle/>
          <a:p>
            <a:endParaRPr lang="zh-CN" altLang="en-US"/>
          </a:p>
        </p:txBody>
      </p:sp>
      <p:sp>
        <p:nvSpPr>
          <p:cNvPr id="31" name="Shape 29"/>
          <p:cNvSpPr/>
          <p:nvPr/>
        </p:nvSpPr>
        <p:spPr>
          <a:xfrm>
            <a:off x="3653805" y="4529063"/>
            <a:ext cx="152400" cy="152400"/>
          </a:xfrm>
          <a:custGeom>
            <a:avLst/>
            <a:gdLst/>
            <a:ahLst/>
            <a:cxnLst/>
            <a:rect l="l" t="t" r="r" b="b"/>
            <a:pathLst>
              <a:path w="152400" h="152400">
                <a:moveTo>
                  <a:pt x="82689" y="2560"/>
                </a:moveTo>
                <a:cubicBezTo>
                  <a:pt x="79028" y="-833"/>
                  <a:pt x="73372" y="-833"/>
                  <a:pt x="69741" y="2560"/>
                </a:cubicBezTo>
                <a:lnTo>
                  <a:pt x="3066" y="64472"/>
                </a:lnTo>
                <a:cubicBezTo>
                  <a:pt x="208" y="67151"/>
                  <a:pt x="-744" y="71289"/>
                  <a:pt x="685" y="74920"/>
                </a:cubicBezTo>
                <a:cubicBezTo>
                  <a:pt x="2113" y="78551"/>
                  <a:pt x="5596" y="80962"/>
                  <a:pt x="9525" y="80962"/>
                </a:cubicBezTo>
                <a:lnTo>
                  <a:pt x="14288" y="80962"/>
                </a:lnTo>
                <a:lnTo>
                  <a:pt x="14288" y="133350"/>
                </a:lnTo>
                <a:cubicBezTo>
                  <a:pt x="14288" y="143857"/>
                  <a:pt x="22830" y="152400"/>
                  <a:pt x="33338" y="152400"/>
                </a:cubicBezTo>
                <a:lnTo>
                  <a:pt x="119062" y="152400"/>
                </a:lnTo>
                <a:cubicBezTo>
                  <a:pt x="129570" y="152400"/>
                  <a:pt x="138113" y="143857"/>
                  <a:pt x="138113" y="133350"/>
                </a:cubicBezTo>
                <a:lnTo>
                  <a:pt x="138113" y="80962"/>
                </a:lnTo>
                <a:lnTo>
                  <a:pt x="142875" y="80962"/>
                </a:lnTo>
                <a:cubicBezTo>
                  <a:pt x="146804" y="80962"/>
                  <a:pt x="150316" y="78551"/>
                  <a:pt x="151745" y="74920"/>
                </a:cubicBezTo>
                <a:cubicBezTo>
                  <a:pt x="153174" y="71289"/>
                  <a:pt x="152221" y="67121"/>
                  <a:pt x="149364" y="64472"/>
                </a:cubicBezTo>
                <a:lnTo>
                  <a:pt x="82689" y="2560"/>
                </a:lnTo>
                <a:close/>
                <a:moveTo>
                  <a:pt x="71438" y="95250"/>
                </a:moveTo>
                <a:lnTo>
                  <a:pt x="80962" y="95250"/>
                </a:lnTo>
                <a:cubicBezTo>
                  <a:pt x="88850" y="95250"/>
                  <a:pt x="95250" y="101650"/>
                  <a:pt x="95250" y="109537"/>
                </a:cubicBezTo>
                <a:lnTo>
                  <a:pt x="95250" y="138113"/>
                </a:lnTo>
                <a:lnTo>
                  <a:pt x="57150" y="138113"/>
                </a:lnTo>
                <a:lnTo>
                  <a:pt x="57150" y="109537"/>
                </a:lnTo>
                <a:cubicBezTo>
                  <a:pt x="57150" y="101650"/>
                  <a:pt x="63550" y="95250"/>
                  <a:pt x="71438" y="95250"/>
                </a:cubicBezTo>
                <a:close/>
              </a:path>
            </a:pathLst>
          </a:custGeom>
          <a:solidFill>
            <a:srgbClr val="C0A062"/>
          </a:solidFill>
          <a:ln/>
        </p:spPr>
        <p:txBody>
          <a:bodyPr/>
          <a:lstStyle/>
          <a:p>
            <a:endParaRPr lang="zh-CN" altLang="en-US"/>
          </a:p>
        </p:txBody>
      </p:sp>
      <p:sp>
        <p:nvSpPr>
          <p:cNvPr id="32" name="Text 30"/>
          <p:cNvSpPr/>
          <p:nvPr/>
        </p:nvSpPr>
        <p:spPr>
          <a:xfrm>
            <a:off x="3882405" y="4495726"/>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Family Status</a:t>
            </a:r>
            <a:endParaRPr lang="en-US" sz="1600" dirty="0"/>
          </a:p>
        </p:txBody>
      </p:sp>
      <p:sp>
        <p:nvSpPr>
          <p:cNvPr id="33" name="Text 31"/>
          <p:cNvSpPr/>
          <p:nvPr/>
        </p:nvSpPr>
        <p:spPr>
          <a:xfrm>
            <a:off x="3634755" y="4762426"/>
            <a:ext cx="2752725" cy="1905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NAME_FAMILY_STATUS</a:t>
            </a:r>
            <a:endParaRPr lang="en-US" sz="1600" dirty="0"/>
          </a:p>
        </p:txBody>
      </p:sp>
      <p:sp>
        <p:nvSpPr>
          <p:cNvPr id="34" name="Shape 32"/>
          <p:cNvSpPr/>
          <p:nvPr/>
        </p:nvSpPr>
        <p:spPr>
          <a:xfrm>
            <a:off x="533400" y="5321275"/>
            <a:ext cx="2914650" cy="1038225"/>
          </a:xfrm>
          <a:custGeom>
            <a:avLst/>
            <a:gdLst/>
            <a:ahLst/>
            <a:cxnLst/>
            <a:rect l="l" t="t" r="r" b="b"/>
            <a:pathLst>
              <a:path w="2914650" h="1038225">
                <a:moveTo>
                  <a:pt x="38103" y="0"/>
                </a:moveTo>
                <a:lnTo>
                  <a:pt x="2876547" y="0"/>
                </a:lnTo>
                <a:cubicBezTo>
                  <a:pt x="2897577" y="0"/>
                  <a:pt x="2914650" y="17073"/>
                  <a:pt x="2914650" y="38103"/>
                </a:cubicBezTo>
                <a:lnTo>
                  <a:pt x="2914650" y="1000122"/>
                </a:lnTo>
                <a:cubicBezTo>
                  <a:pt x="2914650" y="1021166"/>
                  <a:pt x="2897591" y="1038225"/>
                  <a:pt x="2876547" y="1038225"/>
                </a:cubicBezTo>
                <a:lnTo>
                  <a:pt x="38103" y="1038225"/>
                </a:lnTo>
                <a:cubicBezTo>
                  <a:pt x="17059" y="1038225"/>
                  <a:pt x="0" y="1021166"/>
                  <a:pt x="0" y="1000122"/>
                </a:cubicBezTo>
                <a:lnTo>
                  <a:pt x="0" y="38103"/>
                </a:lnTo>
                <a:cubicBezTo>
                  <a:pt x="0" y="17073"/>
                  <a:pt x="17073" y="0"/>
                  <a:pt x="38103" y="0"/>
                </a:cubicBezTo>
                <a:close/>
              </a:path>
            </a:pathLst>
          </a:custGeom>
          <a:solidFill>
            <a:srgbClr val="F7F7F7"/>
          </a:solidFill>
          <a:ln/>
        </p:spPr>
        <p:txBody>
          <a:bodyPr/>
          <a:lstStyle/>
          <a:p>
            <a:endParaRPr lang="zh-CN" altLang="en-US"/>
          </a:p>
        </p:txBody>
      </p:sp>
      <p:sp>
        <p:nvSpPr>
          <p:cNvPr id="35" name="Shape 33"/>
          <p:cNvSpPr/>
          <p:nvPr/>
        </p:nvSpPr>
        <p:spPr>
          <a:xfrm>
            <a:off x="695325" y="5646688"/>
            <a:ext cx="95250" cy="152400"/>
          </a:xfrm>
          <a:custGeom>
            <a:avLst/>
            <a:gdLst/>
            <a:ahLst/>
            <a:cxn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C0A062"/>
          </a:solidFill>
          <a:ln/>
        </p:spPr>
        <p:txBody>
          <a:bodyPr/>
          <a:lstStyle/>
          <a:p>
            <a:endParaRPr lang="zh-CN" altLang="en-US"/>
          </a:p>
        </p:txBody>
      </p:sp>
      <p:sp>
        <p:nvSpPr>
          <p:cNvPr id="36" name="Text 34"/>
          <p:cNvSpPr/>
          <p:nvPr/>
        </p:nvSpPr>
        <p:spPr>
          <a:xfrm>
            <a:off x="895350" y="5613350"/>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Financial</a:t>
            </a:r>
            <a:endParaRPr lang="en-US" sz="1600" dirty="0"/>
          </a:p>
        </p:txBody>
      </p:sp>
      <p:sp>
        <p:nvSpPr>
          <p:cNvPr id="37" name="Text 35"/>
          <p:cNvSpPr/>
          <p:nvPr/>
        </p:nvSpPr>
        <p:spPr>
          <a:xfrm>
            <a:off x="647700" y="5880050"/>
            <a:ext cx="2752725" cy="1905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AMT_CREDIT, AMT_GOODS_PRICE</a:t>
            </a:r>
            <a:endParaRPr lang="en-US" sz="1600" dirty="0"/>
          </a:p>
        </p:txBody>
      </p:sp>
      <p:sp>
        <p:nvSpPr>
          <p:cNvPr id="38" name="Shape 36"/>
          <p:cNvSpPr/>
          <p:nvPr/>
        </p:nvSpPr>
        <p:spPr>
          <a:xfrm>
            <a:off x="3520455" y="5321275"/>
            <a:ext cx="2914650" cy="1038225"/>
          </a:xfrm>
          <a:custGeom>
            <a:avLst/>
            <a:gdLst/>
            <a:ahLst/>
            <a:cxnLst/>
            <a:rect l="l" t="t" r="r" b="b"/>
            <a:pathLst>
              <a:path w="2914650" h="1038225">
                <a:moveTo>
                  <a:pt x="38103" y="0"/>
                </a:moveTo>
                <a:lnTo>
                  <a:pt x="2876547" y="0"/>
                </a:lnTo>
                <a:cubicBezTo>
                  <a:pt x="2897577" y="0"/>
                  <a:pt x="2914650" y="17073"/>
                  <a:pt x="2914650" y="38103"/>
                </a:cubicBezTo>
                <a:lnTo>
                  <a:pt x="2914650" y="1000122"/>
                </a:lnTo>
                <a:cubicBezTo>
                  <a:pt x="2914650" y="1021166"/>
                  <a:pt x="2897591" y="1038225"/>
                  <a:pt x="2876547" y="1038225"/>
                </a:cubicBezTo>
                <a:lnTo>
                  <a:pt x="38103" y="1038225"/>
                </a:lnTo>
                <a:cubicBezTo>
                  <a:pt x="17059" y="1038225"/>
                  <a:pt x="0" y="1021166"/>
                  <a:pt x="0" y="1000122"/>
                </a:cubicBezTo>
                <a:lnTo>
                  <a:pt x="0" y="38103"/>
                </a:lnTo>
                <a:cubicBezTo>
                  <a:pt x="0" y="17073"/>
                  <a:pt x="17073" y="0"/>
                  <a:pt x="38103" y="0"/>
                </a:cubicBezTo>
                <a:close/>
              </a:path>
            </a:pathLst>
          </a:custGeom>
          <a:solidFill>
            <a:srgbClr val="F7F7F7"/>
          </a:solidFill>
          <a:ln/>
        </p:spPr>
        <p:txBody>
          <a:bodyPr/>
          <a:lstStyle/>
          <a:p>
            <a:endParaRPr lang="zh-CN" altLang="en-US"/>
          </a:p>
        </p:txBody>
      </p:sp>
      <p:sp>
        <p:nvSpPr>
          <p:cNvPr id="39" name="Shape 37"/>
          <p:cNvSpPr/>
          <p:nvPr/>
        </p:nvSpPr>
        <p:spPr>
          <a:xfrm>
            <a:off x="3644280" y="5551438"/>
            <a:ext cx="171450" cy="152400"/>
          </a:xfrm>
          <a:custGeom>
            <a:avLst/>
            <a:gdLst/>
            <a:ahLst/>
            <a:cxnLst/>
            <a:rect l="l" t="t" r="r" b="b"/>
            <a:pathLst>
              <a:path w="171450" h="152400">
                <a:moveTo>
                  <a:pt x="85725" y="19050"/>
                </a:moveTo>
                <a:cubicBezTo>
                  <a:pt x="117277" y="19050"/>
                  <a:pt x="142875" y="44648"/>
                  <a:pt x="142875" y="76200"/>
                </a:cubicBezTo>
                <a:cubicBezTo>
                  <a:pt x="142875" y="107752"/>
                  <a:pt x="117277" y="133350"/>
                  <a:pt x="85725" y="133350"/>
                </a:cubicBezTo>
                <a:cubicBezTo>
                  <a:pt x="66318" y="133350"/>
                  <a:pt x="49143" y="123676"/>
                  <a:pt x="38814" y="108853"/>
                </a:cubicBezTo>
                <a:cubicBezTo>
                  <a:pt x="35808" y="104537"/>
                  <a:pt x="29855" y="103495"/>
                  <a:pt x="25539" y="106501"/>
                </a:cubicBezTo>
                <a:cubicBezTo>
                  <a:pt x="21223" y="109508"/>
                  <a:pt x="20181" y="115461"/>
                  <a:pt x="23187" y="119777"/>
                </a:cubicBezTo>
                <a:cubicBezTo>
                  <a:pt x="36939" y="139482"/>
                  <a:pt x="59829" y="152400"/>
                  <a:pt x="85725" y="152400"/>
                </a:cubicBezTo>
                <a:cubicBezTo>
                  <a:pt x="127814" y="152400"/>
                  <a:pt x="161925" y="118289"/>
                  <a:pt x="161925" y="76200"/>
                </a:cubicBezTo>
                <a:cubicBezTo>
                  <a:pt x="161925" y="34111"/>
                  <a:pt x="127814" y="0"/>
                  <a:pt x="85725" y="0"/>
                </a:cubicBezTo>
                <a:cubicBezTo>
                  <a:pt x="60216" y="0"/>
                  <a:pt x="37654" y="12531"/>
                  <a:pt x="23813" y="31760"/>
                </a:cubicBezTo>
                <a:lnTo>
                  <a:pt x="23813" y="23813"/>
                </a:lnTo>
                <a:cubicBezTo>
                  <a:pt x="23813" y="18544"/>
                  <a:pt x="19556" y="14288"/>
                  <a:pt x="14288" y="14288"/>
                </a:cubicBezTo>
                <a:cubicBezTo>
                  <a:pt x="9019" y="14288"/>
                  <a:pt x="4763" y="18544"/>
                  <a:pt x="4763" y="23813"/>
                </a:cubicBezTo>
                <a:lnTo>
                  <a:pt x="4763" y="57150"/>
                </a:lnTo>
                <a:cubicBezTo>
                  <a:pt x="4763" y="62419"/>
                  <a:pt x="9019" y="66675"/>
                  <a:pt x="14288" y="66675"/>
                </a:cubicBezTo>
                <a:lnTo>
                  <a:pt x="21610" y="66675"/>
                </a:lnTo>
                <a:cubicBezTo>
                  <a:pt x="21759" y="66675"/>
                  <a:pt x="21908" y="66675"/>
                  <a:pt x="22056" y="66675"/>
                </a:cubicBezTo>
                <a:lnTo>
                  <a:pt x="47655" y="66675"/>
                </a:lnTo>
                <a:cubicBezTo>
                  <a:pt x="52923" y="66675"/>
                  <a:pt x="57180" y="62419"/>
                  <a:pt x="57180" y="57150"/>
                </a:cubicBezTo>
                <a:cubicBezTo>
                  <a:pt x="57180" y="51881"/>
                  <a:pt x="52923" y="47625"/>
                  <a:pt x="47655" y="47625"/>
                </a:cubicBezTo>
                <a:lnTo>
                  <a:pt x="36255" y="47625"/>
                </a:lnTo>
                <a:cubicBezTo>
                  <a:pt x="46107" y="30540"/>
                  <a:pt x="64591" y="19050"/>
                  <a:pt x="85725" y="19050"/>
                </a:cubicBezTo>
                <a:close/>
                <a:moveTo>
                  <a:pt x="92869" y="45244"/>
                </a:moveTo>
                <a:cubicBezTo>
                  <a:pt x="92869" y="41285"/>
                  <a:pt x="89684" y="38100"/>
                  <a:pt x="85725" y="38100"/>
                </a:cubicBezTo>
                <a:cubicBezTo>
                  <a:pt x="81766" y="38100"/>
                  <a:pt x="78581" y="41285"/>
                  <a:pt x="78581" y="45244"/>
                </a:cubicBezTo>
                <a:lnTo>
                  <a:pt x="78581" y="76200"/>
                </a:lnTo>
                <a:cubicBezTo>
                  <a:pt x="78581" y="78105"/>
                  <a:pt x="79325" y="79921"/>
                  <a:pt x="80665" y="81260"/>
                </a:cubicBezTo>
                <a:lnTo>
                  <a:pt x="102096" y="102691"/>
                </a:lnTo>
                <a:cubicBezTo>
                  <a:pt x="104894" y="105489"/>
                  <a:pt x="109418" y="105489"/>
                  <a:pt x="112187" y="102691"/>
                </a:cubicBezTo>
                <a:cubicBezTo>
                  <a:pt x="114955" y="99893"/>
                  <a:pt x="114985" y="95369"/>
                  <a:pt x="112187" y="92601"/>
                </a:cubicBezTo>
                <a:lnTo>
                  <a:pt x="92839" y="73253"/>
                </a:lnTo>
                <a:lnTo>
                  <a:pt x="92839" y="45244"/>
                </a:lnTo>
                <a:close/>
              </a:path>
            </a:pathLst>
          </a:custGeom>
          <a:solidFill>
            <a:srgbClr val="C0A062"/>
          </a:solidFill>
          <a:ln/>
        </p:spPr>
        <p:txBody>
          <a:bodyPr/>
          <a:lstStyle/>
          <a:p>
            <a:endParaRPr lang="zh-CN" altLang="en-US"/>
          </a:p>
        </p:txBody>
      </p:sp>
      <p:sp>
        <p:nvSpPr>
          <p:cNvPr id="40" name="Text 38"/>
          <p:cNvSpPr/>
          <p:nvPr/>
        </p:nvSpPr>
        <p:spPr>
          <a:xfrm>
            <a:off x="3882405" y="5518100"/>
            <a:ext cx="2514600"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Historical</a:t>
            </a:r>
            <a:endParaRPr lang="en-US" sz="1600" dirty="0"/>
          </a:p>
        </p:txBody>
      </p:sp>
      <p:sp>
        <p:nvSpPr>
          <p:cNvPr id="41" name="Text 39"/>
          <p:cNvSpPr/>
          <p:nvPr/>
        </p:nvSpPr>
        <p:spPr>
          <a:xfrm>
            <a:off x="3634755" y="5784800"/>
            <a:ext cx="2752725" cy="381000"/>
          </a:xfrm>
          <a:prstGeom prst="rect">
            <a:avLst/>
          </a:prstGeom>
          <a:noFill/>
          <a:ln/>
        </p:spPr>
        <p:txBody>
          <a:bodyPr wrap="square" lIns="0" tIns="0" rIns="0" bIns="0" rtlCol="0" anchor="ctr"/>
          <a:lstStyle/>
          <a:p>
            <a:pPr>
              <a:lnSpc>
                <a:spcPct val="120000"/>
              </a:lnSpc>
            </a:pPr>
            <a:r>
              <a:rPr lang="en-US" sz="1050" dirty="0">
                <a:solidFill>
                  <a:srgbClr val="2D3748"/>
                </a:solidFill>
                <a:latin typeface="Liter" pitchFamily="34" charset="0"/>
                <a:ea typeface="Liter" pitchFamily="34" charset="-122"/>
                <a:cs typeface="Liter" pitchFamily="34" charset="-120"/>
              </a:rPr>
              <a:t>NAME_CLIENT_TYPE, NAME_CONTRACT_STATUS</a:t>
            </a:r>
            <a:endParaRPr lang="en-US" sz="1600" dirty="0"/>
          </a:p>
        </p:txBody>
      </p:sp>
      <p:sp>
        <p:nvSpPr>
          <p:cNvPr id="42" name="Shape 40"/>
          <p:cNvSpPr/>
          <p:nvPr/>
        </p:nvSpPr>
        <p:spPr>
          <a:xfrm>
            <a:off x="6736110" y="1181100"/>
            <a:ext cx="5076825" cy="4076700"/>
          </a:xfrm>
          <a:custGeom>
            <a:avLst/>
            <a:gdLst/>
            <a:ahLst/>
            <a:cxnLst/>
            <a:rect l="l" t="t" r="r" b="b"/>
            <a:pathLst>
              <a:path w="5076825" h="4076700">
                <a:moveTo>
                  <a:pt x="76194" y="0"/>
                </a:moveTo>
                <a:lnTo>
                  <a:pt x="5000631" y="0"/>
                </a:lnTo>
                <a:cubicBezTo>
                  <a:pt x="5042712" y="0"/>
                  <a:pt x="5076825" y="34113"/>
                  <a:pt x="5076825" y="76194"/>
                </a:cubicBezTo>
                <a:lnTo>
                  <a:pt x="5076825" y="4000506"/>
                </a:lnTo>
                <a:cubicBezTo>
                  <a:pt x="5076825" y="4042587"/>
                  <a:pt x="5042712" y="4076700"/>
                  <a:pt x="5000631" y="4076700"/>
                </a:cubicBezTo>
                <a:lnTo>
                  <a:pt x="76194" y="4076700"/>
                </a:lnTo>
                <a:cubicBezTo>
                  <a:pt x="34113" y="4076700"/>
                  <a:pt x="0" y="4042587"/>
                  <a:pt x="0" y="4000506"/>
                </a:cubicBezTo>
                <a:lnTo>
                  <a:pt x="0" y="76194"/>
                </a:lnTo>
                <a:cubicBezTo>
                  <a:pt x="0" y="34113"/>
                  <a:pt x="34113" y="0"/>
                  <a:pt x="76194" y="0"/>
                </a:cubicBezTo>
                <a:close/>
              </a:path>
            </a:pathLst>
          </a:custGeom>
          <a:solidFill>
            <a:srgbClr val="2E4057"/>
          </a:solidFill>
          <a:ln/>
        </p:spPr>
        <p:txBody>
          <a:bodyPr/>
          <a:lstStyle/>
          <a:p>
            <a:endParaRPr lang="zh-CN" altLang="en-US"/>
          </a:p>
        </p:txBody>
      </p:sp>
      <p:sp>
        <p:nvSpPr>
          <p:cNvPr id="43" name="Text 41"/>
          <p:cNvSpPr/>
          <p:nvPr/>
        </p:nvSpPr>
        <p:spPr>
          <a:xfrm>
            <a:off x="6926610" y="1371600"/>
            <a:ext cx="479107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Risk Factor Hierarchy</a:t>
            </a:r>
            <a:endParaRPr lang="en-US" sz="1600" dirty="0"/>
          </a:p>
        </p:txBody>
      </p:sp>
      <p:sp>
        <p:nvSpPr>
          <p:cNvPr id="44" name="Text 42"/>
          <p:cNvSpPr/>
          <p:nvPr/>
        </p:nvSpPr>
        <p:spPr>
          <a:xfrm>
            <a:off x="6926610" y="2009775"/>
            <a:ext cx="13239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Structural Stability</a:t>
            </a:r>
            <a:endParaRPr lang="en-US" sz="1600" dirty="0"/>
          </a:p>
        </p:txBody>
      </p:sp>
      <p:sp>
        <p:nvSpPr>
          <p:cNvPr id="45" name="Text 43"/>
          <p:cNvSpPr/>
          <p:nvPr/>
        </p:nvSpPr>
        <p:spPr>
          <a:xfrm>
            <a:off x="10802838" y="2009775"/>
            <a:ext cx="895350" cy="228600"/>
          </a:xfrm>
          <a:prstGeom prst="rect">
            <a:avLst/>
          </a:prstGeom>
          <a:noFill/>
          <a:ln/>
        </p:spPr>
        <p:txBody>
          <a:bodyPr wrap="square" lIns="0" tIns="0" rIns="0" bIns="0" rtlCol="0" anchor="ctr"/>
          <a:lstStyle/>
          <a:p>
            <a:pPr>
              <a:lnSpc>
                <a:spcPct val="130000"/>
              </a:lnSpc>
            </a:pPr>
            <a:r>
              <a:rPr lang="en-US" sz="1200" b="1" dirty="0">
                <a:solidFill>
                  <a:srgbClr val="C0A062"/>
                </a:solidFill>
                <a:latin typeface="Liter" pitchFamily="34" charset="0"/>
                <a:ea typeface="Liter" pitchFamily="34" charset="-122"/>
                <a:cs typeface="Liter" pitchFamily="34" charset="-120"/>
              </a:rPr>
              <a:t>High Impact</a:t>
            </a:r>
            <a:endParaRPr lang="en-US" sz="1600" dirty="0"/>
          </a:p>
        </p:txBody>
      </p:sp>
      <p:sp>
        <p:nvSpPr>
          <p:cNvPr id="46" name="Shape 44"/>
          <p:cNvSpPr/>
          <p:nvPr/>
        </p:nvSpPr>
        <p:spPr>
          <a:xfrm>
            <a:off x="6926610" y="2276475"/>
            <a:ext cx="4695825" cy="95250"/>
          </a:xfrm>
          <a:custGeom>
            <a:avLst/>
            <a:gdLst/>
            <a:ahLst/>
            <a:cxnLst/>
            <a:rect l="l" t="t" r="r" b="b"/>
            <a:pathLst>
              <a:path w="4695825" h="95250">
                <a:moveTo>
                  <a:pt x="47625" y="0"/>
                </a:moveTo>
                <a:lnTo>
                  <a:pt x="4648200" y="0"/>
                </a:lnTo>
                <a:cubicBezTo>
                  <a:pt x="4674485" y="0"/>
                  <a:pt x="4695825" y="21340"/>
                  <a:pt x="4695825" y="47625"/>
                </a:cubicBezTo>
                <a:lnTo>
                  <a:pt x="4695825" y="47625"/>
                </a:lnTo>
                <a:cubicBezTo>
                  <a:pt x="4695825" y="73910"/>
                  <a:pt x="4674485" y="95250"/>
                  <a:pt x="4648200" y="95250"/>
                </a:cubicBezTo>
                <a:lnTo>
                  <a:pt x="47625" y="95250"/>
                </a:lnTo>
                <a:cubicBezTo>
                  <a:pt x="21340" y="95250"/>
                  <a:pt x="0" y="73910"/>
                  <a:pt x="0" y="47625"/>
                </a:cubicBezTo>
                <a:lnTo>
                  <a:pt x="0" y="47625"/>
                </a:lnTo>
                <a:cubicBezTo>
                  <a:pt x="0" y="21340"/>
                  <a:pt x="21340" y="0"/>
                  <a:pt x="47625" y="0"/>
                </a:cubicBezTo>
                <a:close/>
              </a:path>
            </a:pathLst>
          </a:custGeom>
          <a:solidFill>
            <a:srgbClr val="FFFFFF">
              <a:alpha val="20000"/>
            </a:srgbClr>
          </a:solidFill>
          <a:ln/>
        </p:spPr>
        <p:txBody>
          <a:bodyPr/>
          <a:lstStyle/>
          <a:p>
            <a:endParaRPr lang="zh-CN" altLang="en-US"/>
          </a:p>
        </p:txBody>
      </p:sp>
      <p:sp>
        <p:nvSpPr>
          <p:cNvPr id="47" name="Shape 45"/>
          <p:cNvSpPr/>
          <p:nvPr/>
        </p:nvSpPr>
        <p:spPr>
          <a:xfrm>
            <a:off x="6926610" y="2276475"/>
            <a:ext cx="3990975" cy="95250"/>
          </a:xfrm>
          <a:custGeom>
            <a:avLst/>
            <a:gdLst/>
            <a:ahLst/>
            <a:cxnLst/>
            <a:rect l="l" t="t" r="r" b="b"/>
            <a:pathLst>
              <a:path w="3990975" h="95250">
                <a:moveTo>
                  <a:pt x="47625" y="0"/>
                </a:moveTo>
                <a:lnTo>
                  <a:pt x="3943350" y="0"/>
                </a:lnTo>
                <a:cubicBezTo>
                  <a:pt x="3969635" y="0"/>
                  <a:pt x="3990975" y="21340"/>
                  <a:pt x="3990975" y="47625"/>
                </a:cubicBezTo>
                <a:lnTo>
                  <a:pt x="3990975" y="47625"/>
                </a:lnTo>
                <a:cubicBezTo>
                  <a:pt x="3990975" y="73910"/>
                  <a:pt x="3969635" y="95250"/>
                  <a:pt x="3943350" y="95250"/>
                </a:cubicBezTo>
                <a:lnTo>
                  <a:pt x="47625" y="95250"/>
                </a:lnTo>
                <a:cubicBezTo>
                  <a:pt x="21340" y="95250"/>
                  <a:pt x="0" y="73910"/>
                  <a:pt x="0" y="47625"/>
                </a:cubicBezTo>
                <a:lnTo>
                  <a:pt x="0" y="47625"/>
                </a:lnTo>
                <a:cubicBezTo>
                  <a:pt x="0" y="21340"/>
                  <a:pt x="21340" y="0"/>
                  <a:pt x="47625" y="0"/>
                </a:cubicBezTo>
                <a:close/>
              </a:path>
            </a:pathLst>
          </a:custGeom>
          <a:solidFill>
            <a:srgbClr val="C0A062"/>
          </a:solidFill>
          <a:ln/>
        </p:spPr>
        <p:txBody>
          <a:bodyPr/>
          <a:lstStyle/>
          <a:p>
            <a:endParaRPr lang="zh-CN" altLang="en-US"/>
          </a:p>
        </p:txBody>
      </p:sp>
      <p:sp>
        <p:nvSpPr>
          <p:cNvPr id="48" name="Text 46"/>
          <p:cNvSpPr/>
          <p:nvPr/>
        </p:nvSpPr>
        <p:spPr>
          <a:xfrm>
            <a:off x="6926610" y="2409825"/>
            <a:ext cx="4762500"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Liter" pitchFamily="34" charset="0"/>
                <a:ea typeface="Liter" pitchFamily="34" charset="-122"/>
                <a:cs typeface="Liter" pitchFamily="34" charset="-120"/>
              </a:rPr>
              <a:t>Employment tenure, education level, age</a:t>
            </a:r>
            <a:endParaRPr lang="en-US" sz="1600" dirty="0"/>
          </a:p>
        </p:txBody>
      </p:sp>
      <p:sp>
        <p:nvSpPr>
          <p:cNvPr id="49" name="Text 47"/>
          <p:cNvSpPr/>
          <p:nvPr/>
        </p:nvSpPr>
        <p:spPr>
          <a:xfrm>
            <a:off x="6926610" y="3114675"/>
            <a:ext cx="15049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Financial Magnitudes</a:t>
            </a:r>
            <a:endParaRPr lang="en-US" sz="1600" dirty="0"/>
          </a:p>
        </p:txBody>
      </p:sp>
      <p:sp>
        <p:nvSpPr>
          <p:cNvPr id="50" name="Text 48"/>
          <p:cNvSpPr/>
          <p:nvPr/>
        </p:nvSpPr>
        <p:spPr>
          <a:xfrm>
            <a:off x="10567839" y="3114675"/>
            <a:ext cx="1133475" cy="228600"/>
          </a:xfrm>
          <a:prstGeom prst="rect">
            <a:avLst/>
          </a:prstGeom>
          <a:noFill/>
          <a:ln/>
        </p:spPr>
        <p:txBody>
          <a:bodyPr wrap="square" lIns="0" tIns="0" rIns="0" bIns="0" rtlCol="0" anchor="ctr"/>
          <a:lstStyle/>
          <a:p>
            <a:pPr>
              <a:lnSpc>
                <a:spcPct val="130000"/>
              </a:lnSpc>
            </a:pPr>
            <a:r>
              <a:rPr lang="en-US" sz="1200" b="1" dirty="0">
                <a:solidFill>
                  <a:srgbClr val="A0AEC0"/>
                </a:solidFill>
                <a:latin typeface="Liter" pitchFamily="34" charset="0"/>
                <a:ea typeface="Liter" pitchFamily="34" charset="-122"/>
                <a:cs typeface="Liter" pitchFamily="34" charset="-120"/>
              </a:rPr>
              <a:t>Medium Impact</a:t>
            </a:r>
            <a:endParaRPr lang="en-US" sz="1600" dirty="0"/>
          </a:p>
        </p:txBody>
      </p:sp>
      <p:sp>
        <p:nvSpPr>
          <p:cNvPr id="51" name="Shape 49"/>
          <p:cNvSpPr/>
          <p:nvPr/>
        </p:nvSpPr>
        <p:spPr>
          <a:xfrm>
            <a:off x="6926610" y="3381375"/>
            <a:ext cx="4695825" cy="95250"/>
          </a:xfrm>
          <a:custGeom>
            <a:avLst/>
            <a:gdLst/>
            <a:ahLst/>
            <a:cxnLst/>
            <a:rect l="l" t="t" r="r" b="b"/>
            <a:pathLst>
              <a:path w="4695825" h="95250">
                <a:moveTo>
                  <a:pt x="47625" y="0"/>
                </a:moveTo>
                <a:lnTo>
                  <a:pt x="4648200" y="0"/>
                </a:lnTo>
                <a:cubicBezTo>
                  <a:pt x="4674485" y="0"/>
                  <a:pt x="4695825" y="21340"/>
                  <a:pt x="4695825" y="47625"/>
                </a:cubicBezTo>
                <a:lnTo>
                  <a:pt x="4695825" y="47625"/>
                </a:lnTo>
                <a:cubicBezTo>
                  <a:pt x="4695825" y="73910"/>
                  <a:pt x="4674485" y="95250"/>
                  <a:pt x="4648200" y="95250"/>
                </a:cubicBezTo>
                <a:lnTo>
                  <a:pt x="47625" y="95250"/>
                </a:lnTo>
                <a:cubicBezTo>
                  <a:pt x="21340" y="95250"/>
                  <a:pt x="0" y="73910"/>
                  <a:pt x="0" y="47625"/>
                </a:cubicBezTo>
                <a:lnTo>
                  <a:pt x="0" y="47625"/>
                </a:lnTo>
                <a:cubicBezTo>
                  <a:pt x="0" y="21340"/>
                  <a:pt x="21340" y="0"/>
                  <a:pt x="47625" y="0"/>
                </a:cubicBezTo>
                <a:close/>
              </a:path>
            </a:pathLst>
          </a:custGeom>
          <a:solidFill>
            <a:srgbClr val="FFFFFF">
              <a:alpha val="20000"/>
            </a:srgbClr>
          </a:solidFill>
          <a:ln/>
        </p:spPr>
        <p:txBody>
          <a:bodyPr/>
          <a:lstStyle/>
          <a:p>
            <a:endParaRPr lang="zh-CN" altLang="en-US"/>
          </a:p>
        </p:txBody>
      </p:sp>
      <p:sp>
        <p:nvSpPr>
          <p:cNvPr id="52" name="Shape 50"/>
          <p:cNvSpPr/>
          <p:nvPr/>
        </p:nvSpPr>
        <p:spPr>
          <a:xfrm>
            <a:off x="6926610" y="3381375"/>
            <a:ext cx="2819400" cy="95250"/>
          </a:xfrm>
          <a:custGeom>
            <a:avLst/>
            <a:gdLst/>
            <a:ahLst/>
            <a:cxnLst/>
            <a:rect l="l" t="t" r="r" b="b"/>
            <a:pathLst>
              <a:path w="2819400" h="95250">
                <a:moveTo>
                  <a:pt x="47625" y="0"/>
                </a:moveTo>
                <a:lnTo>
                  <a:pt x="2771775" y="0"/>
                </a:lnTo>
                <a:cubicBezTo>
                  <a:pt x="2798060" y="0"/>
                  <a:pt x="2819400" y="21340"/>
                  <a:pt x="2819400" y="47625"/>
                </a:cubicBezTo>
                <a:lnTo>
                  <a:pt x="2819400" y="47625"/>
                </a:lnTo>
                <a:cubicBezTo>
                  <a:pt x="2819400" y="73910"/>
                  <a:pt x="2798060" y="95250"/>
                  <a:pt x="2771775" y="95250"/>
                </a:cubicBezTo>
                <a:lnTo>
                  <a:pt x="47625" y="95250"/>
                </a:lnTo>
                <a:cubicBezTo>
                  <a:pt x="21340" y="95250"/>
                  <a:pt x="0" y="73910"/>
                  <a:pt x="0" y="47625"/>
                </a:cubicBezTo>
                <a:lnTo>
                  <a:pt x="0" y="47625"/>
                </a:lnTo>
                <a:cubicBezTo>
                  <a:pt x="0" y="21340"/>
                  <a:pt x="21340" y="0"/>
                  <a:pt x="47625" y="0"/>
                </a:cubicBezTo>
                <a:close/>
              </a:path>
            </a:pathLst>
          </a:custGeom>
          <a:solidFill>
            <a:srgbClr val="A0AEC0"/>
          </a:solidFill>
          <a:ln/>
        </p:spPr>
        <p:txBody>
          <a:bodyPr/>
          <a:lstStyle/>
          <a:p>
            <a:endParaRPr lang="zh-CN" altLang="en-US"/>
          </a:p>
        </p:txBody>
      </p:sp>
      <p:sp>
        <p:nvSpPr>
          <p:cNvPr id="53" name="Text 51"/>
          <p:cNvSpPr/>
          <p:nvPr/>
        </p:nvSpPr>
        <p:spPr>
          <a:xfrm>
            <a:off x="6926610" y="3514725"/>
            <a:ext cx="4762500"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Liter" pitchFamily="34" charset="0"/>
                <a:ea typeface="Liter" pitchFamily="34" charset="-122"/>
                <a:cs typeface="Liter" pitchFamily="34" charset="-120"/>
              </a:rPr>
              <a:t>Credit amount, goods price, income</a:t>
            </a:r>
            <a:endParaRPr lang="en-US" sz="1600" dirty="0"/>
          </a:p>
        </p:txBody>
      </p:sp>
      <p:sp>
        <p:nvSpPr>
          <p:cNvPr id="54" name="Text 52"/>
          <p:cNvSpPr/>
          <p:nvPr/>
        </p:nvSpPr>
        <p:spPr>
          <a:xfrm>
            <a:off x="6926610" y="4219575"/>
            <a:ext cx="13144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Interaction Effects</a:t>
            </a:r>
            <a:endParaRPr lang="en-US" sz="1600" dirty="0"/>
          </a:p>
        </p:txBody>
      </p:sp>
      <p:sp>
        <p:nvSpPr>
          <p:cNvPr id="55" name="Text 53"/>
          <p:cNvSpPr/>
          <p:nvPr/>
        </p:nvSpPr>
        <p:spPr>
          <a:xfrm>
            <a:off x="10802838" y="4219575"/>
            <a:ext cx="895350" cy="228600"/>
          </a:xfrm>
          <a:prstGeom prst="rect">
            <a:avLst/>
          </a:prstGeom>
          <a:noFill/>
          <a:ln/>
        </p:spPr>
        <p:txBody>
          <a:bodyPr wrap="square" lIns="0" tIns="0" rIns="0" bIns="0" rtlCol="0" anchor="ctr"/>
          <a:lstStyle/>
          <a:p>
            <a:pPr>
              <a:lnSpc>
                <a:spcPct val="130000"/>
              </a:lnSpc>
            </a:pPr>
            <a:r>
              <a:rPr lang="en-US" sz="1200" b="1" dirty="0">
                <a:solidFill>
                  <a:srgbClr val="C0A062"/>
                </a:solidFill>
                <a:latin typeface="Liter" pitchFamily="34" charset="0"/>
                <a:ea typeface="Liter" pitchFamily="34" charset="-122"/>
                <a:cs typeface="Liter" pitchFamily="34" charset="-120"/>
              </a:rPr>
              <a:t>High Impact</a:t>
            </a:r>
            <a:endParaRPr lang="en-US" sz="1600" dirty="0"/>
          </a:p>
        </p:txBody>
      </p:sp>
      <p:sp>
        <p:nvSpPr>
          <p:cNvPr id="56" name="Shape 54"/>
          <p:cNvSpPr/>
          <p:nvPr/>
        </p:nvSpPr>
        <p:spPr>
          <a:xfrm>
            <a:off x="6926610" y="4486275"/>
            <a:ext cx="4695825" cy="95250"/>
          </a:xfrm>
          <a:custGeom>
            <a:avLst/>
            <a:gdLst/>
            <a:ahLst/>
            <a:cxnLst/>
            <a:rect l="l" t="t" r="r" b="b"/>
            <a:pathLst>
              <a:path w="4695825" h="95250">
                <a:moveTo>
                  <a:pt x="47625" y="0"/>
                </a:moveTo>
                <a:lnTo>
                  <a:pt x="4648200" y="0"/>
                </a:lnTo>
                <a:cubicBezTo>
                  <a:pt x="4674485" y="0"/>
                  <a:pt x="4695825" y="21340"/>
                  <a:pt x="4695825" y="47625"/>
                </a:cubicBezTo>
                <a:lnTo>
                  <a:pt x="4695825" y="47625"/>
                </a:lnTo>
                <a:cubicBezTo>
                  <a:pt x="4695825" y="73910"/>
                  <a:pt x="4674485" y="95250"/>
                  <a:pt x="4648200" y="95250"/>
                </a:cubicBezTo>
                <a:lnTo>
                  <a:pt x="47625" y="95250"/>
                </a:lnTo>
                <a:cubicBezTo>
                  <a:pt x="21340" y="95250"/>
                  <a:pt x="0" y="73910"/>
                  <a:pt x="0" y="47625"/>
                </a:cubicBezTo>
                <a:lnTo>
                  <a:pt x="0" y="47625"/>
                </a:lnTo>
                <a:cubicBezTo>
                  <a:pt x="0" y="21340"/>
                  <a:pt x="21340" y="0"/>
                  <a:pt x="47625" y="0"/>
                </a:cubicBezTo>
                <a:close/>
              </a:path>
            </a:pathLst>
          </a:custGeom>
          <a:solidFill>
            <a:srgbClr val="FFFFFF">
              <a:alpha val="20000"/>
            </a:srgbClr>
          </a:solidFill>
          <a:ln/>
        </p:spPr>
        <p:txBody>
          <a:bodyPr/>
          <a:lstStyle/>
          <a:p>
            <a:endParaRPr lang="zh-CN" altLang="en-US"/>
          </a:p>
        </p:txBody>
      </p:sp>
      <p:sp>
        <p:nvSpPr>
          <p:cNvPr id="57" name="Shape 55"/>
          <p:cNvSpPr/>
          <p:nvPr/>
        </p:nvSpPr>
        <p:spPr>
          <a:xfrm>
            <a:off x="6926610" y="4486275"/>
            <a:ext cx="3752850" cy="95250"/>
          </a:xfrm>
          <a:custGeom>
            <a:avLst/>
            <a:gdLst/>
            <a:ahLst/>
            <a:cxnLst/>
            <a:rect l="l" t="t" r="r" b="b"/>
            <a:pathLst>
              <a:path w="3752850" h="95250">
                <a:moveTo>
                  <a:pt x="47625" y="0"/>
                </a:moveTo>
                <a:lnTo>
                  <a:pt x="3705225" y="0"/>
                </a:lnTo>
                <a:cubicBezTo>
                  <a:pt x="3731510" y="0"/>
                  <a:pt x="3752850" y="21340"/>
                  <a:pt x="3752850" y="47625"/>
                </a:cubicBezTo>
                <a:lnTo>
                  <a:pt x="3752850" y="47625"/>
                </a:lnTo>
                <a:cubicBezTo>
                  <a:pt x="3752850" y="73910"/>
                  <a:pt x="3731510" y="95250"/>
                  <a:pt x="3705225" y="95250"/>
                </a:cubicBezTo>
                <a:lnTo>
                  <a:pt x="47625" y="95250"/>
                </a:lnTo>
                <a:cubicBezTo>
                  <a:pt x="21340" y="95250"/>
                  <a:pt x="0" y="73910"/>
                  <a:pt x="0" y="47625"/>
                </a:cubicBezTo>
                <a:lnTo>
                  <a:pt x="0" y="47625"/>
                </a:lnTo>
                <a:cubicBezTo>
                  <a:pt x="0" y="21340"/>
                  <a:pt x="21340" y="0"/>
                  <a:pt x="47625" y="0"/>
                </a:cubicBezTo>
                <a:close/>
              </a:path>
            </a:pathLst>
          </a:custGeom>
          <a:solidFill>
            <a:srgbClr val="C0A062"/>
          </a:solidFill>
          <a:ln/>
        </p:spPr>
        <p:txBody>
          <a:bodyPr/>
          <a:lstStyle/>
          <a:p>
            <a:endParaRPr lang="zh-CN" altLang="en-US"/>
          </a:p>
        </p:txBody>
      </p:sp>
      <p:sp>
        <p:nvSpPr>
          <p:cNvPr id="58" name="Text 56"/>
          <p:cNvSpPr/>
          <p:nvPr/>
        </p:nvSpPr>
        <p:spPr>
          <a:xfrm>
            <a:off x="6926610" y="4619625"/>
            <a:ext cx="4762500"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Liter" pitchFamily="34" charset="0"/>
                <a:ea typeface="Liter" pitchFamily="34" charset="-122"/>
                <a:cs typeface="Liter" pitchFamily="34" charset="-120"/>
              </a:rPr>
              <a:t>Loan-to-income, tenure-income relationships</a:t>
            </a:r>
            <a:endParaRPr lang="en-US" sz="1600" dirty="0"/>
          </a:p>
        </p:txBody>
      </p:sp>
      <p:sp>
        <p:nvSpPr>
          <p:cNvPr id="59" name="Shape 57"/>
          <p:cNvSpPr/>
          <p:nvPr/>
        </p:nvSpPr>
        <p:spPr>
          <a:xfrm>
            <a:off x="6736110" y="5372100"/>
            <a:ext cx="5076825" cy="1104900"/>
          </a:xfrm>
          <a:custGeom>
            <a:avLst/>
            <a:gdLst/>
            <a:ahLst/>
            <a:cxnLst/>
            <a:rect l="l" t="t" r="r" b="b"/>
            <a:pathLst>
              <a:path w="5076825" h="1104900">
                <a:moveTo>
                  <a:pt x="76205" y="0"/>
                </a:moveTo>
                <a:lnTo>
                  <a:pt x="5000620" y="0"/>
                </a:lnTo>
                <a:cubicBezTo>
                  <a:pt x="5042707" y="0"/>
                  <a:pt x="5076825" y="34118"/>
                  <a:pt x="5076825" y="76205"/>
                </a:cubicBezTo>
                <a:lnTo>
                  <a:pt x="5076825" y="1028695"/>
                </a:lnTo>
                <a:cubicBezTo>
                  <a:pt x="5076825" y="1070782"/>
                  <a:pt x="5042707" y="1104900"/>
                  <a:pt x="5000620" y="1104900"/>
                </a:cubicBezTo>
                <a:lnTo>
                  <a:pt x="76205" y="1104900"/>
                </a:lnTo>
                <a:cubicBezTo>
                  <a:pt x="34118" y="1104900"/>
                  <a:pt x="0" y="1070782"/>
                  <a:pt x="0" y="1028695"/>
                </a:cubicBezTo>
                <a:lnTo>
                  <a:pt x="0" y="76205"/>
                </a:lnTo>
                <a:cubicBezTo>
                  <a:pt x="0" y="34146"/>
                  <a:pt x="34146" y="0"/>
                  <a:pt x="76205"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60" name="Text 58"/>
          <p:cNvSpPr/>
          <p:nvPr/>
        </p:nvSpPr>
        <p:spPr>
          <a:xfrm>
            <a:off x="6888510" y="5524500"/>
            <a:ext cx="4848225"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Key Insight</a:t>
            </a:r>
            <a:endParaRPr lang="en-US" sz="1600" dirty="0"/>
          </a:p>
        </p:txBody>
      </p:sp>
      <p:sp>
        <p:nvSpPr>
          <p:cNvPr id="61" name="Text 59"/>
          <p:cNvSpPr/>
          <p:nvPr/>
        </p:nvSpPr>
        <p:spPr>
          <a:xfrm>
            <a:off x="6888510" y="5829300"/>
            <a:ext cx="4848225" cy="495300"/>
          </a:xfrm>
          <a:prstGeom prst="rect">
            <a:avLst/>
          </a:prstGeom>
          <a:noFill/>
          <a:ln/>
        </p:spPr>
        <p:txBody>
          <a:bodyPr wrap="square" lIns="0" tIns="0" rIns="0" bIns="0" rtlCol="0" anchor="ctr"/>
          <a:lstStyle/>
          <a:p>
            <a:pPr>
              <a:lnSpc>
                <a:spcPct val="140000"/>
              </a:lnSpc>
            </a:pPr>
            <a:r>
              <a:rPr lang="en-US" sz="1200" b="1" dirty="0">
                <a:solidFill>
                  <a:srgbClr val="2D3748"/>
                </a:solidFill>
                <a:highlight>
                  <a:srgbClr val="C0A062">
                    <a:alpha val="20000"/>
                  </a:srgbClr>
                </a:highlight>
                <a:latin typeface="Liter" pitchFamily="34" charset="0"/>
                <a:ea typeface="Liter" pitchFamily="34" charset="-122"/>
                <a:cs typeface="Liter" pitchFamily="34" charset="-120"/>
              </a:rPr>
              <a:t>Stability indicators </a:t>
            </a:r>
            <a:r>
              <a:rPr lang="en-US" sz="1200" dirty="0">
                <a:solidFill>
                  <a:srgbClr val="2D3748"/>
                </a:solidFill>
                <a:latin typeface="Liter" pitchFamily="34" charset="0"/>
                <a:ea typeface="Liter" pitchFamily="34" charset="-122"/>
                <a:cs typeface="Liter" pitchFamily="34" charset="-120"/>
              </a:rPr>
              <a:t>provide stronger risk separation than raw financial values alone.</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0A062"/>
                </a:solidFill>
                <a:latin typeface="Liter" pitchFamily="34" charset="0"/>
                <a:ea typeface="Liter" pitchFamily="34" charset="-122"/>
                <a:cs typeface="Liter" pitchFamily="34" charset="-120"/>
              </a:rPr>
              <a:t>03 • Univariate Analysis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4057"/>
                </a:solidFill>
                <a:latin typeface="Liter" pitchFamily="34" charset="0"/>
                <a:ea typeface="Liter" pitchFamily="34" charset="-122"/>
                <a:cs typeface="Liter" pitchFamily="34" charset="-120"/>
              </a:rPr>
              <a:t>Categorical Variables</a:t>
            </a:r>
            <a:endParaRPr lang="en-US" sz="1600" dirty="0"/>
          </a:p>
        </p:txBody>
      </p:sp>
      <p:sp>
        <p:nvSpPr>
          <p:cNvPr id="4" name="Shape 2"/>
          <p:cNvSpPr/>
          <p:nvPr/>
        </p:nvSpPr>
        <p:spPr>
          <a:xfrm>
            <a:off x="381000" y="1104900"/>
            <a:ext cx="3733800" cy="4572000"/>
          </a:xfrm>
          <a:custGeom>
            <a:avLst/>
            <a:gdLst/>
            <a:ahLst/>
            <a:cxnLst/>
            <a:rect l="l" t="t" r="r" b="b"/>
            <a:pathLst>
              <a:path w="3733800" h="4572000">
                <a:moveTo>
                  <a:pt x="76207" y="0"/>
                </a:moveTo>
                <a:lnTo>
                  <a:pt x="3657593" y="0"/>
                </a:lnTo>
                <a:cubicBezTo>
                  <a:pt x="3699681" y="0"/>
                  <a:pt x="3733800" y="34119"/>
                  <a:pt x="3733800" y="76207"/>
                </a:cubicBezTo>
                <a:lnTo>
                  <a:pt x="3733800" y="4495793"/>
                </a:lnTo>
                <a:cubicBezTo>
                  <a:pt x="3733800" y="4537881"/>
                  <a:pt x="3699681" y="4572000"/>
                  <a:pt x="3657593" y="4572000"/>
                </a:cubicBezTo>
                <a:lnTo>
                  <a:pt x="76207" y="4572000"/>
                </a:lnTo>
                <a:cubicBezTo>
                  <a:pt x="34119" y="4572000"/>
                  <a:pt x="0" y="4537881"/>
                  <a:pt x="0" y="4495793"/>
                </a:cubicBezTo>
                <a:lnTo>
                  <a:pt x="0" y="76207"/>
                </a:lnTo>
                <a:cubicBezTo>
                  <a:pt x="0" y="34147"/>
                  <a:pt x="34147" y="0"/>
                  <a:pt x="76207"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5" name="Text 3"/>
          <p:cNvSpPr/>
          <p:nvPr/>
        </p:nvSpPr>
        <p:spPr>
          <a:xfrm>
            <a:off x="452438" y="1219200"/>
            <a:ext cx="3590925" cy="266700"/>
          </a:xfrm>
          <a:prstGeom prst="rect">
            <a:avLst/>
          </a:prstGeom>
          <a:noFill/>
          <a:ln/>
        </p:spPr>
        <p:txBody>
          <a:bodyPr wrap="square" lIns="0" tIns="0" rIns="0" bIns="0" rtlCol="0" anchor="ctr"/>
          <a:lstStyle/>
          <a:p>
            <a:pPr algn="ctr">
              <a:lnSpc>
                <a:spcPct val="130000"/>
              </a:lnSpc>
            </a:pPr>
            <a:r>
              <a:rPr lang="en-US" sz="1350" b="1" dirty="0">
                <a:solidFill>
                  <a:srgbClr val="2E4057"/>
                </a:solidFill>
                <a:latin typeface="Liter" pitchFamily="34" charset="0"/>
                <a:ea typeface="Liter" pitchFamily="34" charset="-122"/>
                <a:cs typeface="Liter" pitchFamily="34" charset="-120"/>
              </a:rPr>
              <a:t>Income Type</a:t>
            </a:r>
            <a:endParaRPr lang="en-US" sz="1600" dirty="0"/>
          </a:p>
        </p:txBody>
      </p:sp>
      <p:sp>
        <p:nvSpPr>
          <p:cNvPr id="20" name="Shape 17"/>
          <p:cNvSpPr/>
          <p:nvPr/>
        </p:nvSpPr>
        <p:spPr>
          <a:xfrm>
            <a:off x="4229100" y="1104900"/>
            <a:ext cx="3733800" cy="4572000"/>
          </a:xfrm>
          <a:custGeom>
            <a:avLst/>
            <a:gdLst/>
            <a:ahLst/>
            <a:cxnLst/>
            <a:rect l="l" t="t" r="r" b="b"/>
            <a:pathLst>
              <a:path w="3733800" h="4572000">
                <a:moveTo>
                  <a:pt x="76207" y="0"/>
                </a:moveTo>
                <a:lnTo>
                  <a:pt x="3657593" y="0"/>
                </a:lnTo>
                <a:cubicBezTo>
                  <a:pt x="3699681" y="0"/>
                  <a:pt x="3733800" y="34119"/>
                  <a:pt x="3733800" y="76207"/>
                </a:cubicBezTo>
                <a:lnTo>
                  <a:pt x="3733800" y="4495793"/>
                </a:lnTo>
                <a:cubicBezTo>
                  <a:pt x="3733800" y="4537881"/>
                  <a:pt x="3699681" y="4572000"/>
                  <a:pt x="3657593" y="4572000"/>
                </a:cubicBezTo>
                <a:lnTo>
                  <a:pt x="76207" y="4572000"/>
                </a:lnTo>
                <a:cubicBezTo>
                  <a:pt x="34119" y="4572000"/>
                  <a:pt x="0" y="4537881"/>
                  <a:pt x="0" y="4495793"/>
                </a:cubicBezTo>
                <a:lnTo>
                  <a:pt x="0" y="76207"/>
                </a:lnTo>
                <a:cubicBezTo>
                  <a:pt x="0" y="34147"/>
                  <a:pt x="34147" y="0"/>
                  <a:pt x="76207"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21" name="Text 18"/>
          <p:cNvSpPr/>
          <p:nvPr/>
        </p:nvSpPr>
        <p:spPr>
          <a:xfrm>
            <a:off x="4300538" y="1219200"/>
            <a:ext cx="3590925" cy="266700"/>
          </a:xfrm>
          <a:prstGeom prst="rect">
            <a:avLst/>
          </a:prstGeom>
          <a:noFill/>
          <a:ln/>
        </p:spPr>
        <p:txBody>
          <a:bodyPr wrap="square" lIns="0" tIns="0" rIns="0" bIns="0" rtlCol="0" anchor="ctr"/>
          <a:lstStyle/>
          <a:p>
            <a:pPr algn="ctr">
              <a:lnSpc>
                <a:spcPct val="130000"/>
              </a:lnSpc>
            </a:pPr>
            <a:r>
              <a:rPr lang="en-US" sz="1350" b="1" dirty="0">
                <a:solidFill>
                  <a:srgbClr val="2E4057"/>
                </a:solidFill>
                <a:latin typeface="Liter" pitchFamily="34" charset="0"/>
                <a:ea typeface="Liter" pitchFamily="34" charset="-122"/>
                <a:cs typeface="Liter" pitchFamily="34" charset="-120"/>
              </a:rPr>
              <a:t>Education Level</a:t>
            </a:r>
            <a:endParaRPr lang="en-US" sz="1600" dirty="0"/>
          </a:p>
        </p:txBody>
      </p:sp>
      <p:sp>
        <p:nvSpPr>
          <p:cNvPr id="36" name="Shape 32"/>
          <p:cNvSpPr/>
          <p:nvPr/>
        </p:nvSpPr>
        <p:spPr>
          <a:xfrm>
            <a:off x="8077200" y="1104900"/>
            <a:ext cx="3733800" cy="4572000"/>
          </a:xfrm>
          <a:custGeom>
            <a:avLst/>
            <a:gdLst/>
            <a:ahLst/>
            <a:cxnLst/>
            <a:rect l="l" t="t" r="r" b="b"/>
            <a:pathLst>
              <a:path w="3733800" h="4572000">
                <a:moveTo>
                  <a:pt x="76207" y="0"/>
                </a:moveTo>
                <a:lnTo>
                  <a:pt x="3657593" y="0"/>
                </a:lnTo>
                <a:cubicBezTo>
                  <a:pt x="3699681" y="0"/>
                  <a:pt x="3733800" y="34119"/>
                  <a:pt x="3733800" y="76207"/>
                </a:cubicBezTo>
                <a:lnTo>
                  <a:pt x="3733800" y="4495793"/>
                </a:lnTo>
                <a:cubicBezTo>
                  <a:pt x="3733800" y="4537881"/>
                  <a:pt x="3699681" y="4572000"/>
                  <a:pt x="3657593" y="4572000"/>
                </a:cubicBezTo>
                <a:lnTo>
                  <a:pt x="76207" y="4572000"/>
                </a:lnTo>
                <a:cubicBezTo>
                  <a:pt x="34119" y="4572000"/>
                  <a:pt x="0" y="4537881"/>
                  <a:pt x="0" y="4495793"/>
                </a:cubicBezTo>
                <a:lnTo>
                  <a:pt x="0" y="76207"/>
                </a:lnTo>
                <a:cubicBezTo>
                  <a:pt x="0" y="34147"/>
                  <a:pt x="34147" y="0"/>
                  <a:pt x="76207"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37" name="Text 33"/>
          <p:cNvSpPr/>
          <p:nvPr/>
        </p:nvSpPr>
        <p:spPr>
          <a:xfrm>
            <a:off x="8148638" y="1219200"/>
            <a:ext cx="3590925" cy="266700"/>
          </a:xfrm>
          <a:prstGeom prst="rect">
            <a:avLst/>
          </a:prstGeom>
          <a:noFill/>
          <a:ln/>
        </p:spPr>
        <p:txBody>
          <a:bodyPr wrap="square" lIns="0" tIns="0" rIns="0" bIns="0" rtlCol="0" anchor="ctr"/>
          <a:lstStyle/>
          <a:p>
            <a:pPr algn="ctr">
              <a:lnSpc>
                <a:spcPct val="130000"/>
              </a:lnSpc>
            </a:pPr>
            <a:r>
              <a:rPr lang="en-US" sz="1350" b="1" dirty="0">
                <a:solidFill>
                  <a:srgbClr val="2E4057"/>
                </a:solidFill>
                <a:latin typeface="Liter" pitchFamily="34" charset="0"/>
                <a:ea typeface="Liter" pitchFamily="34" charset="-122"/>
                <a:cs typeface="Liter" pitchFamily="34" charset="-120"/>
              </a:rPr>
              <a:t>Family Status</a:t>
            </a:r>
            <a:endParaRPr lang="en-US" sz="1600" dirty="0"/>
          </a:p>
        </p:txBody>
      </p:sp>
      <p:sp>
        <p:nvSpPr>
          <p:cNvPr id="52" name="Shape 47"/>
          <p:cNvSpPr/>
          <p:nvPr/>
        </p:nvSpPr>
        <p:spPr>
          <a:xfrm>
            <a:off x="381000" y="5753100"/>
            <a:ext cx="11430000" cy="723900"/>
          </a:xfrm>
          <a:custGeom>
            <a:avLst/>
            <a:gdLst/>
            <a:ahLst/>
            <a:cxnLst/>
            <a:rect l="l" t="t" r="r" b="b"/>
            <a:pathLst>
              <a:path w="11430000" h="723900">
                <a:moveTo>
                  <a:pt x="76198" y="0"/>
                </a:moveTo>
                <a:lnTo>
                  <a:pt x="11353802" y="0"/>
                </a:lnTo>
                <a:cubicBezTo>
                  <a:pt x="11395857" y="0"/>
                  <a:pt x="11430000" y="34143"/>
                  <a:pt x="11430000" y="76198"/>
                </a:cubicBezTo>
                <a:lnTo>
                  <a:pt x="11430000" y="647702"/>
                </a:lnTo>
                <a:cubicBezTo>
                  <a:pt x="11430000" y="689757"/>
                  <a:pt x="11395857" y="723900"/>
                  <a:pt x="11353802" y="723900"/>
                </a:cubicBezTo>
                <a:lnTo>
                  <a:pt x="76198" y="723900"/>
                </a:lnTo>
                <a:cubicBezTo>
                  <a:pt x="34143" y="723900"/>
                  <a:pt x="0" y="689757"/>
                  <a:pt x="0" y="647702"/>
                </a:cubicBezTo>
                <a:lnTo>
                  <a:pt x="0" y="76198"/>
                </a:lnTo>
                <a:cubicBezTo>
                  <a:pt x="0" y="34143"/>
                  <a:pt x="34143" y="0"/>
                  <a:pt x="76198" y="0"/>
                </a:cubicBezTo>
                <a:close/>
              </a:path>
            </a:pathLst>
          </a:custGeom>
          <a:solidFill>
            <a:srgbClr val="2E4057"/>
          </a:solidFill>
          <a:ln/>
        </p:spPr>
        <p:txBody>
          <a:bodyPr/>
          <a:lstStyle/>
          <a:p>
            <a:endParaRPr lang="zh-CN" altLang="en-US"/>
          </a:p>
        </p:txBody>
      </p:sp>
      <p:sp>
        <p:nvSpPr>
          <p:cNvPr id="53" name="Shape 48"/>
          <p:cNvSpPr/>
          <p:nvPr/>
        </p:nvSpPr>
        <p:spPr>
          <a:xfrm>
            <a:off x="552450" y="6000750"/>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C0A062"/>
          </a:solidFill>
          <a:ln/>
        </p:spPr>
        <p:txBody>
          <a:bodyPr/>
          <a:lstStyle/>
          <a:p>
            <a:endParaRPr lang="zh-CN" altLang="en-US"/>
          </a:p>
        </p:txBody>
      </p:sp>
      <p:sp>
        <p:nvSpPr>
          <p:cNvPr id="54" name="Text 49"/>
          <p:cNvSpPr/>
          <p:nvPr/>
        </p:nvSpPr>
        <p:spPr>
          <a:xfrm>
            <a:off x="933450" y="5867400"/>
            <a:ext cx="10839450" cy="495300"/>
          </a:xfrm>
          <a:prstGeom prst="rect">
            <a:avLst/>
          </a:prstGeom>
          <a:noFill/>
          <a:ln/>
        </p:spPr>
        <p:txBody>
          <a:bodyPr wrap="square" lIns="0" tIns="0" rIns="0" bIns="0" rtlCol="0" anchor="ctr"/>
          <a:lstStyle/>
          <a:p>
            <a:pPr>
              <a:lnSpc>
                <a:spcPct val="140000"/>
              </a:lnSpc>
            </a:pPr>
            <a:r>
              <a:rPr lang="en-US" altLang="zh-CN" sz="1200" dirty="0">
                <a:solidFill>
                  <a:schemeClr val="bg1"/>
                </a:solidFill>
                <a:latin typeface="Liter" pitchFamily="34" charset="0"/>
              </a:rPr>
              <a:t>Key Finding: Borrowers with stronger financial and structural stability—reflected in stable income sources, higher education levels, and more stable household structures—demonstrate significantly lower loan default risk, making these factors the most powerful predictors of repayment performance.</a:t>
            </a:r>
            <a:endParaRPr lang="en-US" sz="1200" dirty="0">
              <a:solidFill>
                <a:schemeClr val="bg1"/>
              </a:solidFill>
              <a:latin typeface="Liter" pitchFamily="34" charset="0"/>
            </a:endParaRPr>
          </a:p>
        </p:txBody>
      </p:sp>
      <p:pic>
        <p:nvPicPr>
          <p:cNvPr id="55" name="图片 54">
            <a:extLst>
              <a:ext uri="{FF2B5EF4-FFF2-40B4-BE49-F238E27FC236}">
                <a16:creationId xmlns:a16="http://schemas.microsoft.com/office/drawing/2014/main" id="{23F5EEF1-1485-912C-A27F-5C4D5B1632DC}"/>
              </a:ext>
            </a:extLst>
          </p:cNvPr>
          <p:cNvPicPr>
            <a:picLocks noChangeAspect="1"/>
          </p:cNvPicPr>
          <p:nvPr/>
        </p:nvPicPr>
        <p:blipFill>
          <a:blip r:embed="rId3"/>
          <a:stretch>
            <a:fillRect/>
          </a:stretch>
        </p:blipFill>
        <p:spPr>
          <a:xfrm>
            <a:off x="723900" y="1524000"/>
            <a:ext cx="3129272" cy="2464838"/>
          </a:xfrm>
          <a:prstGeom prst="rect">
            <a:avLst/>
          </a:prstGeom>
        </p:spPr>
      </p:pic>
      <p:pic>
        <p:nvPicPr>
          <p:cNvPr id="56" name="图片 55">
            <a:extLst>
              <a:ext uri="{FF2B5EF4-FFF2-40B4-BE49-F238E27FC236}">
                <a16:creationId xmlns:a16="http://schemas.microsoft.com/office/drawing/2014/main" id="{19CDE3EA-172D-B7D3-2059-7F7BA624118C}"/>
              </a:ext>
            </a:extLst>
          </p:cNvPr>
          <p:cNvPicPr>
            <a:picLocks noChangeAspect="1"/>
          </p:cNvPicPr>
          <p:nvPr/>
        </p:nvPicPr>
        <p:blipFill>
          <a:blip r:embed="rId4"/>
          <a:stretch>
            <a:fillRect/>
          </a:stretch>
        </p:blipFill>
        <p:spPr>
          <a:xfrm>
            <a:off x="4561483" y="1460500"/>
            <a:ext cx="3069034" cy="2654300"/>
          </a:xfrm>
          <a:prstGeom prst="rect">
            <a:avLst/>
          </a:prstGeom>
        </p:spPr>
      </p:pic>
      <p:pic>
        <p:nvPicPr>
          <p:cNvPr id="57" name="图片 56">
            <a:extLst>
              <a:ext uri="{FF2B5EF4-FFF2-40B4-BE49-F238E27FC236}">
                <a16:creationId xmlns:a16="http://schemas.microsoft.com/office/drawing/2014/main" id="{A793B478-F048-7E8A-89D9-3D65A86D914B}"/>
              </a:ext>
            </a:extLst>
          </p:cNvPr>
          <p:cNvPicPr>
            <a:picLocks noChangeAspect="1"/>
          </p:cNvPicPr>
          <p:nvPr/>
        </p:nvPicPr>
        <p:blipFill>
          <a:blip r:embed="rId5"/>
          <a:stretch>
            <a:fillRect/>
          </a:stretch>
        </p:blipFill>
        <p:spPr>
          <a:xfrm>
            <a:off x="8233866" y="1484072"/>
            <a:ext cx="3328527" cy="2592628"/>
          </a:xfrm>
          <a:prstGeom prst="rect">
            <a:avLst/>
          </a:prstGeom>
        </p:spPr>
      </p:pic>
      <p:sp>
        <p:nvSpPr>
          <p:cNvPr id="59" name="文本框 58">
            <a:extLst>
              <a:ext uri="{FF2B5EF4-FFF2-40B4-BE49-F238E27FC236}">
                <a16:creationId xmlns:a16="http://schemas.microsoft.com/office/drawing/2014/main" id="{D063DC4B-8744-955E-5C00-E0448C24DB8B}"/>
              </a:ext>
            </a:extLst>
          </p:cNvPr>
          <p:cNvSpPr txBox="1"/>
          <p:nvPr/>
        </p:nvSpPr>
        <p:spPr>
          <a:xfrm>
            <a:off x="4338637" y="4318337"/>
            <a:ext cx="3590925" cy="1200329"/>
          </a:xfrm>
          <a:prstGeom prst="rect">
            <a:avLst/>
          </a:prstGeom>
          <a:noFill/>
        </p:spPr>
        <p:txBody>
          <a:bodyPr wrap="square">
            <a:spAutoFit/>
          </a:bodyPr>
          <a:lstStyle/>
          <a:p>
            <a:r>
              <a:rPr lang="en-US" altLang="zh-CN" sz="1200" b="1" dirty="0"/>
              <a:t>Education Level:</a:t>
            </a:r>
            <a:r>
              <a:rPr lang="en-US" altLang="zh-CN" sz="1200" dirty="0"/>
              <a:t> A clear inverse relationship exists between education and default risk. Borrowers with academic degrees have the lowest default rates (~2%), increasing steadily as education decreases, peaking near ~11% for the lowest education category. Education is therefore a strong risk proxy.</a:t>
            </a:r>
            <a:endParaRPr lang="zh-CN" altLang="en-US" sz="1200" dirty="0">
              <a:latin typeface="Liter" pitchFamily="34" charset="0"/>
            </a:endParaRPr>
          </a:p>
        </p:txBody>
      </p:sp>
      <p:sp>
        <p:nvSpPr>
          <p:cNvPr id="61" name="文本框 60">
            <a:extLst>
              <a:ext uri="{FF2B5EF4-FFF2-40B4-BE49-F238E27FC236}">
                <a16:creationId xmlns:a16="http://schemas.microsoft.com/office/drawing/2014/main" id="{80C00FCE-2F2D-803D-CBB5-009B21BFD89F}"/>
              </a:ext>
            </a:extLst>
          </p:cNvPr>
          <p:cNvSpPr txBox="1"/>
          <p:nvPr/>
        </p:nvSpPr>
        <p:spPr>
          <a:xfrm>
            <a:off x="8233866" y="4341572"/>
            <a:ext cx="3462834" cy="1051580"/>
          </a:xfrm>
          <a:prstGeom prst="rect">
            <a:avLst/>
          </a:prstGeom>
          <a:noFill/>
        </p:spPr>
        <p:txBody>
          <a:bodyPr wrap="square">
            <a:spAutoFit/>
          </a:bodyPr>
          <a:lstStyle/>
          <a:p>
            <a:r>
              <a:rPr lang="en-US" altLang="zh-CN" sz="1200" b="1" dirty="0"/>
              <a:t>Family Status:</a:t>
            </a:r>
            <a:r>
              <a:rPr lang="en-US" altLang="zh-CN" sz="1200" dirty="0"/>
              <a:t> Differences are present but less pronounced. Widowed borrowers have the lowest defaults (~6%), while single or civil-marriage borrowers approach ~10%, suggesting household stability modestly affects risk.</a:t>
            </a:r>
            <a:endParaRPr lang="zh-CN" altLang="en-US" sz="1200" dirty="0">
              <a:latin typeface="Liter" pitchFamily="34" charset="0"/>
            </a:endParaRPr>
          </a:p>
        </p:txBody>
      </p:sp>
      <p:sp>
        <p:nvSpPr>
          <p:cNvPr id="64" name="文本框 63">
            <a:extLst>
              <a:ext uri="{FF2B5EF4-FFF2-40B4-BE49-F238E27FC236}">
                <a16:creationId xmlns:a16="http://schemas.microsoft.com/office/drawing/2014/main" id="{73D806C2-0480-DAD6-3DE1-7442A571587B}"/>
              </a:ext>
            </a:extLst>
          </p:cNvPr>
          <p:cNvSpPr txBox="1"/>
          <p:nvPr/>
        </p:nvSpPr>
        <p:spPr>
          <a:xfrm>
            <a:off x="552450" y="4140371"/>
            <a:ext cx="3472172" cy="1384995"/>
          </a:xfrm>
          <a:prstGeom prst="rect">
            <a:avLst/>
          </a:prstGeom>
          <a:noFill/>
        </p:spPr>
        <p:txBody>
          <a:bodyPr wrap="square">
            <a:spAutoFit/>
          </a:bodyPr>
          <a:lstStyle/>
          <a:p>
            <a:r>
              <a:rPr lang="en-US" altLang="zh-CN" sz="1200" dirty="0">
                <a:latin typeface="Liter" pitchFamily="34" charset="0"/>
              </a:rPr>
              <a:t>Income Type: Stable income groups (pensioners, state servants) show the lowest default risk (~5–6%), while unemployed or maternity-leave borrowers exhibit the highest (~36–40%), though these estimates are less reliable due to small samples. Core workforce segments fall in the moderate range (~7–10%).</a:t>
            </a:r>
            <a:endParaRPr lang="zh-CN" altLang="en-US" sz="1200" dirty="0">
              <a:latin typeface="Liter" pitchFamily="34" charset="0"/>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0A062"/>
                </a:solidFill>
                <a:latin typeface="Liter" pitchFamily="34" charset="0"/>
                <a:ea typeface="Liter" pitchFamily="34" charset="-122"/>
                <a:cs typeface="Liter" pitchFamily="34" charset="-120"/>
              </a:rPr>
              <a:t>04 • Univariate Analysis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4057"/>
                </a:solidFill>
                <a:latin typeface="Liter" pitchFamily="34" charset="0"/>
                <a:ea typeface="Liter" pitchFamily="34" charset="-122"/>
                <a:cs typeface="Liter" pitchFamily="34" charset="-120"/>
              </a:rPr>
              <a:t>Numerical Variables</a:t>
            </a:r>
            <a:endParaRPr lang="en-US" sz="1600" dirty="0"/>
          </a:p>
        </p:txBody>
      </p:sp>
      <p:sp>
        <p:nvSpPr>
          <p:cNvPr id="4" name="Shape 2"/>
          <p:cNvSpPr/>
          <p:nvPr/>
        </p:nvSpPr>
        <p:spPr>
          <a:xfrm>
            <a:off x="381000" y="1104900"/>
            <a:ext cx="5657850" cy="4572000"/>
          </a:xfrm>
          <a:custGeom>
            <a:avLst/>
            <a:gdLst/>
            <a:ahLst/>
            <a:cxnLst/>
            <a:rect l="l" t="t" r="r" b="b"/>
            <a:pathLst>
              <a:path w="5657850" h="4572000">
                <a:moveTo>
                  <a:pt x="76215" y="0"/>
                </a:moveTo>
                <a:lnTo>
                  <a:pt x="5581635" y="0"/>
                </a:lnTo>
                <a:cubicBezTo>
                  <a:pt x="5623727" y="0"/>
                  <a:pt x="5657850" y="34123"/>
                  <a:pt x="5657850" y="76215"/>
                </a:cubicBezTo>
                <a:lnTo>
                  <a:pt x="5657850" y="4495785"/>
                </a:lnTo>
                <a:cubicBezTo>
                  <a:pt x="5657850" y="4537877"/>
                  <a:pt x="5623727" y="4572000"/>
                  <a:pt x="5581635" y="4572000"/>
                </a:cubicBezTo>
                <a:lnTo>
                  <a:pt x="76215" y="4572000"/>
                </a:lnTo>
                <a:cubicBezTo>
                  <a:pt x="34123" y="4572000"/>
                  <a:pt x="0" y="4537877"/>
                  <a:pt x="0" y="4495785"/>
                </a:cubicBezTo>
                <a:lnTo>
                  <a:pt x="0" y="76215"/>
                </a:lnTo>
                <a:cubicBezTo>
                  <a:pt x="0" y="34151"/>
                  <a:pt x="34151" y="0"/>
                  <a:pt x="76215"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5" name="Text 3"/>
          <p:cNvSpPr/>
          <p:nvPr/>
        </p:nvSpPr>
        <p:spPr>
          <a:xfrm>
            <a:off x="533400" y="1257300"/>
            <a:ext cx="54387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Age Distribution by Repayment Status</a:t>
            </a:r>
            <a:endParaRPr lang="en-US" sz="1600" dirty="0"/>
          </a:p>
        </p:txBody>
      </p:sp>
      <p:sp>
        <p:nvSpPr>
          <p:cNvPr id="7" name="Shape 4"/>
          <p:cNvSpPr/>
          <p:nvPr/>
        </p:nvSpPr>
        <p:spPr>
          <a:xfrm>
            <a:off x="533400" y="4552950"/>
            <a:ext cx="5353050" cy="971550"/>
          </a:xfrm>
          <a:custGeom>
            <a:avLst/>
            <a:gdLst/>
            <a:ahLst/>
            <a:cxnLst/>
            <a:rect l="l" t="t" r="r" b="b"/>
            <a:pathLst>
              <a:path w="5353050" h="971550">
                <a:moveTo>
                  <a:pt x="38104" y="0"/>
                </a:moveTo>
                <a:lnTo>
                  <a:pt x="5314946" y="0"/>
                </a:lnTo>
                <a:cubicBezTo>
                  <a:pt x="5335990" y="0"/>
                  <a:pt x="5353050" y="17060"/>
                  <a:pt x="5353050" y="38104"/>
                </a:cubicBezTo>
                <a:lnTo>
                  <a:pt x="5353050" y="933446"/>
                </a:lnTo>
                <a:cubicBezTo>
                  <a:pt x="5353050" y="954490"/>
                  <a:pt x="5335990" y="971550"/>
                  <a:pt x="5314946" y="971550"/>
                </a:cubicBezTo>
                <a:lnTo>
                  <a:pt x="38104" y="971550"/>
                </a:lnTo>
                <a:cubicBezTo>
                  <a:pt x="17060" y="971550"/>
                  <a:pt x="0" y="954490"/>
                  <a:pt x="0" y="933446"/>
                </a:cubicBezTo>
                <a:lnTo>
                  <a:pt x="0" y="38104"/>
                </a:lnTo>
                <a:cubicBezTo>
                  <a:pt x="0" y="17074"/>
                  <a:pt x="17074" y="0"/>
                  <a:pt x="38104" y="0"/>
                </a:cubicBezTo>
                <a:close/>
              </a:path>
            </a:pathLst>
          </a:custGeom>
          <a:solidFill>
            <a:srgbClr val="F7F7F7"/>
          </a:solidFill>
          <a:ln/>
        </p:spPr>
        <p:txBody>
          <a:bodyPr/>
          <a:lstStyle/>
          <a:p>
            <a:endParaRPr lang="zh-CN" altLang="en-US"/>
          </a:p>
        </p:txBody>
      </p:sp>
      <p:sp>
        <p:nvSpPr>
          <p:cNvPr id="8" name="Text 5"/>
          <p:cNvSpPr/>
          <p:nvPr/>
        </p:nvSpPr>
        <p:spPr>
          <a:xfrm>
            <a:off x="647700" y="4667250"/>
            <a:ext cx="5200650" cy="742950"/>
          </a:xfrm>
          <a:prstGeom prst="rect">
            <a:avLst/>
          </a:prstGeom>
          <a:noFill/>
          <a:ln/>
        </p:spPr>
        <p:txBody>
          <a:bodyPr wrap="square" lIns="0" tIns="0" rIns="0" bIns="0" rtlCol="0" anchor="ctr"/>
          <a:lstStyle/>
          <a:p>
            <a:pPr>
              <a:lnSpc>
                <a:spcPct val="140000"/>
              </a:lnSpc>
            </a:pPr>
            <a:r>
              <a:rPr lang="en-US" sz="1200" b="1" dirty="0">
                <a:solidFill>
                  <a:srgbClr val="2D3748"/>
                </a:solidFill>
                <a:latin typeface="Liter" pitchFamily="34" charset="0"/>
                <a:ea typeface="Liter" pitchFamily="34" charset="-122"/>
                <a:cs typeface="Liter" pitchFamily="34" charset="-120"/>
              </a:rPr>
              <a:t>Key Insight:</a:t>
            </a:r>
            <a:r>
              <a:rPr lang="en-US" sz="1200" dirty="0">
                <a:solidFill>
                  <a:srgbClr val="2D3748"/>
                </a:solidFill>
                <a:latin typeface="Liter" pitchFamily="34" charset="0"/>
                <a:ea typeface="Liter" pitchFamily="34" charset="-122"/>
                <a:cs typeface="Liter" pitchFamily="34" charset="-120"/>
              </a:rPr>
              <a:t> Defaulters (TARGET=1) concentrated in </a:t>
            </a:r>
            <a:r>
              <a:rPr lang="en-US" sz="1200" b="1" dirty="0">
                <a:solidFill>
                  <a:srgbClr val="2D3748"/>
                </a:solidFill>
                <a:highlight>
                  <a:srgbClr val="C0A062">
                    <a:alpha val="20000"/>
                  </a:srgbClr>
                </a:highlight>
                <a:latin typeface="Liter" pitchFamily="34" charset="0"/>
                <a:ea typeface="Liter" pitchFamily="34" charset="-122"/>
                <a:cs typeface="Liter" pitchFamily="34" charset="-120"/>
              </a:rPr>
              <a:t>25-35 age range </a:t>
            </a:r>
            <a:r>
              <a:rPr lang="en-US" sz="1200" dirty="0">
                <a:solidFill>
                  <a:srgbClr val="2D3748"/>
                </a:solidFill>
                <a:latin typeface="Liter" pitchFamily="34" charset="0"/>
                <a:ea typeface="Liter" pitchFamily="34" charset="-122"/>
                <a:cs typeface="Liter" pitchFamily="34" charset="-120"/>
              </a:rPr>
              <a:t>, while repayers show broader middle-age distribution. Younger applicants are overrepresented among defaulters.</a:t>
            </a:r>
            <a:endParaRPr lang="en-US" sz="1600" dirty="0"/>
          </a:p>
        </p:txBody>
      </p:sp>
      <p:sp>
        <p:nvSpPr>
          <p:cNvPr id="9" name="Shape 6"/>
          <p:cNvSpPr/>
          <p:nvPr/>
        </p:nvSpPr>
        <p:spPr>
          <a:xfrm>
            <a:off x="6153150" y="1104899"/>
            <a:ext cx="5657850" cy="3086101"/>
          </a:xfrm>
          <a:custGeom>
            <a:avLst/>
            <a:gdLst/>
            <a:ahLst/>
            <a:cxnLst/>
            <a:rect l="l" t="t" r="r" b="b"/>
            <a:pathLst>
              <a:path w="5657850" h="2228850">
                <a:moveTo>
                  <a:pt x="76204" y="0"/>
                </a:moveTo>
                <a:lnTo>
                  <a:pt x="5581646" y="0"/>
                </a:lnTo>
                <a:cubicBezTo>
                  <a:pt x="5623732" y="0"/>
                  <a:pt x="5657850" y="34118"/>
                  <a:pt x="5657850" y="76204"/>
                </a:cubicBezTo>
                <a:lnTo>
                  <a:pt x="5657850" y="2152646"/>
                </a:lnTo>
                <a:cubicBezTo>
                  <a:pt x="5657850" y="2194732"/>
                  <a:pt x="5623732" y="2228850"/>
                  <a:pt x="5581646" y="2228850"/>
                </a:cubicBezTo>
                <a:lnTo>
                  <a:pt x="76204" y="2228850"/>
                </a:lnTo>
                <a:cubicBezTo>
                  <a:pt x="34118" y="2228850"/>
                  <a:pt x="0" y="2194732"/>
                  <a:pt x="0" y="2152646"/>
                </a:cubicBezTo>
                <a:lnTo>
                  <a:pt x="0" y="76204"/>
                </a:lnTo>
                <a:cubicBezTo>
                  <a:pt x="0" y="34146"/>
                  <a:pt x="34146" y="0"/>
                  <a:pt x="76204"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10" name="Text 7"/>
          <p:cNvSpPr/>
          <p:nvPr/>
        </p:nvSpPr>
        <p:spPr>
          <a:xfrm>
            <a:off x="6543675" y="1466850"/>
            <a:ext cx="54387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Credit Amount Distribution</a:t>
            </a:r>
            <a:endParaRPr lang="en-US" sz="1600" dirty="0"/>
          </a:p>
        </p:txBody>
      </p:sp>
      <p:sp>
        <p:nvSpPr>
          <p:cNvPr id="14" name="Text 10"/>
          <p:cNvSpPr/>
          <p:nvPr/>
        </p:nvSpPr>
        <p:spPr>
          <a:xfrm>
            <a:off x="9341961" y="1480456"/>
            <a:ext cx="54387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Goods Price Distribution</a:t>
            </a:r>
            <a:endParaRPr lang="en-US" sz="1600" dirty="0"/>
          </a:p>
        </p:txBody>
      </p:sp>
      <p:sp>
        <p:nvSpPr>
          <p:cNvPr id="17" name="Shape 12"/>
          <p:cNvSpPr/>
          <p:nvPr/>
        </p:nvSpPr>
        <p:spPr>
          <a:xfrm>
            <a:off x="381000" y="5753100"/>
            <a:ext cx="11430000" cy="723900"/>
          </a:xfrm>
          <a:custGeom>
            <a:avLst/>
            <a:gdLst/>
            <a:ahLst/>
            <a:cxnLst/>
            <a:rect l="l" t="t" r="r" b="b"/>
            <a:pathLst>
              <a:path w="11430000" h="723900">
                <a:moveTo>
                  <a:pt x="76198" y="0"/>
                </a:moveTo>
                <a:lnTo>
                  <a:pt x="11353802" y="0"/>
                </a:lnTo>
                <a:cubicBezTo>
                  <a:pt x="11395857" y="0"/>
                  <a:pt x="11430000" y="34143"/>
                  <a:pt x="11430000" y="76198"/>
                </a:cubicBezTo>
                <a:lnTo>
                  <a:pt x="11430000" y="647702"/>
                </a:lnTo>
                <a:cubicBezTo>
                  <a:pt x="11430000" y="689757"/>
                  <a:pt x="11395857" y="723900"/>
                  <a:pt x="11353802" y="723900"/>
                </a:cubicBezTo>
                <a:lnTo>
                  <a:pt x="76198" y="723900"/>
                </a:lnTo>
                <a:cubicBezTo>
                  <a:pt x="34143" y="723900"/>
                  <a:pt x="0" y="689757"/>
                  <a:pt x="0" y="647702"/>
                </a:cubicBezTo>
                <a:lnTo>
                  <a:pt x="0" y="76198"/>
                </a:lnTo>
                <a:cubicBezTo>
                  <a:pt x="0" y="34143"/>
                  <a:pt x="34143" y="0"/>
                  <a:pt x="76198" y="0"/>
                </a:cubicBezTo>
                <a:close/>
              </a:path>
            </a:pathLst>
          </a:custGeom>
          <a:solidFill>
            <a:srgbClr val="2E4057"/>
          </a:solidFill>
          <a:ln/>
        </p:spPr>
        <p:txBody>
          <a:bodyPr/>
          <a:lstStyle/>
          <a:p>
            <a:endParaRPr lang="zh-CN" altLang="en-US"/>
          </a:p>
        </p:txBody>
      </p:sp>
      <p:sp>
        <p:nvSpPr>
          <p:cNvPr id="18" name="Shape 13"/>
          <p:cNvSpPr/>
          <p:nvPr/>
        </p:nvSpPr>
        <p:spPr>
          <a:xfrm>
            <a:off x="523875" y="6000750"/>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107156" y="42863"/>
                </a:moveTo>
                <a:cubicBezTo>
                  <a:pt x="110148" y="42863"/>
                  <a:pt x="113005" y="44113"/>
                  <a:pt x="115059" y="46345"/>
                </a:cubicBezTo>
                <a:lnTo>
                  <a:pt x="146804" y="80948"/>
                </a:lnTo>
                <a:lnTo>
                  <a:pt x="167432" y="60275"/>
                </a:lnTo>
                <a:cubicBezTo>
                  <a:pt x="171629" y="56078"/>
                  <a:pt x="178415" y="56078"/>
                  <a:pt x="182567" y="60275"/>
                </a:cubicBezTo>
                <a:lnTo>
                  <a:pt x="211142" y="88850"/>
                </a:lnTo>
                <a:cubicBezTo>
                  <a:pt x="213152" y="90860"/>
                  <a:pt x="214268" y="93583"/>
                  <a:pt x="214268" y="96441"/>
                </a:cubicBezTo>
                <a:lnTo>
                  <a:pt x="214268" y="146447"/>
                </a:lnTo>
                <a:cubicBezTo>
                  <a:pt x="214268" y="152385"/>
                  <a:pt x="209490" y="157163"/>
                  <a:pt x="203552" y="157163"/>
                </a:cubicBezTo>
                <a:lnTo>
                  <a:pt x="67821" y="157163"/>
                </a:lnTo>
                <a:cubicBezTo>
                  <a:pt x="61883" y="157163"/>
                  <a:pt x="57105" y="152385"/>
                  <a:pt x="57105" y="146447"/>
                </a:cubicBezTo>
                <a:lnTo>
                  <a:pt x="57105" y="96441"/>
                </a:lnTo>
                <a:cubicBezTo>
                  <a:pt x="57105" y="93762"/>
                  <a:pt x="58132" y="91172"/>
                  <a:pt x="59918" y="89208"/>
                </a:cubicBezTo>
                <a:lnTo>
                  <a:pt x="99209" y="46345"/>
                </a:lnTo>
                <a:cubicBezTo>
                  <a:pt x="101218" y="44113"/>
                  <a:pt x="104120" y="42863"/>
                  <a:pt x="107112" y="42863"/>
                </a:cubicBezTo>
                <a:close/>
              </a:path>
            </a:pathLst>
          </a:custGeom>
          <a:solidFill>
            <a:srgbClr val="C0A062"/>
          </a:solidFill>
          <a:ln/>
        </p:spPr>
        <p:txBody>
          <a:bodyPr/>
          <a:lstStyle/>
          <a:p>
            <a:endParaRPr lang="zh-CN" altLang="en-US"/>
          </a:p>
        </p:txBody>
      </p:sp>
      <p:sp>
        <p:nvSpPr>
          <p:cNvPr id="19" name="Text 14"/>
          <p:cNvSpPr/>
          <p:nvPr/>
        </p:nvSpPr>
        <p:spPr>
          <a:xfrm>
            <a:off x="933450" y="5867400"/>
            <a:ext cx="10839450" cy="49530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Critical Finding:</a:t>
            </a:r>
            <a:r>
              <a:rPr lang="en-US" sz="1200" dirty="0">
                <a:solidFill>
                  <a:srgbClr val="FFFFFF"/>
                </a:solidFill>
                <a:latin typeface="Liter" pitchFamily="34" charset="0"/>
                <a:ea typeface="Liter" pitchFamily="34" charset="-122"/>
                <a:cs typeface="Liter" pitchFamily="34" charset="-120"/>
              </a:rPr>
              <a:t> Age is a strong risk-associated factor, while raw financial magnitudes show limited discriminatory power. </a:t>
            </a:r>
            <a:r>
              <a:rPr lang="en-US" sz="1200" dirty="0">
                <a:solidFill>
                  <a:srgbClr val="FFFFFF"/>
                </a:solidFill>
                <a:highlight>
                  <a:srgbClr val="C0A062">
                    <a:alpha val="30000"/>
                  </a:srgbClr>
                </a:highlight>
                <a:latin typeface="Liter" pitchFamily="34" charset="0"/>
                <a:ea typeface="Liter" pitchFamily="34" charset="-122"/>
                <a:cs typeface="Liter" pitchFamily="34" charset="-120"/>
              </a:rPr>
              <a:t>Loan-to-income relationships </a:t>
            </a:r>
            <a:r>
              <a:rPr lang="en-US" sz="1200" dirty="0">
                <a:solidFill>
                  <a:srgbClr val="FFFFFF"/>
                </a:solidFill>
                <a:latin typeface="Liter" pitchFamily="34" charset="0"/>
                <a:ea typeface="Liter" pitchFamily="34" charset="-122"/>
                <a:cs typeface="Liter" pitchFamily="34" charset="-120"/>
              </a:rPr>
              <a:t>may be more predictive than absolute amounts.</a:t>
            </a:r>
            <a:endParaRPr lang="en-US" sz="1600" dirty="0"/>
          </a:p>
        </p:txBody>
      </p:sp>
      <p:pic>
        <p:nvPicPr>
          <p:cNvPr id="20" name="图片 19">
            <a:extLst>
              <a:ext uri="{FF2B5EF4-FFF2-40B4-BE49-F238E27FC236}">
                <a16:creationId xmlns:a16="http://schemas.microsoft.com/office/drawing/2014/main" id="{9D5879E6-5153-97A6-F945-4D94F03C3921}"/>
              </a:ext>
            </a:extLst>
          </p:cNvPr>
          <p:cNvPicPr>
            <a:picLocks noChangeAspect="1"/>
          </p:cNvPicPr>
          <p:nvPr/>
        </p:nvPicPr>
        <p:blipFill>
          <a:blip r:embed="rId3"/>
          <a:stretch>
            <a:fillRect/>
          </a:stretch>
        </p:blipFill>
        <p:spPr>
          <a:xfrm>
            <a:off x="1164771" y="1600200"/>
            <a:ext cx="3898511" cy="2851150"/>
          </a:xfrm>
          <a:prstGeom prst="rect">
            <a:avLst/>
          </a:prstGeom>
        </p:spPr>
      </p:pic>
      <p:pic>
        <p:nvPicPr>
          <p:cNvPr id="21" name="图片 20">
            <a:extLst>
              <a:ext uri="{FF2B5EF4-FFF2-40B4-BE49-F238E27FC236}">
                <a16:creationId xmlns:a16="http://schemas.microsoft.com/office/drawing/2014/main" id="{B505103A-6D87-9CA2-1D92-E804EAD07E07}"/>
              </a:ext>
            </a:extLst>
          </p:cNvPr>
          <p:cNvPicPr>
            <a:picLocks noChangeAspect="1"/>
          </p:cNvPicPr>
          <p:nvPr/>
        </p:nvPicPr>
        <p:blipFill>
          <a:blip r:embed="rId4"/>
          <a:stretch>
            <a:fillRect/>
          </a:stretch>
        </p:blipFill>
        <p:spPr>
          <a:xfrm>
            <a:off x="6286500" y="2049206"/>
            <a:ext cx="2511176" cy="1710911"/>
          </a:xfrm>
          <a:prstGeom prst="rect">
            <a:avLst/>
          </a:prstGeom>
        </p:spPr>
      </p:pic>
      <p:pic>
        <p:nvPicPr>
          <p:cNvPr id="22" name="图片 21">
            <a:extLst>
              <a:ext uri="{FF2B5EF4-FFF2-40B4-BE49-F238E27FC236}">
                <a16:creationId xmlns:a16="http://schemas.microsoft.com/office/drawing/2014/main" id="{9AC7FEA5-A621-0F44-73EB-F16A00935944}"/>
              </a:ext>
            </a:extLst>
          </p:cNvPr>
          <p:cNvPicPr>
            <a:picLocks noChangeAspect="1"/>
          </p:cNvPicPr>
          <p:nvPr/>
        </p:nvPicPr>
        <p:blipFill>
          <a:blip r:embed="rId5"/>
          <a:stretch>
            <a:fillRect/>
          </a:stretch>
        </p:blipFill>
        <p:spPr>
          <a:xfrm>
            <a:off x="8931026" y="2113622"/>
            <a:ext cx="2560775" cy="1710911"/>
          </a:xfrm>
          <a:prstGeom prst="rect">
            <a:avLst/>
          </a:prstGeom>
        </p:spPr>
      </p:pic>
      <p:sp>
        <p:nvSpPr>
          <p:cNvPr id="23" name="Text 11">
            <a:extLst>
              <a:ext uri="{FF2B5EF4-FFF2-40B4-BE49-F238E27FC236}">
                <a16:creationId xmlns:a16="http://schemas.microsoft.com/office/drawing/2014/main" id="{DCF1EE05-B15F-221C-D36D-01925457B754}"/>
              </a:ext>
            </a:extLst>
          </p:cNvPr>
          <p:cNvSpPr/>
          <p:nvPr/>
        </p:nvSpPr>
        <p:spPr>
          <a:xfrm>
            <a:off x="6293598" y="4095750"/>
            <a:ext cx="5376953" cy="1543050"/>
          </a:xfrm>
          <a:prstGeom prst="rect">
            <a:avLst/>
          </a:prstGeom>
          <a:noFill/>
          <a:ln/>
        </p:spPr>
        <p:txBody>
          <a:bodyPr wrap="square" lIns="0" tIns="0" rIns="0" bIns="0" rtlCol="0" anchor="ctr"/>
          <a:lstStyle/>
          <a:p>
            <a:pPr>
              <a:lnSpc>
                <a:spcPct val="120000"/>
              </a:lnSpc>
            </a:pPr>
            <a:r>
              <a:rPr lang="en-US" altLang="zh-CN" sz="1200" b="1" dirty="0">
                <a:solidFill>
                  <a:srgbClr val="2D3748"/>
                </a:solidFill>
                <a:latin typeface="Liter" pitchFamily="34" charset="0"/>
              </a:rPr>
              <a:t>Loan &amp; Goods Amounts: </a:t>
            </a:r>
          </a:p>
          <a:p>
            <a:pPr>
              <a:lnSpc>
                <a:spcPct val="120000"/>
              </a:lnSpc>
            </a:pPr>
            <a:r>
              <a:rPr lang="en-US" altLang="zh-CN" sz="1200" dirty="0">
                <a:solidFill>
                  <a:srgbClr val="2D3748"/>
                </a:solidFill>
                <a:latin typeface="Liter" pitchFamily="34" charset="0"/>
              </a:rPr>
              <a:t>Both variables are heavily right-skewed and show similar distributions across defaulters and non-defaulters, suggesting that absolute loan size alone is not a strong discriminator of risk; relative metrics (e.g., loan-to-income ratios) are likely more predictive.</a:t>
            </a:r>
            <a:endParaRPr lang="en-US" sz="1200" dirty="0">
              <a:solidFill>
                <a:srgbClr val="2D3748"/>
              </a:solidFill>
              <a:latin typeface="Liter"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0A062"/>
                </a:solidFill>
                <a:latin typeface="Liter" pitchFamily="34" charset="0"/>
                <a:ea typeface="Liter" pitchFamily="34" charset="-122"/>
                <a:cs typeface="Liter" pitchFamily="34" charset="-120"/>
              </a:rPr>
              <a:t>05 • Bivariate Analysis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4057"/>
                </a:solidFill>
                <a:latin typeface="Liter" pitchFamily="34" charset="0"/>
                <a:ea typeface="Liter" pitchFamily="34" charset="-122"/>
                <a:cs typeface="Liter" pitchFamily="34" charset="-120"/>
              </a:rPr>
              <a:t>Correlation Structure</a:t>
            </a:r>
            <a:endParaRPr lang="en-US" sz="1600" dirty="0"/>
          </a:p>
        </p:txBody>
      </p:sp>
      <p:sp>
        <p:nvSpPr>
          <p:cNvPr id="4" name="Shape 2"/>
          <p:cNvSpPr/>
          <p:nvPr/>
        </p:nvSpPr>
        <p:spPr>
          <a:xfrm>
            <a:off x="381000" y="1104899"/>
            <a:ext cx="6416416" cy="5502729"/>
          </a:xfrm>
          <a:custGeom>
            <a:avLst/>
            <a:gdLst/>
            <a:ahLst/>
            <a:cxnLst/>
            <a:rect l="l" t="t" r="r" b="b"/>
            <a:pathLst>
              <a:path w="5657850" h="4114800">
                <a:moveTo>
                  <a:pt x="76206" y="0"/>
                </a:moveTo>
                <a:lnTo>
                  <a:pt x="5581644" y="0"/>
                </a:lnTo>
                <a:cubicBezTo>
                  <a:pt x="5623731" y="0"/>
                  <a:pt x="5657850" y="34119"/>
                  <a:pt x="5657850" y="76206"/>
                </a:cubicBezTo>
                <a:lnTo>
                  <a:pt x="5657850" y="4038594"/>
                </a:lnTo>
                <a:cubicBezTo>
                  <a:pt x="5657850" y="4080681"/>
                  <a:pt x="5623731" y="4114800"/>
                  <a:pt x="5581644" y="4114800"/>
                </a:cubicBezTo>
                <a:lnTo>
                  <a:pt x="76206" y="4114800"/>
                </a:lnTo>
                <a:cubicBezTo>
                  <a:pt x="34119" y="4114800"/>
                  <a:pt x="0" y="4080681"/>
                  <a:pt x="0" y="4038594"/>
                </a:cubicBezTo>
                <a:lnTo>
                  <a:pt x="0" y="76206"/>
                </a:lnTo>
                <a:cubicBezTo>
                  <a:pt x="0" y="34147"/>
                  <a:pt x="34147" y="0"/>
                  <a:pt x="76206"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5" name="Text 3"/>
          <p:cNvSpPr/>
          <p:nvPr/>
        </p:nvSpPr>
        <p:spPr>
          <a:xfrm>
            <a:off x="-1062038" y="1257300"/>
            <a:ext cx="5438775" cy="266700"/>
          </a:xfrm>
          <a:prstGeom prst="rect">
            <a:avLst/>
          </a:prstGeom>
          <a:noFill/>
          <a:ln/>
        </p:spPr>
        <p:txBody>
          <a:bodyPr wrap="square" lIns="0" tIns="0" rIns="0" bIns="0" rtlCol="0" anchor="ctr"/>
          <a:lstStyle/>
          <a:p>
            <a:pPr algn="ctr">
              <a:lnSpc>
                <a:spcPct val="130000"/>
              </a:lnSpc>
            </a:pPr>
            <a:r>
              <a:rPr lang="en-US" sz="1350" b="1" dirty="0">
                <a:solidFill>
                  <a:srgbClr val="2E4057"/>
                </a:solidFill>
                <a:latin typeface="Liter" pitchFamily="34" charset="0"/>
                <a:ea typeface="Liter" pitchFamily="34" charset="-122"/>
                <a:cs typeface="Liter" pitchFamily="34" charset="-120"/>
              </a:rPr>
              <a:t>Defaulters (TARGET=1)</a:t>
            </a:r>
            <a:endParaRPr lang="en-US" sz="1600" dirty="0"/>
          </a:p>
        </p:txBody>
      </p:sp>
      <p:sp>
        <p:nvSpPr>
          <p:cNvPr id="7" name="Shape 4"/>
          <p:cNvSpPr/>
          <p:nvPr/>
        </p:nvSpPr>
        <p:spPr>
          <a:xfrm>
            <a:off x="6978392" y="1104900"/>
            <a:ext cx="4832607" cy="2758467"/>
          </a:xfrm>
          <a:custGeom>
            <a:avLst/>
            <a:gdLst/>
            <a:ahLst/>
            <a:cxnLst/>
            <a:rect l="l" t="t" r="r" b="b"/>
            <a:pathLst>
              <a:path w="5657850" h="4114800">
                <a:moveTo>
                  <a:pt x="76206" y="0"/>
                </a:moveTo>
                <a:lnTo>
                  <a:pt x="5581644" y="0"/>
                </a:lnTo>
                <a:cubicBezTo>
                  <a:pt x="5623731" y="0"/>
                  <a:pt x="5657850" y="34119"/>
                  <a:pt x="5657850" y="76206"/>
                </a:cubicBezTo>
                <a:lnTo>
                  <a:pt x="5657850" y="4038594"/>
                </a:lnTo>
                <a:cubicBezTo>
                  <a:pt x="5657850" y="4080681"/>
                  <a:pt x="5623731" y="4114800"/>
                  <a:pt x="5581644" y="4114800"/>
                </a:cubicBezTo>
                <a:lnTo>
                  <a:pt x="76206" y="4114800"/>
                </a:lnTo>
                <a:cubicBezTo>
                  <a:pt x="34119" y="4114800"/>
                  <a:pt x="0" y="4080681"/>
                  <a:pt x="0" y="4038594"/>
                </a:cubicBezTo>
                <a:lnTo>
                  <a:pt x="0" y="76206"/>
                </a:lnTo>
                <a:cubicBezTo>
                  <a:pt x="0" y="34147"/>
                  <a:pt x="34147" y="0"/>
                  <a:pt x="76206"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8" name="Text 5"/>
          <p:cNvSpPr/>
          <p:nvPr/>
        </p:nvSpPr>
        <p:spPr>
          <a:xfrm>
            <a:off x="2184400" y="1246945"/>
            <a:ext cx="5438775" cy="266700"/>
          </a:xfrm>
          <a:prstGeom prst="rect">
            <a:avLst/>
          </a:prstGeom>
          <a:noFill/>
          <a:ln/>
        </p:spPr>
        <p:txBody>
          <a:bodyPr wrap="square" lIns="0" tIns="0" rIns="0" bIns="0" rtlCol="0" anchor="ctr"/>
          <a:lstStyle/>
          <a:p>
            <a:pPr algn="ctr">
              <a:lnSpc>
                <a:spcPct val="130000"/>
              </a:lnSpc>
            </a:pPr>
            <a:r>
              <a:rPr lang="en-US" sz="1350" b="1" dirty="0">
                <a:solidFill>
                  <a:srgbClr val="2E4057"/>
                </a:solidFill>
                <a:latin typeface="Liter" pitchFamily="34" charset="0"/>
                <a:ea typeface="Liter" pitchFamily="34" charset="-122"/>
                <a:cs typeface="Liter" pitchFamily="34" charset="-120"/>
              </a:rPr>
              <a:t>Repayers (TARGET=0)</a:t>
            </a:r>
            <a:endParaRPr lang="en-US" sz="1600" dirty="0"/>
          </a:p>
        </p:txBody>
      </p:sp>
      <p:sp>
        <p:nvSpPr>
          <p:cNvPr id="10" name="Shape 6"/>
          <p:cNvSpPr/>
          <p:nvPr/>
        </p:nvSpPr>
        <p:spPr>
          <a:xfrm>
            <a:off x="527050" y="3984171"/>
            <a:ext cx="2455606" cy="1181100"/>
          </a:xfrm>
          <a:custGeom>
            <a:avLst/>
            <a:gdLst/>
            <a:ahLst/>
            <a:cxnLst/>
            <a:rect l="l" t="t" r="r" b="b"/>
            <a:pathLst>
              <a:path w="3733800" h="1181100">
                <a:moveTo>
                  <a:pt x="76205" y="0"/>
                </a:moveTo>
                <a:lnTo>
                  <a:pt x="3657595" y="0"/>
                </a:lnTo>
                <a:cubicBezTo>
                  <a:pt x="3699654" y="0"/>
                  <a:pt x="3733800" y="34146"/>
                  <a:pt x="3733800" y="76205"/>
                </a:cubicBezTo>
                <a:lnTo>
                  <a:pt x="3733800" y="1104895"/>
                </a:lnTo>
                <a:cubicBezTo>
                  <a:pt x="3733800" y="1146982"/>
                  <a:pt x="3699682" y="1181100"/>
                  <a:pt x="3657595" y="1181100"/>
                </a:cubicBezTo>
                <a:lnTo>
                  <a:pt x="76205" y="1181100"/>
                </a:lnTo>
                <a:cubicBezTo>
                  <a:pt x="34146" y="1181100"/>
                  <a:pt x="0" y="1146954"/>
                  <a:pt x="0" y="1104895"/>
                </a:cubicBezTo>
                <a:lnTo>
                  <a:pt x="0" y="76205"/>
                </a:lnTo>
                <a:cubicBezTo>
                  <a:pt x="0" y="34146"/>
                  <a:pt x="34146" y="0"/>
                  <a:pt x="76205" y="0"/>
                </a:cubicBezTo>
                <a:close/>
              </a:path>
            </a:pathLst>
          </a:custGeom>
          <a:solidFill>
            <a:srgbClr val="2E4057"/>
          </a:solidFill>
          <a:ln/>
        </p:spPr>
        <p:txBody>
          <a:bodyPr/>
          <a:lstStyle/>
          <a:p>
            <a:endParaRPr lang="zh-CN" altLang="en-US"/>
          </a:p>
        </p:txBody>
      </p:sp>
      <p:sp>
        <p:nvSpPr>
          <p:cNvPr id="11" name="Shape 7"/>
          <p:cNvSpPr/>
          <p:nvPr/>
        </p:nvSpPr>
        <p:spPr>
          <a:xfrm>
            <a:off x="665163" y="411752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0A062"/>
          </a:solidFill>
          <a:ln/>
        </p:spPr>
        <p:txBody>
          <a:bodyPr/>
          <a:lstStyle/>
          <a:p>
            <a:endParaRPr lang="zh-CN" altLang="en-US"/>
          </a:p>
        </p:txBody>
      </p:sp>
      <p:sp>
        <p:nvSpPr>
          <p:cNvPr id="12" name="Text 8"/>
          <p:cNvSpPr/>
          <p:nvPr/>
        </p:nvSpPr>
        <p:spPr>
          <a:xfrm>
            <a:off x="955675" y="4098471"/>
            <a:ext cx="12287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Repayers Pattern</a:t>
            </a:r>
            <a:endParaRPr lang="en-US" sz="1600" dirty="0"/>
          </a:p>
        </p:txBody>
      </p:sp>
      <p:sp>
        <p:nvSpPr>
          <p:cNvPr id="13" name="Text 9"/>
          <p:cNvSpPr/>
          <p:nvPr/>
        </p:nvSpPr>
        <p:spPr>
          <a:xfrm>
            <a:off x="641350" y="4403271"/>
            <a:ext cx="10763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Income ↔ Credit:</a:t>
            </a:r>
            <a:endParaRPr lang="en-US" sz="1600" dirty="0"/>
          </a:p>
        </p:txBody>
      </p:sp>
      <p:sp>
        <p:nvSpPr>
          <p:cNvPr id="14" name="Text 10"/>
          <p:cNvSpPr/>
          <p:nvPr/>
        </p:nvSpPr>
        <p:spPr>
          <a:xfrm>
            <a:off x="2556352" y="4403271"/>
            <a:ext cx="342900" cy="190500"/>
          </a:xfrm>
          <a:prstGeom prst="rect">
            <a:avLst/>
          </a:prstGeom>
          <a:noFill/>
          <a:ln/>
        </p:spPr>
        <p:txBody>
          <a:bodyPr wrap="square" lIns="0" tIns="0" rIns="0" bIns="0" rtlCol="0" anchor="ctr"/>
          <a:lstStyle/>
          <a:p>
            <a:pPr>
              <a:lnSpc>
                <a:spcPct val="120000"/>
              </a:lnSpc>
            </a:pPr>
            <a:r>
              <a:rPr lang="en-US" sz="1050" b="1" dirty="0">
                <a:solidFill>
                  <a:srgbClr val="C0A062"/>
                </a:solidFill>
                <a:latin typeface="Liter" pitchFamily="34" charset="0"/>
                <a:ea typeface="Liter" pitchFamily="34" charset="-122"/>
                <a:cs typeface="Liter" pitchFamily="34" charset="-120"/>
              </a:rPr>
              <a:t>0.34</a:t>
            </a:r>
            <a:endParaRPr lang="en-US" sz="1600" dirty="0"/>
          </a:p>
        </p:txBody>
      </p:sp>
      <p:sp>
        <p:nvSpPr>
          <p:cNvPr id="15" name="Text 11"/>
          <p:cNvSpPr/>
          <p:nvPr/>
        </p:nvSpPr>
        <p:spPr>
          <a:xfrm>
            <a:off x="641350" y="4631871"/>
            <a:ext cx="11620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Income ↔ Annuity:</a:t>
            </a:r>
            <a:endParaRPr lang="en-US" sz="1600" dirty="0"/>
          </a:p>
        </p:txBody>
      </p:sp>
      <p:sp>
        <p:nvSpPr>
          <p:cNvPr id="16" name="Text 12"/>
          <p:cNvSpPr/>
          <p:nvPr/>
        </p:nvSpPr>
        <p:spPr>
          <a:xfrm>
            <a:off x="2557542" y="4631871"/>
            <a:ext cx="342900" cy="190500"/>
          </a:xfrm>
          <a:prstGeom prst="rect">
            <a:avLst/>
          </a:prstGeom>
          <a:noFill/>
          <a:ln/>
        </p:spPr>
        <p:txBody>
          <a:bodyPr wrap="square" lIns="0" tIns="0" rIns="0" bIns="0" rtlCol="0" anchor="ctr"/>
          <a:lstStyle/>
          <a:p>
            <a:pPr>
              <a:lnSpc>
                <a:spcPct val="120000"/>
              </a:lnSpc>
            </a:pPr>
            <a:r>
              <a:rPr lang="en-US" sz="1050" b="1" dirty="0">
                <a:solidFill>
                  <a:srgbClr val="C0A062"/>
                </a:solidFill>
                <a:latin typeface="Liter" pitchFamily="34" charset="0"/>
                <a:ea typeface="Liter" pitchFamily="34" charset="-122"/>
                <a:cs typeface="Liter" pitchFamily="34" charset="-120"/>
              </a:rPr>
              <a:t>0.42</a:t>
            </a:r>
            <a:endParaRPr lang="en-US" sz="1600" dirty="0"/>
          </a:p>
        </p:txBody>
      </p:sp>
      <p:sp>
        <p:nvSpPr>
          <p:cNvPr id="17" name="Text 13"/>
          <p:cNvSpPr/>
          <p:nvPr/>
        </p:nvSpPr>
        <p:spPr>
          <a:xfrm>
            <a:off x="641350" y="4898571"/>
            <a:ext cx="3562350" cy="152400"/>
          </a:xfrm>
          <a:prstGeom prst="rect">
            <a:avLst/>
          </a:prstGeom>
          <a:noFill/>
          <a:ln/>
        </p:spPr>
        <p:txBody>
          <a:bodyPr wrap="square" lIns="0" tIns="0" rIns="0" bIns="0" rtlCol="0" anchor="ctr"/>
          <a:lstStyle/>
          <a:p>
            <a:pPr>
              <a:lnSpc>
                <a:spcPct val="110000"/>
              </a:lnSpc>
            </a:pPr>
            <a:r>
              <a:rPr lang="en-US" sz="900" dirty="0">
                <a:solidFill>
                  <a:srgbClr val="FFFFFF">
                    <a:alpha val="80000"/>
                  </a:srgbClr>
                </a:solidFill>
                <a:latin typeface="Liter" pitchFamily="34" charset="0"/>
                <a:ea typeface="Liter" pitchFamily="34" charset="-122"/>
                <a:cs typeface="Liter" pitchFamily="34" charset="-120"/>
              </a:rPr>
              <a:t>Income-aligned loan sizing observed</a:t>
            </a:r>
            <a:endParaRPr lang="en-US" sz="1600" dirty="0"/>
          </a:p>
        </p:txBody>
      </p:sp>
      <p:sp>
        <p:nvSpPr>
          <p:cNvPr id="18" name="Shape 14"/>
          <p:cNvSpPr/>
          <p:nvPr/>
        </p:nvSpPr>
        <p:spPr>
          <a:xfrm>
            <a:off x="527050" y="5241470"/>
            <a:ext cx="2455606" cy="1181100"/>
          </a:xfrm>
          <a:custGeom>
            <a:avLst/>
            <a:gdLst/>
            <a:ahLst/>
            <a:cxnLst/>
            <a:rect l="l" t="t" r="r" b="b"/>
            <a:pathLst>
              <a:path w="3733800" h="1181100">
                <a:moveTo>
                  <a:pt x="76205" y="0"/>
                </a:moveTo>
                <a:lnTo>
                  <a:pt x="3657595" y="0"/>
                </a:lnTo>
                <a:cubicBezTo>
                  <a:pt x="3699654" y="0"/>
                  <a:pt x="3733800" y="34146"/>
                  <a:pt x="3733800" y="76205"/>
                </a:cubicBezTo>
                <a:lnTo>
                  <a:pt x="3733800" y="1104895"/>
                </a:lnTo>
                <a:cubicBezTo>
                  <a:pt x="3733800" y="1146982"/>
                  <a:pt x="3699682" y="1181100"/>
                  <a:pt x="3657595" y="1181100"/>
                </a:cubicBezTo>
                <a:lnTo>
                  <a:pt x="76205" y="1181100"/>
                </a:lnTo>
                <a:cubicBezTo>
                  <a:pt x="34146" y="1181100"/>
                  <a:pt x="0" y="1146954"/>
                  <a:pt x="0" y="1104895"/>
                </a:cubicBezTo>
                <a:lnTo>
                  <a:pt x="0" y="76205"/>
                </a:lnTo>
                <a:cubicBezTo>
                  <a:pt x="0" y="34146"/>
                  <a:pt x="34146" y="0"/>
                  <a:pt x="76205" y="0"/>
                </a:cubicBezTo>
                <a:close/>
              </a:path>
            </a:pathLst>
          </a:custGeom>
          <a:solidFill>
            <a:srgbClr val="C0A062"/>
          </a:solidFill>
          <a:ln/>
        </p:spPr>
        <p:txBody>
          <a:bodyPr/>
          <a:lstStyle/>
          <a:p>
            <a:endParaRPr lang="zh-CN" altLang="en-US"/>
          </a:p>
        </p:txBody>
      </p:sp>
      <p:sp>
        <p:nvSpPr>
          <p:cNvPr id="19" name="Shape 15"/>
          <p:cNvSpPr/>
          <p:nvPr/>
        </p:nvSpPr>
        <p:spPr>
          <a:xfrm>
            <a:off x="665163" y="537482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FFFFFF"/>
          </a:solidFill>
          <a:ln/>
        </p:spPr>
        <p:txBody>
          <a:bodyPr/>
          <a:lstStyle/>
          <a:p>
            <a:endParaRPr lang="zh-CN" altLang="en-US"/>
          </a:p>
        </p:txBody>
      </p:sp>
      <p:sp>
        <p:nvSpPr>
          <p:cNvPr id="20" name="Text 16"/>
          <p:cNvSpPr/>
          <p:nvPr/>
        </p:nvSpPr>
        <p:spPr>
          <a:xfrm>
            <a:off x="955675" y="5355770"/>
            <a:ext cx="12954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Defaulters Pattern</a:t>
            </a:r>
            <a:endParaRPr lang="en-US" sz="1600" dirty="0"/>
          </a:p>
        </p:txBody>
      </p:sp>
      <p:sp>
        <p:nvSpPr>
          <p:cNvPr id="21" name="Text 17"/>
          <p:cNvSpPr/>
          <p:nvPr/>
        </p:nvSpPr>
        <p:spPr>
          <a:xfrm>
            <a:off x="641350" y="5660570"/>
            <a:ext cx="10763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Income ↔ Credit:</a:t>
            </a:r>
            <a:endParaRPr lang="en-US" sz="1600" dirty="0"/>
          </a:p>
        </p:txBody>
      </p:sp>
      <p:sp>
        <p:nvSpPr>
          <p:cNvPr id="22" name="Text 18"/>
          <p:cNvSpPr/>
          <p:nvPr/>
        </p:nvSpPr>
        <p:spPr>
          <a:xfrm>
            <a:off x="2549952" y="5660570"/>
            <a:ext cx="342900" cy="190500"/>
          </a:xfrm>
          <a:prstGeom prst="rect">
            <a:avLst/>
          </a:prstGeom>
          <a:noFill/>
          <a:ln/>
        </p:spPr>
        <p:txBody>
          <a:bodyPr wrap="square" lIns="0" tIns="0" rIns="0" bIns="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0.04</a:t>
            </a:r>
            <a:endParaRPr lang="en-US" sz="1600" dirty="0"/>
          </a:p>
        </p:txBody>
      </p:sp>
      <p:sp>
        <p:nvSpPr>
          <p:cNvPr id="23" name="Text 19"/>
          <p:cNvSpPr/>
          <p:nvPr/>
        </p:nvSpPr>
        <p:spPr>
          <a:xfrm>
            <a:off x="641350" y="5889170"/>
            <a:ext cx="11620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Income ↔ Annuity:</a:t>
            </a:r>
            <a:endParaRPr lang="en-US" sz="1600" dirty="0"/>
          </a:p>
        </p:txBody>
      </p:sp>
      <p:sp>
        <p:nvSpPr>
          <p:cNvPr id="24" name="Text 20"/>
          <p:cNvSpPr/>
          <p:nvPr/>
        </p:nvSpPr>
        <p:spPr>
          <a:xfrm>
            <a:off x="2551738" y="5889170"/>
            <a:ext cx="342900" cy="190500"/>
          </a:xfrm>
          <a:prstGeom prst="rect">
            <a:avLst/>
          </a:prstGeom>
          <a:noFill/>
          <a:ln/>
        </p:spPr>
        <p:txBody>
          <a:bodyPr wrap="square" lIns="0" tIns="0" rIns="0" bIns="0" rtlCol="0" anchor="ctr"/>
          <a:lstStyle/>
          <a:p>
            <a:pPr>
              <a:lnSpc>
                <a:spcPct val="120000"/>
              </a:lnSpc>
            </a:pPr>
            <a:r>
              <a:rPr lang="en-US" sz="1050" b="1" dirty="0">
                <a:solidFill>
                  <a:srgbClr val="FFFFFF"/>
                </a:solidFill>
                <a:latin typeface="Liter" pitchFamily="34" charset="0"/>
                <a:ea typeface="Liter" pitchFamily="34" charset="-122"/>
                <a:cs typeface="Liter" pitchFamily="34" charset="-120"/>
              </a:rPr>
              <a:t>0.05</a:t>
            </a:r>
            <a:endParaRPr lang="en-US" sz="1600" dirty="0"/>
          </a:p>
        </p:txBody>
      </p:sp>
      <p:sp>
        <p:nvSpPr>
          <p:cNvPr id="25" name="Text 21"/>
          <p:cNvSpPr/>
          <p:nvPr/>
        </p:nvSpPr>
        <p:spPr>
          <a:xfrm>
            <a:off x="641350" y="6155870"/>
            <a:ext cx="3562350" cy="152400"/>
          </a:xfrm>
          <a:prstGeom prst="rect">
            <a:avLst/>
          </a:prstGeom>
          <a:noFill/>
          <a:ln/>
        </p:spPr>
        <p:txBody>
          <a:bodyPr wrap="square" lIns="0" tIns="0" rIns="0" bIns="0" rtlCol="0" anchor="ctr"/>
          <a:lstStyle/>
          <a:p>
            <a:pPr>
              <a:lnSpc>
                <a:spcPct val="110000"/>
              </a:lnSpc>
            </a:pPr>
            <a:r>
              <a:rPr lang="en-US" sz="900" dirty="0">
                <a:solidFill>
                  <a:srgbClr val="FFFFFF">
                    <a:alpha val="80000"/>
                  </a:srgbClr>
                </a:solidFill>
                <a:latin typeface="Liter" pitchFamily="34" charset="0"/>
                <a:ea typeface="Liter" pitchFamily="34" charset="-122"/>
                <a:cs typeface="Liter" pitchFamily="34" charset="-120"/>
              </a:rPr>
              <a:t>Weak income association</a:t>
            </a:r>
            <a:endParaRPr lang="en-US" sz="1600" dirty="0"/>
          </a:p>
        </p:txBody>
      </p:sp>
      <p:sp>
        <p:nvSpPr>
          <p:cNvPr id="26" name="Shape 22"/>
          <p:cNvSpPr/>
          <p:nvPr/>
        </p:nvSpPr>
        <p:spPr>
          <a:xfrm>
            <a:off x="6978391" y="4081612"/>
            <a:ext cx="4832607" cy="2395387"/>
          </a:xfrm>
          <a:custGeom>
            <a:avLst/>
            <a:gdLst/>
            <a:ahLst/>
            <a:cxnLst/>
            <a:rect l="l" t="t" r="r" b="b"/>
            <a:pathLst>
              <a:path w="3714750" h="1181100">
                <a:moveTo>
                  <a:pt x="38100" y="0"/>
                </a:moveTo>
                <a:lnTo>
                  <a:pt x="3638545" y="0"/>
                </a:lnTo>
                <a:cubicBezTo>
                  <a:pt x="3680604" y="0"/>
                  <a:pt x="3714750" y="34146"/>
                  <a:pt x="3714750" y="76205"/>
                </a:cubicBezTo>
                <a:lnTo>
                  <a:pt x="3714750" y="1104895"/>
                </a:lnTo>
                <a:cubicBezTo>
                  <a:pt x="3714750" y="1146982"/>
                  <a:pt x="3680632" y="1181100"/>
                  <a:pt x="3638545" y="1181100"/>
                </a:cubicBezTo>
                <a:lnTo>
                  <a:pt x="38100" y="1181100"/>
                </a:lnTo>
                <a:cubicBezTo>
                  <a:pt x="17072" y="1181100"/>
                  <a:pt x="0" y="1164028"/>
                  <a:pt x="0" y="114300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27" name="Shape 23"/>
          <p:cNvSpPr/>
          <p:nvPr/>
        </p:nvSpPr>
        <p:spPr>
          <a:xfrm>
            <a:off x="6978390" y="4076698"/>
            <a:ext cx="45719" cy="2395386"/>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2E4057"/>
          </a:solidFill>
          <a:ln/>
        </p:spPr>
        <p:txBody>
          <a:bodyPr/>
          <a:lstStyle/>
          <a:p>
            <a:endParaRPr lang="zh-CN" altLang="en-US"/>
          </a:p>
        </p:txBody>
      </p:sp>
      <p:sp>
        <p:nvSpPr>
          <p:cNvPr id="28" name="Shape 24"/>
          <p:cNvSpPr/>
          <p:nvPr/>
        </p:nvSpPr>
        <p:spPr>
          <a:xfrm>
            <a:off x="7311633" y="4382893"/>
            <a:ext cx="173314"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C0A062"/>
          </a:solidFill>
          <a:ln/>
        </p:spPr>
        <p:txBody>
          <a:bodyPr/>
          <a:lstStyle/>
          <a:p>
            <a:endParaRPr lang="zh-CN" altLang="en-US"/>
          </a:p>
        </p:txBody>
      </p:sp>
      <p:sp>
        <p:nvSpPr>
          <p:cNvPr id="29" name="Text 25"/>
          <p:cNvSpPr/>
          <p:nvPr/>
        </p:nvSpPr>
        <p:spPr>
          <a:xfrm>
            <a:off x="7578332" y="4363843"/>
            <a:ext cx="993669"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Key Insight</a:t>
            </a:r>
            <a:endParaRPr lang="en-US" sz="1600" dirty="0"/>
          </a:p>
        </p:txBody>
      </p:sp>
      <p:sp>
        <p:nvSpPr>
          <p:cNvPr id="30" name="Text 26"/>
          <p:cNvSpPr/>
          <p:nvPr/>
        </p:nvSpPr>
        <p:spPr>
          <a:xfrm>
            <a:off x="7251373" y="5161884"/>
            <a:ext cx="4286642" cy="647700"/>
          </a:xfrm>
          <a:prstGeom prst="rect">
            <a:avLst/>
          </a:prstGeom>
          <a:noFill/>
          <a:ln/>
        </p:spPr>
        <p:txBody>
          <a:bodyPr wrap="square" lIns="0" tIns="0" rIns="0" bIns="0" rtlCol="0" anchor="ctr"/>
          <a:lstStyle/>
          <a:p>
            <a:pPr>
              <a:lnSpc>
                <a:spcPct val="140000"/>
              </a:lnSpc>
            </a:pPr>
            <a:r>
              <a:rPr lang="en-US" altLang="zh-CN" sz="1200" dirty="0">
                <a:solidFill>
                  <a:srgbClr val="2D3748"/>
                </a:solidFill>
                <a:latin typeface="Liter" pitchFamily="34" charset="0"/>
              </a:rPr>
              <a:t>Default risk is driven less by absolute income level and more by how well loan obligations are calibrated to a borrower’s repayment capacity. The sharp divergence in correlation patterns indicates that defaulters often received loans misaligned with their income, pointing to underwriting decisions that insufficiently accounted for repayment ability.</a:t>
            </a:r>
            <a:endParaRPr lang="en-US" sz="1200" dirty="0">
              <a:solidFill>
                <a:srgbClr val="2D3748"/>
              </a:solidFill>
              <a:latin typeface="Liter" pitchFamily="34" charset="0"/>
            </a:endParaRPr>
          </a:p>
        </p:txBody>
      </p:sp>
      <p:pic>
        <p:nvPicPr>
          <p:cNvPr id="31" name="图片 30">
            <a:extLst>
              <a:ext uri="{FF2B5EF4-FFF2-40B4-BE49-F238E27FC236}">
                <a16:creationId xmlns:a16="http://schemas.microsoft.com/office/drawing/2014/main" id="{248F2C64-B248-9B69-5235-A857E511A761}"/>
              </a:ext>
            </a:extLst>
          </p:cNvPr>
          <p:cNvPicPr>
            <a:picLocks noChangeAspect="1"/>
          </p:cNvPicPr>
          <p:nvPr/>
        </p:nvPicPr>
        <p:blipFill>
          <a:blip r:embed="rId3"/>
          <a:stretch>
            <a:fillRect/>
          </a:stretch>
        </p:blipFill>
        <p:spPr>
          <a:xfrm>
            <a:off x="550865" y="1714500"/>
            <a:ext cx="2357664" cy="2148867"/>
          </a:xfrm>
          <a:prstGeom prst="rect">
            <a:avLst/>
          </a:prstGeom>
        </p:spPr>
      </p:pic>
      <p:pic>
        <p:nvPicPr>
          <p:cNvPr id="32" name="图片 31">
            <a:extLst>
              <a:ext uri="{FF2B5EF4-FFF2-40B4-BE49-F238E27FC236}">
                <a16:creationId xmlns:a16="http://schemas.microsoft.com/office/drawing/2014/main" id="{B0EA9B74-951D-D666-5BDE-57B97CED51AF}"/>
              </a:ext>
            </a:extLst>
          </p:cNvPr>
          <p:cNvPicPr>
            <a:picLocks noChangeAspect="1"/>
          </p:cNvPicPr>
          <p:nvPr/>
        </p:nvPicPr>
        <p:blipFill>
          <a:blip r:embed="rId4"/>
          <a:stretch>
            <a:fillRect/>
          </a:stretch>
        </p:blipFill>
        <p:spPr>
          <a:xfrm>
            <a:off x="3570031" y="1638299"/>
            <a:ext cx="2611694" cy="2313215"/>
          </a:xfrm>
          <a:prstGeom prst="rect">
            <a:avLst/>
          </a:prstGeom>
        </p:spPr>
      </p:pic>
      <p:sp>
        <p:nvSpPr>
          <p:cNvPr id="37" name="文本框 36">
            <a:extLst>
              <a:ext uri="{FF2B5EF4-FFF2-40B4-BE49-F238E27FC236}">
                <a16:creationId xmlns:a16="http://schemas.microsoft.com/office/drawing/2014/main" id="{7E96AB5C-F8B0-5B63-8FA8-1DE61D302AE0}"/>
              </a:ext>
            </a:extLst>
          </p:cNvPr>
          <p:cNvSpPr txBox="1"/>
          <p:nvPr/>
        </p:nvSpPr>
        <p:spPr>
          <a:xfrm>
            <a:off x="7351462" y="2654468"/>
            <a:ext cx="4535738" cy="1015663"/>
          </a:xfrm>
          <a:prstGeom prst="rect">
            <a:avLst/>
          </a:prstGeom>
          <a:noFill/>
        </p:spPr>
        <p:txBody>
          <a:bodyPr wrap="square">
            <a:spAutoFit/>
          </a:bodyPr>
          <a:lstStyle/>
          <a:p>
            <a:pPr lvl="0" eaLnBrk="0" fontAlgn="base" hangingPunct="0">
              <a:spcBef>
                <a:spcPct val="0"/>
              </a:spcBef>
              <a:spcAft>
                <a:spcPct val="0"/>
              </a:spcAft>
            </a:pPr>
            <a:r>
              <a:rPr lang="zh-CN" altLang="zh-CN" sz="1200" b="1" dirty="0">
                <a:solidFill>
                  <a:srgbClr val="2D3748"/>
                </a:solidFill>
                <a:latin typeface="Liter" pitchFamily="34" charset="0"/>
              </a:rPr>
              <a:t>Variance &amp; Heterogeneity: </a:t>
            </a:r>
            <a:endParaRPr lang="en-US" altLang="zh-CN" sz="1200" b="1" dirty="0">
              <a:solidFill>
                <a:srgbClr val="2D3748"/>
              </a:solidFill>
              <a:latin typeface="Liter" pitchFamily="34" charset="0"/>
            </a:endParaRPr>
          </a:p>
          <a:p>
            <a:pPr lvl="0" eaLnBrk="0" fontAlgn="base" hangingPunct="0">
              <a:spcBef>
                <a:spcPct val="0"/>
              </a:spcBef>
              <a:spcAft>
                <a:spcPct val="0"/>
              </a:spcAft>
            </a:pPr>
            <a:r>
              <a:rPr lang="zh-CN" altLang="zh-CN" sz="1200" dirty="0">
                <a:solidFill>
                  <a:srgbClr val="2D3748"/>
                </a:solidFill>
                <a:latin typeface="Liter" pitchFamily="34" charset="0"/>
              </a:rPr>
              <a:t>Both groups have similar income means and ranges, but defaulters exhibit substantially higher variance. This implies greater income instability or heterogeneity among defaulters rather than differences driven by income level alone.</a:t>
            </a:r>
          </a:p>
        </p:txBody>
      </p:sp>
      <p:sp>
        <p:nvSpPr>
          <p:cNvPr id="39" name="文本框 38">
            <a:extLst>
              <a:ext uri="{FF2B5EF4-FFF2-40B4-BE49-F238E27FC236}">
                <a16:creationId xmlns:a16="http://schemas.microsoft.com/office/drawing/2014/main" id="{3F207632-23BD-D407-FBA4-5A1D1206ADDA}"/>
              </a:ext>
            </a:extLst>
          </p:cNvPr>
          <p:cNvSpPr txBox="1"/>
          <p:nvPr/>
        </p:nvSpPr>
        <p:spPr>
          <a:xfrm>
            <a:off x="3128706" y="4834920"/>
            <a:ext cx="3508745" cy="1569660"/>
          </a:xfrm>
          <a:prstGeom prst="rect">
            <a:avLst/>
          </a:prstGeom>
          <a:noFill/>
        </p:spPr>
        <p:txBody>
          <a:bodyPr wrap="square">
            <a:spAutoFit/>
          </a:bodyPr>
          <a:lstStyle/>
          <a:p>
            <a:r>
              <a:rPr lang="en-US" altLang="zh-CN" sz="1200" b="1" dirty="0">
                <a:solidFill>
                  <a:srgbClr val="2D3748"/>
                </a:solidFill>
                <a:latin typeface="Liter" pitchFamily="34" charset="0"/>
              </a:rPr>
              <a:t>Income–Loan Alignment: </a:t>
            </a:r>
          </a:p>
          <a:p>
            <a:r>
              <a:rPr lang="en-US" altLang="zh-CN" sz="1200" dirty="0">
                <a:solidFill>
                  <a:srgbClr val="2D3748"/>
                </a:solidFill>
                <a:latin typeface="Liter" pitchFamily="34" charset="0"/>
              </a:rPr>
              <a:t>Among on-time payers, income is moderately correlated with credit amount (0.34) and annuity (0.42), indicating loan sizing is aligned with repayment capacity. In contrast, correlations for defaulters are near zero (0.04–0.05), suggesting weak income-based underwriting within this group.</a:t>
            </a:r>
          </a:p>
        </p:txBody>
      </p:sp>
      <p:pic>
        <p:nvPicPr>
          <p:cNvPr id="40" name="图片 39">
            <a:extLst>
              <a:ext uri="{FF2B5EF4-FFF2-40B4-BE49-F238E27FC236}">
                <a16:creationId xmlns:a16="http://schemas.microsoft.com/office/drawing/2014/main" id="{2B075128-9A01-2E98-3182-FB82D788243E}"/>
              </a:ext>
            </a:extLst>
          </p:cNvPr>
          <p:cNvPicPr>
            <a:picLocks noChangeAspect="1"/>
          </p:cNvPicPr>
          <p:nvPr/>
        </p:nvPicPr>
        <p:blipFill>
          <a:blip r:embed="rId5"/>
          <a:stretch>
            <a:fillRect/>
          </a:stretch>
        </p:blipFill>
        <p:spPr>
          <a:xfrm>
            <a:off x="7439523" y="1366157"/>
            <a:ext cx="3539642" cy="989758"/>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66677" y="366677"/>
            <a:ext cx="11531982" cy="220006"/>
          </a:xfrm>
          <a:prstGeom prst="rect">
            <a:avLst/>
          </a:prstGeom>
          <a:noFill/>
          <a:ln/>
        </p:spPr>
        <p:txBody>
          <a:bodyPr wrap="square" lIns="0" tIns="0" rIns="0" bIns="0" rtlCol="0" anchor="ctr"/>
          <a:lstStyle/>
          <a:p>
            <a:pPr>
              <a:lnSpc>
                <a:spcPct val="130000"/>
              </a:lnSpc>
            </a:pPr>
            <a:r>
              <a:rPr lang="en-US" sz="1155" b="1" kern="0" spc="115" dirty="0">
                <a:solidFill>
                  <a:srgbClr val="C0A062"/>
                </a:solidFill>
                <a:latin typeface="Liter" pitchFamily="34" charset="0"/>
                <a:ea typeface="Liter" pitchFamily="34" charset="-122"/>
                <a:cs typeface="Liter" pitchFamily="34" charset="-120"/>
              </a:rPr>
              <a:t>06 • Bivariate Analysis</a:t>
            </a:r>
            <a:endParaRPr lang="en-US" sz="1600" dirty="0"/>
          </a:p>
        </p:txBody>
      </p:sp>
      <p:sp>
        <p:nvSpPr>
          <p:cNvPr id="3" name="Text 1"/>
          <p:cNvSpPr/>
          <p:nvPr/>
        </p:nvSpPr>
        <p:spPr>
          <a:xfrm>
            <a:off x="366677" y="623350"/>
            <a:ext cx="11623651" cy="366677"/>
          </a:xfrm>
          <a:prstGeom prst="rect">
            <a:avLst/>
          </a:prstGeom>
          <a:noFill/>
          <a:ln/>
        </p:spPr>
        <p:txBody>
          <a:bodyPr wrap="square" lIns="0" tIns="0" rIns="0" bIns="0" rtlCol="0" anchor="ctr"/>
          <a:lstStyle/>
          <a:p>
            <a:pPr>
              <a:lnSpc>
                <a:spcPct val="90000"/>
              </a:lnSpc>
            </a:pPr>
            <a:r>
              <a:rPr lang="en-US" sz="2599" b="1" dirty="0">
                <a:solidFill>
                  <a:srgbClr val="2E4057"/>
                </a:solidFill>
                <a:latin typeface="Liter" pitchFamily="34" charset="0"/>
                <a:ea typeface="Liter" pitchFamily="34" charset="-122"/>
                <a:cs typeface="Liter" pitchFamily="34" charset="-120"/>
              </a:rPr>
              <a:t>Numeric Variable Relationships: Employment Duration vs. Income Analysis</a:t>
            </a:r>
            <a:endParaRPr lang="en-US" sz="1600" dirty="0"/>
          </a:p>
        </p:txBody>
      </p:sp>
      <p:sp>
        <p:nvSpPr>
          <p:cNvPr id="4" name="Shape 2"/>
          <p:cNvSpPr/>
          <p:nvPr/>
        </p:nvSpPr>
        <p:spPr>
          <a:xfrm>
            <a:off x="366677" y="1063362"/>
            <a:ext cx="6921023" cy="5669738"/>
          </a:xfrm>
          <a:custGeom>
            <a:avLst/>
            <a:gdLst/>
            <a:ahLst/>
            <a:cxnLst/>
            <a:rect l="l" t="t" r="r" b="b"/>
            <a:pathLst>
              <a:path w="6921023" h="5793492">
                <a:moveTo>
                  <a:pt x="73346" y="0"/>
                </a:moveTo>
                <a:lnTo>
                  <a:pt x="6847677" y="0"/>
                </a:lnTo>
                <a:cubicBezTo>
                  <a:pt x="6888185" y="0"/>
                  <a:pt x="6921023" y="32838"/>
                  <a:pt x="6921023" y="73346"/>
                </a:cubicBezTo>
                <a:lnTo>
                  <a:pt x="6921023" y="5720146"/>
                </a:lnTo>
                <a:cubicBezTo>
                  <a:pt x="6921023" y="5760654"/>
                  <a:pt x="6888185" y="5793492"/>
                  <a:pt x="6847677" y="5793492"/>
                </a:cubicBezTo>
                <a:lnTo>
                  <a:pt x="73346" y="5793492"/>
                </a:lnTo>
                <a:cubicBezTo>
                  <a:pt x="32838" y="5793492"/>
                  <a:pt x="0" y="5760654"/>
                  <a:pt x="0" y="5720146"/>
                </a:cubicBezTo>
                <a:lnTo>
                  <a:pt x="0" y="73346"/>
                </a:lnTo>
                <a:cubicBezTo>
                  <a:pt x="0" y="32865"/>
                  <a:pt x="32865" y="0"/>
                  <a:pt x="73346"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a:p>
        </p:txBody>
      </p:sp>
      <p:sp>
        <p:nvSpPr>
          <p:cNvPr id="5" name="Text 3"/>
          <p:cNvSpPr/>
          <p:nvPr/>
        </p:nvSpPr>
        <p:spPr>
          <a:xfrm>
            <a:off x="513347" y="1210033"/>
            <a:ext cx="6710183"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Employment Duration vs. Total Income by Repayment Status</a:t>
            </a:r>
            <a:endParaRPr lang="en-US" sz="1600" dirty="0"/>
          </a:p>
        </p:txBody>
      </p:sp>
      <p:sp>
        <p:nvSpPr>
          <p:cNvPr id="7" name="Shape 4"/>
          <p:cNvSpPr/>
          <p:nvPr/>
        </p:nvSpPr>
        <p:spPr>
          <a:xfrm>
            <a:off x="7420261" y="1063362"/>
            <a:ext cx="4400120" cy="2255062"/>
          </a:xfrm>
          <a:custGeom>
            <a:avLst/>
            <a:gdLst/>
            <a:ahLst/>
            <a:cxnLst/>
            <a:rect l="l" t="t" r="r" b="b"/>
            <a:pathLst>
              <a:path w="4400120" h="2255062">
                <a:moveTo>
                  <a:pt x="36668" y="0"/>
                </a:moveTo>
                <a:lnTo>
                  <a:pt x="4326786" y="0"/>
                </a:lnTo>
                <a:cubicBezTo>
                  <a:pt x="4367287" y="0"/>
                  <a:pt x="4400120" y="32833"/>
                  <a:pt x="4400120" y="73335"/>
                </a:cubicBezTo>
                <a:lnTo>
                  <a:pt x="4400120" y="2181727"/>
                </a:lnTo>
                <a:cubicBezTo>
                  <a:pt x="4400120" y="2222202"/>
                  <a:pt x="4367260" y="2255062"/>
                  <a:pt x="4326786" y="2255062"/>
                </a:cubicBezTo>
                <a:lnTo>
                  <a:pt x="36668" y="2255062"/>
                </a:lnTo>
                <a:cubicBezTo>
                  <a:pt x="16417" y="2255062"/>
                  <a:pt x="0" y="2238645"/>
                  <a:pt x="0" y="2218394"/>
                </a:cubicBezTo>
                <a:lnTo>
                  <a:pt x="0" y="36668"/>
                </a:lnTo>
                <a:cubicBezTo>
                  <a:pt x="0" y="16430"/>
                  <a:pt x="16430" y="0"/>
                  <a:pt x="36668"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a:p>
        </p:txBody>
      </p:sp>
      <p:sp>
        <p:nvSpPr>
          <p:cNvPr id="8" name="Shape 5"/>
          <p:cNvSpPr/>
          <p:nvPr/>
        </p:nvSpPr>
        <p:spPr>
          <a:xfrm>
            <a:off x="7420261" y="1063362"/>
            <a:ext cx="36668" cy="2255062"/>
          </a:xfrm>
          <a:custGeom>
            <a:avLst/>
            <a:gdLst/>
            <a:ahLst/>
            <a:cxnLst/>
            <a:rect l="l" t="t" r="r" b="b"/>
            <a:pathLst>
              <a:path w="36668" h="2255062">
                <a:moveTo>
                  <a:pt x="36668" y="0"/>
                </a:moveTo>
                <a:lnTo>
                  <a:pt x="36668" y="0"/>
                </a:lnTo>
                <a:lnTo>
                  <a:pt x="36668" y="2255062"/>
                </a:lnTo>
                <a:lnTo>
                  <a:pt x="36668" y="2255062"/>
                </a:lnTo>
                <a:cubicBezTo>
                  <a:pt x="16417" y="2255062"/>
                  <a:pt x="0" y="2238645"/>
                  <a:pt x="0" y="2218394"/>
                </a:cubicBezTo>
                <a:lnTo>
                  <a:pt x="0" y="36668"/>
                </a:lnTo>
                <a:cubicBezTo>
                  <a:pt x="0" y="16430"/>
                  <a:pt x="16430" y="0"/>
                  <a:pt x="36668" y="0"/>
                </a:cubicBezTo>
                <a:close/>
              </a:path>
            </a:pathLst>
          </a:custGeom>
          <a:solidFill>
            <a:srgbClr val="2E4057"/>
          </a:solidFill>
          <a:ln/>
        </p:spPr>
        <p:txBody>
          <a:bodyPr/>
          <a:lstStyle/>
          <a:p>
            <a:endParaRPr lang="zh-CN" altLang="en-US"/>
          </a:p>
        </p:txBody>
      </p:sp>
      <p:sp>
        <p:nvSpPr>
          <p:cNvPr id="9" name="Shape 6"/>
          <p:cNvSpPr/>
          <p:nvPr/>
        </p:nvSpPr>
        <p:spPr>
          <a:xfrm>
            <a:off x="7612767" y="1347537"/>
            <a:ext cx="220006" cy="220006"/>
          </a:xfrm>
          <a:custGeom>
            <a:avLst/>
            <a:gdLst/>
            <a:ahLst/>
            <a:cxnLst/>
            <a:rect l="l" t="t" r="r" b="b"/>
            <a:pathLst>
              <a:path w="220006" h="220006">
                <a:moveTo>
                  <a:pt x="85940" y="20626"/>
                </a:moveTo>
                <a:lnTo>
                  <a:pt x="134066" y="20626"/>
                </a:lnTo>
                <a:cubicBezTo>
                  <a:pt x="135957" y="20626"/>
                  <a:pt x="137504" y="22172"/>
                  <a:pt x="137504" y="24063"/>
                </a:cubicBezTo>
                <a:lnTo>
                  <a:pt x="137504" y="41251"/>
                </a:lnTo>
                <a:lnTo>
                  <a:pt x="82502" y="41251"/>
                </a:lnTo>
                <a:lnTo>
                  <a:pt x="82502" y="24063"/>
                </a:lnTo>
                <a:cubicBezTo>
                  <a:pt x="82502" y="22172"/>
                  <a:pt x="84049" y="20626"/>
                  <a:pt x="85940" y="20626"/>
                </a:cubicBezTo>
                <a:close/>
                <a:moveTo>
                  <a:pt x="61877" y="24063"/>
                </a:moveTo>
                <a:lnTo>
                  <a:pt x="61877" y="41251"/>
                </a:lnTo>
                <a:lnTo>
                  <a:pt x="27501" y="41251"/>
                </a:lnTo>
                <a:cubicBezTo>
                  <a:pt x="12332" y="41251"/>
                  <a:pt x="0" y="53583"/>
                  <a:pt x="0" y="68752"/>
                </a:cubicBezTo>
                <a:lnTo>
                  <a:pt x="0" y="110003"/>
                </a:lnTo>
                <a:lnTo>
                  <a:pt x="220006" y="110003"/>
                </a:lnTo>
                <a:lnTo>
                  <a:pt x="220006" y="68752"/>
                </a:lnTo>
                <a:cubicBezTo>
                  <a:pt x="220006" y="53583"/>
                  <a:pt x="207674" y="41251"/>
                  <a:pt x="192505" y="41251"/>
                </a:cubicBezTo>
                <a:lnTo>
                  <a:pt x="158129" y="41251"/>
                </a:lnTo>
                <a:lnTo>
                  <a:pt x="158129" y="24063"/>
                </a:lnTo>
                <a:cubicBezTo>
                  <a:pt x="158129" y="10785"/>
                  <a:pt x="147344" y="0"/>
                  <a:pt x="134066" y="0"/>
                </a:cubicBezTo>
                <a:lnTo>
                  <a:pt x="85940" y="0"/>
                </a:lnTo>
                <a:cubicBezTo>
                  <a:pt x="72662" y="0"/>
                  <a:pt x="61877" y="10785"/>
                  <a:pt x="61877" y="24063"/>
                </a:cubicBezTo>
                <a:close/>
                <a:moveTo>
                  <a:pt x="220006" y="130629"/>
                </a:moveTo>
                <a:lnTo>
                  <a:pt x="137504" y="130629"/>
                </a:lnTo>
                <a:lnTo>
                  <a:pt x="137504" y="137504"/>
                </a:lnTo>
                <a:cubicBezTo>
                  <a:pt x="137504" y="145109"/>
                  <a:pt x="131359" y="151254"/>
                  <a:pt x="123753" y="151254"/>
                </a:cubicBezTo>
                <a:lnTo>
                  <a:pt x="96253" y="151254"/>
                </a:lnTo>
                <a:cubicBezTo>
                  <a:pt x="88647" y="151254"/>
                  <a:pt x="82502" y="145109"/>
                  <a:pt x="82502" y="137504"/>
                </a:cubicBezTo>
                <a:lnTo>
                  <a:pt x="82502" y="130629"/>
                </a:lnTo>
                <a:lnTo>
                  <a:pt x="0" y="130629"/>
                </a:lnTo>
                <a:lnTo>
                  <a:pt x="0" y="178755"/>
                </a:lnTo>
                <a:cubicBezTo>
                  <a:pt x="0" y="193923"/>
                  <a:pt x="12332" y="206256"/>
                  <a:pt x="27501" y="206256"/>
                </a:cubicBezTo>
                <a:lnTo>
                  <a:pt x="192505" y="206256"/>
                </a:lnTo>
                <a:cubicBezTo>
                  <a:pt x="207674" y="206256"/>
                  <a:pt x="220006" y="193923"/>
                  <a:pt x="220006" y="178755"/>
                </a:cubicBezTo>
                <a:lnTo>
                  <a:pt x="220006" y="130629"/>
                </a:lnTo>
                <a:close/>
              </a:path>
            </a:pathLst>
          </a:custGeom>
          <a:solidFill>
            <a:srgbClr val="2E4057"/>
          </a:solidFill>
          <a:ln/>
        </p:spPr>
        <p:txBody>
          <a:bodyPr/>
          <a:lstStyle/>
          <a:p>
            <a:endParaRPr lang="zh-CN" altLang="en-US"/>
          </a:p>
        </p:txBody>
      </p:sp>
      <p:sp>
        <p:nvSpPr>
          <p:cNvPr id="10" name="Text 7"/>
          <p:cNvSpPr/>
          <p:nvPr/>
        </p:nvSpPr>
        <p:spPr>
          <a:xfrm>
            <a:off x="7970277" y="1329203"/>
            <a:ext cx="1549209"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Employment Tenure</a:t>
            </a:r>
            <a:endParaRPr lang="en-US" sz="1600" dirty="0"/>
          </a:p>
        </p:txBody>
      </p:sp>
      <p:sp>
        <p:nvSpPr>
          <p:cNvPr id="11" name="Text 8"/>
          <p:cNvSpPr/>
          <p:nvPr/>
        </p:nvSpPr>
        <p:spPr>
          <a:xfrm>
            <a:off x="7585266" y="1695880"/>
            <a:ext cx="4161780" cy="476680"/>
          </a:xfrm>
          <a:prstGeom prst="rect">
            <a:avLst/>
          </a:prstGeom>
          <a:noFill/>
          <a:ln/>
        </p:spPr>
        <p:txBody>
          <a:bodyPr wrap="square" lIns="0" tIns="0" rIns="0" bIns="0" rtlCol="0" anchor="ctr"/>
          <a:lstStyle/>
          <a:p>
            <a:pPr>
              <a:lnSpc>
                <a:spcPct val="140000"/>
              </a:lnSpc>
            </a:pPr>
            <a:r>
              <a:rPr lang="en-US" sz="1155" b="1" dirty="0">
                <a:solidFill>
                  <a:srgbClr val="2D3748"/>
                </a:solidFill>
                <a:latin typeface="Liter" pitchFamily="34" charset="0"/>
                <a:ea typeface="Liter" pitchFamily="34" charset="-122"/>
                <a:cs typeface="Liter" pitchFamily="34" charset="-120"/>
              </a:rPr>
              <a:t>Long employment histories</a:t>
            </a:r>
            <a:r>
              <a:rPr lang="en-US" sz="1155" dirty="0">
                <a:solidFill>
                  <a:srgbClr val="2D3748"/>
                </a:solidFill>
                <a:latin typeface="Liter" pitchFamily="34" charset="0"/>
                <a:ea typeface="Liter" pitchFamily="34" charset="-122"/>
                <a:cs typeface="Liter" pitchFamily="34" charset="-120"/>
              </a:rPr>
              <a:t> are more prevalent among on-time payers, indicating job stability as a key predictor.</a:t>
            </a:r>
            <a:endParaRPr lang="en-US" sz="1600" dirty="0"/>
          </a:p>
        </p:txBody>
      </p:sp>
      <p:sp>
        <p:nvSpPr>
          <p:cNvPr id="12" name="Shape 9"/>
          <p:cNvSpPr/>
          <p:nvPr/>
        </p:nvSpPr>
        <p:spPr>
          <a:xfrm>
            <a:off x="7585266" y="2282562"/>
            <a:ext cx="4088445" cy="770021"/>
          </a:xfrm>
          <a:custGeom>
            <a:avLst/>
            <a:gdLst/>
            <a:ahLst/>
            <a:cxnLst/>
            <a:rect l="l" t="t" r="r" b="b"/>
            <a:pathLst>
              <a:path w="4088445" h="770021">
                <a:moveTo>
                  <a:pt x="36668" y="0"/>
                </a:moveTo>
                <a:lnTo>
                  <a:pt x="4051777" y="0"/>
                </a:lnTo>
                <a:cubicBezTo>
                  <a:pt x="4072028" y="0"/>
                  <a:pt x="4088445" y="16417"/>
                  <a:pt x="4088445" y="36668"/>
                </a:cubicBezTo>
                <a:lnTo>
                  <a:pt x="4088445" y="733353"/>
                </a:lnTo>
                <a:cubicBezTo>
                  <a:pt x="4088445" y="753604"/>
                  <a:pt x="4072028" y="770021"/>
                  <a:pt x="4051777" y="770021"/>
                </a:cubicBezTo>
                <a:lnTo>
                  <a:pt x="36668" y="770021"/>
                </a:lnTo>
                <a:cubicBezTo>
                  <a:pt x="16431" y="770021"/>
                  <a:pt x="0" y="753590"/>
                  <a:pt x="0" y="733353"/>
                </a:cubicBezTo>
                <a:lnTo>
                  <a:pt x="0" y="36668"/>
                </a:lnTo>
                <a:cubicBezTo>
                  <a:pt x="0" y="16431"/>
                  <a:pt x="16431" y="0"/>
                  <a:pt x="36668" y="0"/>
                </a:cubicBezTo>
                <a:close/>
              </a:path>
            </a:pathLst>
          </a:custGeom>
          <a:solidFill>
            <a:srgbClr val="2E4057">
              <a:alpha val="10196"/>
            </a:srgbClr>
          </a:solidFill>
          <a:ln/>
        </p:spPr>
        <p:txBody>
          <a:bodyPr/>
          <a:lstStyle/>
          <a:p>
            <a:endParaRPr lang="zh-CN" altLang="en-US"/>
          </a:p>
        </p:txBody>
      </p:sp>
      <p:sp>
        <p:nvSpPr>
          <p:cNvPr id="13" name="Text 10"/>
          <p:cNvSpPr/>
          <p:nvPr/>
        </p:nvSpPr>
        <p:spPr>
          <a:xfrm>
            <a:off x="7695269" y="2392565"/>
            <a:ext cx="3932608" cy="550015"/>
          </a:xfrm>
          <a:prstGeom prst="rect">
            <a:avLst/>
          </a:prstGeom>
          <a:noFill/>
          <a:ln/>
        </p:spPr>
        <p:txBody>
          <a:bodyPr wrap="square" lIns="0" tIns="0" rIns="0" bIns="0" rtlCol="0" anchor="ctr"/>
          <a:lstStyle/>
          <a:p>
            <a:pPr>
              <a:lnSpc>
                <a:spcPct val="120000"/>
              </a:lnSpc>
            </a:pPr>
            <a:r>
              <a:rPr lang="en-US" sz="1011" b="1" dirty="0">
                <a:solidFill>
                  <a:srgbClr val="2D3748"/>
                </a:solidFill>
                <a:latin typeface="Liter" pitchFamily="34" charset="0"/>
                <a:ea typeface="Liter" pitchFamily="34" charset="-122"/>
                <a:cs typeface="Liter" pitchFamily="34" charset="-120"/>
              </a:rPr>
              <a:t>Median Tenure:</a:t>
            </a:r>
            <a:endParaRPr lang="en-US" sz="1600" dirty="0"/>
          </a:p>
          <a:p>
            <a:pPr>
              <a:lnSpc>
                <a:spcPct val="120000"/>
              </a:lnSpc>
            </a:pPr>
            <a:r>
              <a:rPr lang="en-US" sz="1011" dirty="0">
                <a:solidFill>
                  <a:srgbClr val="2D3748"/>
                </a:solidFill>
                <a:latin typeface="Liter" pitchFamily="34" charset="0"/>
                <a:ea typeface="Liter" pitchFamily="34" charset="-122"/>
                <a:cs typeface="Liter" pitchFamily="34" charset="-120"/>
              </a:rPr>
              <a:t>Repayers: ~8.5 years</a:t>
            </a:r>
            <a:endParaRPr lang="en-US" sz="1600" dirty="0"/>
          </a:p>
          <a:p>
            <a:pPr>
              <a:lnSpc>
                <a:spcPct val="120000"/>
              </a:lnSpc>
            </a:pPr>
            <a:r>
              <a:rPr lang="en-US" sz="1011" dirty="0">
                <a:solidFill>
                  <a:srgbClr val="2D3748"/>
                </a:solidFill>
                <a:latin typeface="Liter" pitchFamily="34" charset="0"/>
                <a:ea typeface="Liter" pitchFamily="34" charset="-122"/>
                <a:cs typeface="Liter" pitchFamily="34" charset="-120"/>
              </a:rPr>
              <a:t>Defaulters: ~4.2 years</a:t>
            </a:r>
            <a:endParaRPr lang="en-US" sz="1600" dirty="0"/>
          </a:p>
        </p:txBody>
      </p:sp>
      <p:sp>
        <p:nvSpPr>
          <p:cNvPr id="14" name="Shape 11"/>
          <p:cNvSpPr/>
          <p:nvPr/>
        </p:nvSpPr>
        <p:spPr>
          <a:xfrm>
            <a:off x="7420261" y="3428427"/>
            <a:ext cx="4400120" cy="2082036"/>
          </a:xfrm>
          <a:custGeom>
            <a:avLst/>
            <a:gdLst/>
            <a:ahLst/>
            <a:cxnLst/>
            <a:rect l="l" t="t" r="r" b="b"/>
            <a:pathLst>
              <a:path w="4400120" h="2255062">
                <a:moveTo>
                  <a:pt x="36668" y="0"/>
                </a:moveTo>
                <a:lnTo>
                  <a:pt x="4326786" y="0"/>
                </a:lnTo>
                <a:cubicBezTo>
                  <a:pt x="4367287" y="0"/>
                  <a:pt x="4400120" y="32833"/>
                  <a:pt x="4400120" y="73335"/>
                </a:cubicBezTo>
                <a:lnTo>
                  <a:pt x="4400120" y="2181727"/>
                </a:lnTo>
                <a:cubicBezTo>
                  <a:pt x="4400120" y="2222202"/>
                  <a:pt x="4367260" y="2255062"/>
                  <a:pt x="4326786" y="2255062"/>
                </a:cubicBezTo>
                <a:lnTo>
                  <a:pt x="36668" y="2255062"/>
                </a:lnTo>
                <a:cubicBezTo>
                  <a:pt x="16417" y="2255062"/>
                  <a:pt x="0" y="2238645"/>
                  <a:pt x="0" y="2218394"/>
                </a:cubicBezTo>
                <a:lnTo>
                  <a:pt x="0" y="36668"/>
                </a:lnTo>
                <a:cubicBezTo>
                  <a:pt x="0" y="16430"/>
                  <a:pt x="16430" y="0"/>
                  <a:pt x="36668"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a:p>
        </p:txBody>
      </p:sp>
      <p:sp>
        <p:nvSpPr>
          <p:cNvPr id="15" name="Shape 12"/>
          <p:cNvSpPr/>
          <p:nvPr/>
        </p:nvSpPr>
        <p:spPr>
          <a:xfrm>
            <a:off x="7420261" y="3428427"/>
            <a:ext cx="46194" cy="2082036"/>
          </a:xfrm>
          <a:custGeom>
            <a:avLst/>
            <a:gdLst/>
            <a:ahLst/>
            <a:cxnLst/>
            <a:rect l="l" t="t" r="r" b="b"/>
            <a:pathLst>
              <a:path w="36668" h="2255062">
                <a:moveTo>
                  <a:pt x="36668" y="0"/>
                </a:moveTo>
                <a:lnTo>
                  <a:pt x="36668" y="0"/>
                </a:lnTo>
                <a:lnTo>
                  <a:pt x="36668" y="2255062"/>
                </a:lnTo>
                <a:lnTo>
                  <a:pt x="36668" y="2255062"/>
                </a:lnTo>
                <a:cubicBezTo>
                  <a:pt x="16417" y="2255062"/>
                  <a:pt x="0" y="2238645"/>
                  <a:pt x="0" y="2218394"/>
                </a:cubicBezTo>
                <a:lnTo>
                  <a:pt x="0" y="36668"/>
                </a:lnTo>
                <a:cubicBezTo>
                  <a:pt x="0" y="16430"/>
                  <a:pt x="16430" y="0"/>
                  <a:pt x="36668" y="0"/>
                </a:cubicBezTo>
                <a:close/>
              </a:path>
            </a:pathLst>
          </a:custGeom>
          <a:solidFill>
            <a:srgbClr val="C0A062"/>
          </a:solidFill>
          <a:ln/>
        </p:spPr>
        <p:txBody>
          <a:bodyPr/>
          <a:lstStyle/>
          <a:p>
            <a:endParaRPr lang="zh-CN" altLang="en-US"/>
          </a:p>
        </p:txBody>
      </p:sp>
      <p:sp>
        <p:nvSpPr>
          <p:cNvPr id="16" name="Shape 13"/>
          <p:cNvSpPr/>
          <p:nvPr/>
        </p:nvSpPr>
        <p:spPr>
          <a:xfrm>
            <a:off x="7654018" y="3804271"/>
            <a:ext cx="137504" cy="220006"/>
          </a:xfrm>
          <a:custGeom>
            <a:avLst/>
            <a:gdLst/>
            <a:ahLst/>
            <a:cxnLst/>
            <a:rect l="l" t="t" r="r" b="b"/>
            <a:pathLst>
              <a:path w="137504" h="220006">
                <a:moveTo>
                  <a:pt x="58439" y="10313"/>
                </a:moveTo>
                <a:cubicBezTo>
                  <a:pt x="58439" y="4598"/>
                  <a:pt x="63037" y="0"/>
                  <a:pt x="68752" y="0"/>
                </a:cubicBezTo>
                <a:cubicBezTo>
                  <a:pt x="74467" y="0"/>
                  <a:pt x="79065" y="4598"/>
                  <a:pt x="79065" y="10313"/>
                </a:cubicBezTo>
                <a:lnTo>
                  <a:pt x="79065" y="27501"/>
                </a:lnTo>
                <a:lnTo>
                  <a:pt x="103128" y="27501"/>
                </a:lnTo>
                <a:cubicBezTo>
                  <a:pt x="110733" y="27501"/>
                  <a:pt x="116878" y="33645"/>
                  <a:pt x="116878" y="41251"/>
                </a:cubicBezTo>
                <a:cubicBezTo>
                  <a:pt x="116878" y="48857"/>
                  <a:pt x="110733" y="55002"/>
                  <a:pt x="103128" y="55002"/>
                </a:cubicBezTo>
                <a:lnTo>
                  <a:pt x="53755" y="55002"/>
                </a:lnTo>
                <a:cubicBezTo>
                  <a:pt x="43056" y="55002"/>
                  <a:pt x="34376" y="63681"/>
                  <a:pt x="34376" y="74381"/>
                </a:cubicBezTo>
                <a:cubicBezTo>
                  <a:pt x="34376" y="84049"/>
                  <a:pt x="41466" y="92213"/>
                  <a:pt x="51005" y="93588"/>
                </a:cubicBezTo>
                <a:lnTo>
                  <a:pt x="90366" y="99218"/>
                </a:lnTo>
                <a:cubicBezTo>
                  <a:pt x="113484" y="102526"/>
                  <a:pt x="130629" y="122292"/>
                  <a:pt x="130629" y="145625"/>
                </a:cubicBezTo>
                <a:cubicBezTo>
                  <a:pt x="130629" y="171536"/>
                  <a:pt x="109616" y="192505"/>
                  <a:pt x="83748" y="192505"/>
                </a:cubicBezTo>
                <a:lnTo>
                  <a:pt x="79065" y="192505"/>
                </a:lnTo>
                <a:lnTo>
                  <a:pt x="79065" y="209693"/>
                </a:lnTo>
                <a:cubicBezTo>
                  <a:pt x="79065" y="215408"/>
                  <a:pt x="74467" y="220006"/>
                  <a:pt x="68752" y="220006"/>
                </a:cubicBezTo>
                <a:cubicBezTo>
                  <a:pt x="63037" y="220006"/>
                  <a:pt x="58439" y="215408"/>
                  <a:pt x="58439" y="209693"/>
                </a:cubicBezTo>
                <a:lnTo>
                  <a:pt x="58439" y="192505"/>
                </a:lnTo>
                <a:lnTo>
                  <a:pt x="27501" y="192505"/>
                </a:lnTo>
                <a:cubicBezTo>
                  <a:pt x="19895" y="192505"/>
                  <a:pt x="13750" y="186361"/>
                  <a:pt x="13750" y="178755"/>
                </a:cubicBezTo>
                <a:cubicBezTo>
                  <a:pt x="13750" y="171149"/>
                  <a:pt x="19895" y="165005"/>
                  <a:pt x="27501" y="165005"/>
                </a:cubicBezTo>
                <a:lnTo>
                  <a:pt x="83748" y="165005"/>
                </a:lnTo>
                <a:cubicBezTo>
                  <a:pt x="94448" y="165005"/>
                  <a:pt x="103128" y="156325"/>
                  <a:pt x="103128" y="145625"/>
                </a:cubicBezTo>
                <a:cubicBezTo>
                  <a:pt x="103128" y="135957"/>
                  <a:pt x="96038" y="127793"/>
                  <a:pt x="86498" y="126418"/>
                </a:cubicBezTo>
                <a:lnTo>
                  <a:pt x="47138" y="120788"/>
                </a:lnTo>
                <a:cubicBezTo>
                  <a:pt x="24020" y="117523"/>
                  <a:pt x="6875" y="97714"/>
                  <a:pt x="6875" y="74381"/>
                </a:cubicBezTo>
                <a:cubicBezTo>
                  <a:pt x="6875" y="48513"/>
                  <a:pt x="27887" y="27501"/>
                  <a:pt x="53755" y="27501"/>
                </a:cubicBezTo>
                <a:lnTo>
                  <a:pt x="58439" y="27501"/>
                </a:lnTo>
                <a:lnTo>
                  <a:pt x="58439" y="10313"/>
                </a:lnTo>
                <a:close/>
              </a:path>
            </a:pathLst>
          </a:custGeom>
          <a:solidFill>
            <a:srgbClr val="C0A062"/>
          </a:solidFill>
          <a:ln/>
        </p:spPr>
        <p:txBody>
          <a:bodyPr/>
          <a:lstStyle/>
          <a:p>
            <a:endParaRPr lang="zh-CN" altLang="en-US"/>
          </a:p>
        </p:txBody>
      </p:sp>
      <p:sp>
        <p:nvSpPr>
          <p:cNvPr id="17" name="Text 14"/>
          <p:cNvSpPr/>
          <p:nvPr/>
        </p:nvSpPr>
        <p:spPr>
          <a:xfrm>
            <a:off x="7970277" y="3785937"/>
            <a:ext cx="1219200"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Income Overlap</a:t>
            </a:r>
            <a:endParaRPr lang="en-US" sz="1600" dirty="0"/>
          </a:p>
        </p:txBody>
      </p:sp>
      <p:sp>
        <p:nvSpPr>
          <p:cNvPr id="18" name="Text 15"/>
          <p:cNvSpPr/>
          <p:nvPr/>
        </p:nvSpPr>
        <p:spPr>
          <a:xfrm>
            <a:off x="7585266" y="4152614"/>
            <a:ext cx="4161780" cy="476680"/>
          </a:xfrm>
          <a:prstGeom prst="rect">
            <a:avLst/>
          </a:prstGeom>
          <a:noFill/>
          <a:ln/>
        </p:spPr>
        <p:txBody>
          <a:bodyPr wrap="square" lIns="0" tIns="0" rIns="0" bIns="0" rtlCol="0" anchor="ctr"/>
          <a:lstStyle/>
          <a:p>
            <a:pPr>
              <a:lnSpc>
                <a:spcPct val="140000"/>
              </a:lnSpc>
            </a:pPr>
            <a:r>
              <a:rPr lang="en-US" sz="1155" b="1" dirty="0">
                <a:solidFill>
                  <a:srgbClr val="2D3748"/>
                </a:solidFill>
                <a:latin typeface="Liter" pitchFamily="34" charset="0"/>
                <a:ea typeface="Liter" pitchFamily="34" charset="-122"/>
                <a:cs typeface="Liter" pitchFamily="34" charset="-120"/>
              </a:rPr>
              <a:t>Income ranges overlap strongly</a:t>
            </a:r>
            <a:r>
              <a:rPr lang="en-US" sz="1155" dirty="0">
                <a:solidFill>
                  <a:srgbClr val="2D3748"/>
                </a:solidFill>
                <a:latin typeface="Liter" pitchFamily="34" charset="0"/>
                <a:ea typeface="Liter" pitchFamily="34" charset="-122"/>
                <a:cs typeface="Liter" pitchFamily="34" charset="-120"/>
              </a:rPr>
              <a:t> between repayment groups, suggesting income alone is insufficient for risk assessment.</a:t>
            </a:r>
            <a:endParaRPr lang="en-US" sz="1600" dirty="0"/>
          </a:p>
        </p:txBody>
      </p:sp>
      <p:sp>
        <p:nvSpPr>
          <p:cNvPr id="19" name="Shape 16"/>
          <p:cNvSpPr/>
          <p:nvPr/>
        </p:nvSpPr>
        <p:spPr>
          <a:xfrm>
            <a:off x="7585266" y="4739296"/>
            <a:ext cx="4088445" cy="586683"/>
          </a:xfrm>
          <a:custGeom>
            <a:avLst/>
            <a:gdLst/>
            <a:ahLst/>
            <a:cxnLst/>
            <a:rect l="l" t="t" r="r" b="b"/>
            <a:pathLst>
              <a:path w="4088445" h="586683">
                <a:moveTo>
                  <a:pt x="36668" y="0"/>
                </a:moveTo>
                <a:lnTo>
                  <a:pt x="4051777" y="0"/>
                </a:lnTo>
                <a:cubicBezTo>
                  <a:pt x="4072028" y="0"/>
                  <a:pt x="4088445" y="16417"/>
                  <a:pt x="4088445" y="36668"/>
                </a:cubicBezTo>
                <a:lnTo>
                  <a:pt x="4088445" y="550015"/>
                </a:lnTo>
                <a:cubicBezTo>
                  <a:pt x="4088445" y="570266"/>
                  <a:pt x="4072028" y="586683"/>
                  <a:pt x="4051777" y="586683"/>
                </a:cubicBezTo>
                <a:lnTo>
                  <a:pt x="36668" y="586683"/>
                </a:lnTo>
                <a:cubicBezTo>
                  <a:pt x="16430" y="586683"/>
                  <a:pt x="0" y="570252"/>
                  <a:pt x="0" y="550015"/>
                </a:cubicBezTo>
                <a:lnTo>
                  <a:pt x="0" y="36668"/>
                </a:lnTo>
                <a:cubicBezTo>
                  <a:pt x="0" y="16430"/>
                  <a:pt x="16430" y="0"/>
                  <a:pt x="36668" y="0"/>
                </a:cubicBezTo>
                <a:close/>
              </a:path>
            </a:pathLst>
          </a:custGeom>
          <a:solidFill>
            <a:srgbClr val="C0A062">
              <a:alpha val="10196"/>
            </a:srgbClr>
          </a:solidFill>
          <a:ln/>
        </p:spPr>
        <p:txBody>
          <a:bodyPr/>
          <a:lstStyle/>
          <a:p>
            <a:endParaRPr lang="zh-CN" altLang="en-US"/>
          </a:p>
        </p:txBody>
      </p:sp>
      <p:sp>
        <p:nvSpPr>
          <p:cNvPr id="20" name="Text 17"/>
          <p:cNvSpPr/>
          <p:nvPr/>
        </p:nvSpPr>
        <p:spPr>
          <a:xfrm>
            <a:off x="7695269" y="4849299"/>
            <a:ext cx="3932608" cy="366677"/>
          </a:xfrm>
          <a:prstGeom prst="rect">
            <a:avLst/>
          </a:prstGeom>
          <a:noFill/>
          <a:ln/>
        </p:spPr>
        <p:txBody>
          <a:bodyPr wrap="square" lIns="0" tIns="0" rIns="0" bIns="0" rtlCol="0" anchor="ctr"/>
          <a:lstStyle/>
          <a:p>
            <a:pPr>
              <a:lnSpc>
                <a:spcPct val="120000"/>
              </a:lnSpc>
            </a:pPr>
            <a:r>
              <a:rPr lang="en-US" sz="1011" b="1" dirty="0">
                <a:solidFill>
                  <a:srgbClr val="2D3748"/>
                </a:solidFill>
                <a:latin typeface="Liter" pitchFamily="34" charset="0"/>
                <a:ea typeface="Liter" pitchFamily="34" charset="-122"/>
                <a:cs typeface="Liter" pitchFamily="34" charset="-120"/>
              </a:rPr>
              <a:t>Income Variance:</a:t>
            </a:r>
            <a:endParaRPr lang="en-US" sz="1600" dirty="0"/>
          </a:p>
          <a:p>
            <a:pPr>
              <a:lnSpc>
                <a:spcPct val="120000"/>
              </a:lnSpc>
            </a:pPr>
            <a:r>
              <a:rPr lang="en-US" sz="1011" dirty="0">
                <a:solidFill>
                  <a:srgbClr val="2D3748"/>
                </a:solidFill>
                <a:latin typeface="Liter" pitchFamily="34" charset="0"/>
                <a:ea typeface="Liter" pitchFamily="34" charset="-122"/>
                <a:cs typeface="Liter" pitchFamily="34" charset="-120"/>
              </a:rPr>
              <a:t>Defaulters show higher variance, indicating greater heterogeneity.</a:t>
            </a:r>
            <a:endParaRPr lang="en-US" sz="1600" dirty="0"/>
          </a:p>
        </p:txBody>
      </p:sp>
      <p:sp>
        <p:nvSpPr>
          <p:cNvPr id="21" name="Shape 18"/>
          <p:cNvSpPr/>
          <p:nvPr/>
        </p:nvSpPr>
        <p:spPr>
          <a:xfrm>
            <a:off x="7420261" y="5638800"/>
            <a:ext cx="4418454" cy="1063362"/>
          </a:xfrm>
          <a:custGeom>
            <a:avLst/>
            <a:gdLst/>
            <a:ahLst/>
            <a:cxnLst/>
            <a:rect l="l" t="t" r="r" b="b"/>
            <a:pathLst>
              <a:path w="4418454" h="1063362">
                <a:moveTo>
                  <a:pt x="73340" y="0"/>
                </a:moveTo>
                <a:lnTo>
                  <a:pt x="4345114" y="0"/>
                </a:lnTo>
                <a:cubicBezTo>
                  <a:pt x="4385619" y="0"/>
                  <a:pt x="4418454" y="32835"/>
                  <a:pt x="4418454" y="73340"/>
                </a:cubicBezTo>
                <a:lnTo>
                  <a:pt x="4418454" y="990022"/>
                </a:lnTo>
                <a:cubicBezTo>
                  <a:pt x="4418454" y="1030527"/>
                  <a:pt x="4385619" y="1063362"/>
                  <a:pt x="4345114" y="1063362"/>
                </a:cubicBezTo>
                <a:lnTo>
                  <a:pt x="73340" y="1063362"/>
                </a:lnTo>
                <a:cubicBezTo>
                  <a:pt x="32835" y="1063362"/>
                  <a:pt x="0" y="1030527"/>
                  <a:pt x="0" y="990022"/>
                </a:cubicBezTo>
                <a:lnTo>
                  <a:pt x="0" y="73340"/>
                </a:lnTo>
                <a:cubicBezTo>
                  <a:pt x="0" y="32863"/>
                  <a:pt x="32863" y="0"/>
                  <a:pt x="73340" y="0"/>
                </a:cubicBezTo>
                <a:close/>
              </a:path>
            </a:pathLst>
          </a:custGeom>
          <a:solidFill>
            <a:srgbClr val="2E4057"/>
          </a:solidFill>
          <a:ln/>
        </p:spPr>
        <p:txBody>
          <a:bodyPr/>
          <a:lstStyle/>
          <a:p>
            <a:endParaRPr lang="zh-CN" altLang="en-US"/>
          </a:p>
        </p:txBody>
      </p:sp>
      <p:sp>
        <p:nvSpPr>
          <p:cNvPr id="22" name="Shape 19"/>
          <p:cNvSpPr/>
          <p:nvPr/>
        </p:nvSpPr>
        <p:spPr>
          <a:xfrm>
            <a:off x="7578390" y="5803804"/>
            <a:ext cx="206256" cy="183338"/>
          </a:xfrm>
          <a:custGeom>
            <a:avLst/>
            <a:gdLst/>
            <a:ahLst/>
            <a:cxnLst/>
            <a:rect l="l" t="t" r="r" b="b"/>
            <a:pathLst>
              <a:path w="206256" h="183338">
                <a:moveTo>
                  <a:pt x="110827" y="-6768"/>
                </a:moveTo>
                <a:cubicBezTo>
                  <a:pt x="109358" y="-9632"/>
                  <a:pt x="106386" y="-11459"/>
                  <a:pt x="103164" y="-11459"/>
                </a:cubicBezTo>
                <a:cubicBezTo>
                  <a:pt x="99941" y="-11459"/>
                  <a:pt x="96969" y="-9632"/>
                  <a:pt x="95501" y="-6768"/>
                </a:cubicBezTo>
                <a:lnTo>
                  <a:pt x="69146" y="44868"/>
                </a:lnTo>
                <a:lnTo>
                  <a:pt x="11888" y="53963"/>
                </a:lnTo>
                <a:cubicBezTo>
                  <a:pt x="8701" y="54464"/>
                  <a:pt x="6052" y="56720"/>
                  <a:pt x="5049" y="59800"/>
                </a:cubicBezTo>
                <a:cubicBezTo>
                  <a:pt x="4046" y="62879"/>
                  <a:pt x="4870" y="66245"/>
                  <a:pt x="7126" y="68537"/>
                </a:cubicBezTo>
                <a:lnTo>
                  <a:pt x="48091" y="109537"/>
                </a:lnTo>
                <a:lnTo>
                  <a:pt x="39067" y="166795"/>
                </a:lnTo>
                <a:cubicBezTo>
                  <a:pt x="38566" y="169982"/>
                  <a:pt x="39890" y="173205"/>
                  <a:pt x="42504" y="175102"/>
                </a:cubicBezTo>
                <a:cubicBezTo>
                  <a:pt x="45118" y="177000"/>
                  <a:pt x="48556" y="177287"/>
                  <a:pt x="51456" y="175819"/>
                </a:cubicBezTo>
                <a:lnTo>
                  <a:pt x="103164" y="149535"/>
                </a:lnTo>
                <a:lnTo>
                  <a:pt x="154835" y="175819"/>
                </a:lnTo>
                <a:cubicBezTo>
                  <a:pt x="157700" y="177287"/>
                  <a:pt x="161173" y="177000"/>
                  <a:pt x="163787" y="175102"/>
                </a:cubicBezTo>
                <a:cubicBezTo>
                  <a:pt x="166401" y="173205"/>
                  <a:pt x="167726" y="170018"/>
                  <a:pt x="167225" y="166795"/>
                </a:cubicBezTo>
                <a:lnTo>
                  <a:pt x="158165" y="109537"/>
                </a:lnTo>
                <a:lnTo>
                  <a:pt x="199130" y="68537"/>
                </a:lnTo>
                <a:cubicBezTo>
                  <a:pt x="201422" y="66245"/>
                  <a:pt x="202209" y="62879"/>
                  <a:pt x="201207" y="59800"/>
                </a:cubicBezTo>
                <a:cubicBezTo>
                  <a:pt x="200204" y="56720"/>
                  <a:pt x="197590" y="54464"/>
                  <a:pt x="194367" y="53963"/>
                </a:cubicBezTo>
                <a:lnTo>
                  <a:pt x="137146" y="44868"/>
                </a:lnTo>
                <a:lnTo>
                  <a:pt x="110827" y="-6768"/>
                </a:lnTo>
                <a:close/>
              </a:path>
            </a:pathLst>
          </a:custGeom>
          <a:solidFill>
            <a:srgbClr val="C0A062"/>
          </a:solidFill>
          <a:ln/>
        </p:spPr>
        <p:txBody>
          <a:bodyPr/>
          <a:lstStyle/>
          <a:p>
            <a:endParaRPr lang="zh-CN" altLang="en-US"/>
          </a:p>
        </p:txBody>
      </p:sp>
      <p:sp>
        <p:nvSpPr>
          <p:cNvPr id="23" name="Text 20"/>
          <p:cNvSpPr/>
          <p:nvPr/>
        </p:nvSpPr>
        <p:spPr>
          <a:xfrm>
            <a:off x="7869440" y="5785470"/>
            <a:ext cx="1072529" cy="220006"/>
          </a:xfrm>
          <a:prstGeom prst="rect">
            <a:avLst/>
          </a:prstGeom>
          <a:noFill/>
          <a:ln/>
        </p:spPr>
        <p:txBody>
          <a:bodyPr wrap="square" lIns="0" tIns="0" rIns="0" bIns="0" rtlCol="0" anchor="ctr"/>
          <a:lstStyle/>
          <a:p>
            <a:pPr>
              <a:lnSpc>
                <a:spcPct val="130000"/>
              </a:lnSpc>
            </a:pPr>
            <a:r>
              <a:rPr lang="en-US" sz="1155" b="1" dirty="0">
                <a:solidFill>
                  <a:srgbClr val="FFFFFF"/>
                </a:solidFill>
                <a:latin typeface="Liter" pitchFamily="34" charset="0"/>
                <a:ea typeface="Liter" pitchFamily="34" charset="-122"/>
                <a:cs typeface="Liter" pitchFamily="34" charset="-120"/>
              </a:rPr>
              <a:t>Key Conclusion</a:t>
            </a:r>
            <a:endParaRPr lang="en-US" sz="1600" dirty="0"/>
          </a:p>
        </p:txBody>
      </p:sp>
      <p:sp>
        <p:nvSpPr>
          <p:cNvPr id="25" name="Text 22"/>
          <p:cNvSpPr/>
          <p:nvPr/>
        </p:nvSpPr>
        <p:spPr>
          <a:xfrm>
            <a:off x="7542396" y="6055894"/>
            <a:ext cx="4103814" cy="522514"/>
          </a:xfrm>
          <a:prstGeom prst="rect">
            <a:avLst/>
          </a:prstGeom>
          <a:noFill/>
          <a:ln/>
        </p:spPr>
        <p:txBody>
          <a:bodyPr wrap="square" lIns="73335" tIns="36668" rIns="73335" bIns="36668" rtlCol="0" anchor="ctr"/>
          <a:lstStyle/>
          <a:p>
            <a:pPr>
              <a:lnSpc>
                <a:spcPct val="140000"/>
              </a:lnSpc>
            </a:pPr>
            <a:r>
              <a:rPr lang="en-US" sz="1155" dirty="0">
                <a:solidFill>
                  <a:srgbClr val="FFFFFF"/>
                </a:solidFill>
                <a:latin typeface="Liter" pitchFamily="34" charset="0"/>
                <a:ea typeface="Liter" pitchFamily="34" charset="-122"/>
                <a:cs typeface="Liter" pitchFamily="34" charset="-120"/>
              </a:rPr>
              <a:t>Tenure appears to be a more informative stability proxy than income alone.</a:t>
            </a:r>
            <a:endParaRPr lang="en-US" sz="1600" dirty="0"/>
          </a:p>
        </p:txBody>
      </p:sp>
      <p:pic>
        <p:nvPicPr>
          <p:cNvPr id="29" name="图片 28">
            <a:extLst>
              <a:ext uri="{FF2B5EF4-FFF2-40B4-BE49-F238E27FC236}">
                <a16:creationId xmlns:a16="http://schemas.microsoft.com/office/drawing/2014/main" id="{8935917F-5EB6-06A8-BB5E-7FFF49F98791}"/>
              </a:ext>
            </a:extLst>
          </p:cNvPr>
          <p:cNvPicPr>
            <a:picLocks noChangeAspect="1"/>
          </p:cNvPicPr>
          <p:nvPr/>
        </p:nvPicPr>
        <p:blipFill>
          <a:blip r:embed="rId3"/>
          <a:stretch>
            <a:fillRect/>
          </a:stretch>
        </p:blipFill>
        <p:spPr>
          <a:xfrm>
            <a:off x="1388220" y="1540042"/>
            <a:ext cx="4311647" cy="2601360"/>
          </a:xfrm>
          <a:prstGeom prst="rect">
            <a:avLst/>
          </a:prstGeom>
        </p:spPr>
      </p:pic>
      <p:pic>
        <p:nvPicPr>
          <p:cNvPr id="30" name="图片 29">
            <a:extLst>
              <a:ext uri="{FF2B5EF4-FFF2-40B4-BE49-F238E27FC236}">
                <a16:creationId xmlns:a16="http://schemas.microsoft.com/office/drawing/2014/main" id="{5B76C582-C5A1-5C36-8A44-610044B34AE9}"/>
              </a:ext>
            </a:extLst>
          </p:cNvPr>
          <p:cNvPicPr>
            <a:picLocks noChangeAspect="1"/>
          </p:cNvPicPr>
          <p:nvPr/>
        </p:nvPicPr>
        <p:blipFill>
          <a:blip r:embed="rId4"/>
          <a:stretch>
            <a:fillRect/>
          </a:stretch>
        </p:blipFill>
        <p:spPr>
          <a:xfrm>
            <a:off x="1892934" y="4275561"/>
            <a:ext cx="3806933" cy="250418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75FEC-EC31-4CB0-403A-190826AF5D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BE9F8F-DC85-501F-EE30-66A690880935}"/>
              </a:ext>
            </a:extLst>
          </p:cNvPr>
          <p:cNvSpPr/>
          <p:nvPr/>
        </p:nvSpPr>
        <p:spPr>
          <a:xfrm>
            <a:off x="366677" y="366677"/>
            <a:ext cx="11531982" cy="220006"/>
          </a:xfrm>
          <a:prstGeom prst="rect">
            <a:avLst/>
          </a:prstGeom>
          <a:noFill/>
          <a:ln/>
        </p:spPr>
        <p:txBody>
          <a:bodyPr wrap="square" lIns="0" tIns="0" rIns="0" bIns="0" rtlCol="0" anchor="ctr"/>
          <a:lstStyle/>
          <a:p>
            <a:pPr>
              <a:lnSpc>
                <a:spcPct val="130000"/>
              </a:lnSpc>
            </a:pPr>
            <a:r>
              <a:rPr lang="en-US" sz="1155" b="1" kern="0" spc="115" dirty="0">
                <a:solidFill>
                  <a:srgbClr val="C0A062"/>
                </a:solidFill>
                <a:latin typeface="Liter" pitchFamily="34" charset="0"/>
                <a:ea typeface="Liter" pitchFamily="34" charset="-122"/>
                <a:cs typeface="Liter" pitchFamily="34" charset="-120"/>
              </a:rPr>
              <a:t>06 • Bivariate Analysis</a:t>
            </a:r>
            <a:endParaRPr lang="en-US" sz="1600" dirty="0"/>
          </a:p>
        </p:txBody>
      </p:sp>
      <p:sp>
        <p:nvSpPr>
          <p:cNvPr id="3" name="Text 1">
            <a:extLst>
              <a:ext uri="{FF2B5EF4-FFF2-40B4-BE49-F238E27FC236}">
                <a16:creationId xmlns:a16="http://schemas.microsoft.com/office/drawing/2014/main" id="{B0A043E6-8BB6-1EF1-F616-261092D1C49F}"/>
              </a:ext>
            </a:extLst>
          </p:cNvPr>
          <p:cNvSpPr/>
          <p:nvPr/>
        </p:nvSpPr>
        <p:spPr>
          <a:xfrm>
            <a:off x="366677" y="623350"/>
            <a:ext cx="11623651" cy="366677"/>
          </a:xfrm>
          <a:prstGeom prst="rect">
            <a:avLst/>
          </a:prstGeom>
          <a:noFill/>
          <a:ln/>
        </p:spPr>
        <p:txBody>
          <a:bodyPr wrap="square" lIns="0" tIns="0" rIns="0" bIns="0" rtlCol="0" anchor="ctr"/>
          <a:lstStyle/>
          <a:p>
            <a:pPr>
              <a:lnSpc>
                <a:spcPct val="90000"/>
              </a:lnSpc>
            </a:pPr>
            <a:r>
              <a:rPr lang="en-US" sz="2599" b="1" dirty="0">
                <a:solidFill>
                  <a:srgbClr val="2E4057"/>
                </a:solidFill>
                <a:latin typeface="Liter" pitchFamily="34" charset="0"/>
                <a:ea typeface="Liter" pitchFamily="34" charset="-122"/>
                <a:cs typeface="Liter" pitchFamily="34" charset="-120"/>
              </a:rPr>
              <a:t>Categorical Variables vs Repayment Outcome</a:t>
            </a:r>
            <a:endParaRPr lang="en-US" sz="1600" dirty="0"/>
          </a:p>
        </p:txBody>
      </p:sp>
      <p:sp>
        <p:nvSpPr>
          <p:cNvPr id="5" name="Text 3">
            <a:extLst>
              <a:ext uri="{FF2B5EF4-FFF2-40B4-BE49-F238E27FC236}">
                <a16:creationId xmlns:a16="http://schemas.microsoft.com/office/drawing/2014/main" id="{6CF785AA-81C7-84C2-7DB7-9B02B043B31A}"/>
              </a:ext>
            </a:extLst>
          </p:cNvPr>
          <p:cNvSpPr/>
          <p:nvPr/>
        </p:nvSpPr>
        <p:spPr>
          <a:xfrm>
            <a:off x="513347" y="1210033"/>
            <a:ext cx="5070165" cy="219219"/>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Previous application outcomes by age bucket.</a:t>
            </a:r>
            <a:endParaRPr lang="en-US" sz="1600" dirty="0"/>
          </a:p>
        </p:txBody>
      </p:sp>
      <p:pic>
        <p:nvPicPr>
          <p:cNvPr id="6" name="图片 5" descr="图表, 条形图&#10;&#10;AI 生成的内容可能不正确。">
            <a:extLst>
              <a:ext uri="{FF2B5EF4-FFF2-40B4-BE49-F238E27FC236}">
                <a16:creationId xmlns:a16="http://schemas.microsoft.com/office/drawing/2014/main" id="{E793B33E-3AD0-2C8D-CAB6-10913A34289C}"/>
              </a:ext>
            </a:extLst>
          </p:cNvPr>
          <p:cNvPicPr>
            <a:picLocks noChangeAspect="1"/>
          </p:cNvPicPr>
          <p:nvPr/>
        </p:nvPicPr>
        <p:blipFill>
          <a:blip r:embed="rId3"/>
          <a:stretch>
            <a:fillRect/>
          </a:stretch>
        </p:blipFill>
        <p:spPr>
          <a:xfrm>
            <a:off x="290065" y="1473432"/>
            <a:ext cx="3830649" cy="2116433"/>
          </a:xfrm>
          <a:prstGeom prst="rect">
            <a:avLst/>
          </a:prstGeom>
        </p:spPr>
      </p:pic>
      <p:pic>
        <p:nvPicPr>
          <p:cNvPr id="24" name="图片 23">
            <a:extLst>
              <a:ext uri="{FF2B5EF4-FFF2-40B4-BE49-F238E27FC236}">
                <a16:creationId xmlns:a16="http://schemas.microsoft.com/office/drawing/2014/main" id="{6D31BE6E-CFD1-62A1-2804-AC1D6EA53DBB}"/>
              </a:ext>
            </a:extLst>
          </p:cNvPr>
          <p:cNvPicPr>
            <a:picLocks noChangeAspect="1"/>
          </p:cNvPicPr>
          <p:nvPr/>
        </p:nvPicPr>
        <p:blipFill>
          <a:blip r:embed="rId4"/>
          <a:stretch>
            <a:fillRect/>
          </a:stretch>
        </p:blipFill>
        <p:spPr>
          <a:xfrm>
            <a:off x="4135024" y="1531283"/>
            <a:ext cx="3918461" cy="2058583"/>
          </a:xfrm>
          <a:prstGeom prst="rect">
            <a:avLst/>
          </a:prstGeom>
        </p:spPr>
      </p:pic>
      <p:pic>
        <p:nvPicPr>
          <p:cNvPr id="26" name="图片 25">
            <a:extLst>
              <a:ext uri="{FF2B5EF4-FFF2-40B4-BE49-F238E27FC236}">
                <a16:creationId xmlns:a16="http://schemas.microsoft.com/office/drawing/2014/main" id="{5DE0CEAB-D442-8AB1-40F2-928A09CAD4F8}"/>
              </a:ext>
            </a:extLst>
          </p:cNvPr>
          <p:cNvPicPr>
            <a:picLocks noChangeAspect="1"/>
          </p:cNvPicPr>
          <p:nvPr/>
        </p:nvPicPr>
        <p:blipFill>
          <a:blip r:embed="rId5"/>
          <a:stretch>
            <a:fillRect/>
          </a:stretch>
        </p:blipFill>
        <p:spPr>
          <a:xfrm>
            <a:off x="8067795" y="1502292"/>
            <a:ext cx="3487947" cy="2201465"/>
          </a:xfrm>
          <a:prstGeom prst="rect">
            <a:avLst/>
          </a:prstGeom>
        </p:spPr>
      </p:pic>
      <p:sp>
        <p:nvSpPr>
          <p:cNvPr id="27" name="Text 3">
            <a:extLst>
              <a:ext uri="{FF2B5EF4-FFF2-40B4-BE49-F238E27FC236}">
                <a16:creationId xmlns:a16="http://schemas.microsoft.com/office/drawing/2014/main" id="{45B6B848-A9B0-156E-EFE7-9B4BBAA65B94}"/>
              </a:ext>
            </a:extLst>
          </p:cNvPr>
          <p:cNvSpPr/>
          <p:nvPr/>
        </p:nvSpPr>
        <p:spPr>
          <a:xfrm>
            <a:off x="4120714" y="1205302"/>
            <a:ext cx="5070165" cy="219219"/>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Family Status vs. Previous Application Outcomes</a:t>
            </a:r>
            <a:endParaRPr lang="en-US" sz="1600" dirty="0"/>
          </a:p>
        </p:txBody>
      </p:sp>
      <p:sp>
        <p:nvSpPr>
          <p:cNvPr id="31" name="文本框 30">
            <a:extLst>
              <a:ext uri="{FF2B5EF4-FFF2-40B4-BE49-F238E27FC236}">
                <a16:creationId xmlns:a16="http://schemas.microsoft.com/office/drawing/2014/main" id="{F1681174-2A1B-0B8D-AF9C-ABBD6DFB03B9}"/>
              </a:ext>
            </a:extLst>
          </p:cNvPr>
          <p:cNvSpPr txBox="1"/>
          <p:nvPr/>
        </p:nvSpPr>
        <p:spPr>
          <a:xfrm>
            <a:off x="7761589" y="1210033"/>
            <a:ext cx="6096000" cy="292259"/>
          </a:xfrm>
          <a:prstGeom prst="rect">
            <a:avLst/>
          </a:prstGeom>
          <a:noFill/>
        </p:spPr>
        <p:txBody>
          <a:bodyPr wrap="square">
            <a:spAutoFit/>
          </a:bodyPr>
          <a:lstStyle/>
          <a:p>
            <a:r>
              <a:rPr lang="zh-CN" altLang="en-US" sz="1299" b="1" dirty="0">
                <a:solidFill>
                  <a:srgbClr val="2E4057"/>
                </a:solidFill>
                <a:latin typeface="Liter" pitchFamily="34" charset="0"/>
              </a:rPr>
              <a:t>Client Type vs. Previous Application Outcomes</a:t>
            </a:r>
          </a:p>
        </p:txBody>
      </p:sp>
      <p:sp>
        <p:nvSpPr>
          <p:cNvPr id="32" name="Shape 22">
            <a:extLst>
              <a:ext uri="{FF2B5EF4-FFF2-40B4-BE49-F238E27FC236}">
                <a16:creationId xmlns:a16="http://schemas.microsoft.com/office/drawing/2014/main" id="{13DFAF6C-760B-C604-7806-B3E5D38B130A}"/>
              </a:ext>
            </a:extLst>
          </p:cNvPr>
          <p:cNvSpPr/>
          <p:nvPr/>
        </p:nvSpPr>
        <p:spPr>
          <a:xfrm>
            <a:off x="366677" y="3839263"/>
            <a:ext cx="11125404" cy="2395387"/>
          </a:xfrm>
          <a:custGeom>
            <a:avLst/>
            <a:gdLst/>
            <a:ahLst/>
            <a:cxnLst/>
            <a:rect l="l" t="t" r="r" b="b"/>
            <a:pathLst>
              <a:path w="3714750" h="1181100">
                <a:moveTo>
                  <a:pt x="38100" y="0"/>
                </a:moveTo>
                <a:lnTo>
                  <a:pt x="3638545" y="0"/>
                </a:lnTo>
                <a:cubicBezTo>
                  <a:pt x="3680604" y="0"/>
                  <a:pt x="3714750" y="34146"/>
                  <a:pt x="3714750" y="76205"/>
                </a:cubicBezTo>
                <a:lnTo>
                  <a:pt x="3714750" y="1104895"/>
                </a:lnTo>
                <a:cubicBezTo>
                  <a:pt x="3714750" y="1146982"/>
                  <a:pt x="3680632" y="1181100"/>
                  <a:pt x="3638545" y="1181100"/>
                </a:cubicBezTo>
                <a:lnTo>
                  <a:pt x="38100" y="1181100"/>
                </a:lnTo>
                <a:cubicBezTo>
                  <a:pt x="17072" y="1181100"/>
                  <a:pt x="0" y="1164028"/>
                  <a:pt x="0" y="114300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33" name="Shape 23">
            <a:extLst>
              <a:ext uri="{FF2B5EF4-FFF2-40B4-BE49-F238E27FC236}">
                <a16:creationId xmlns:a16="http://schemas.microsoft.com/office/drawing/2014/main" id="{F2280BCB-5B71-1F4C-5446-75143522D092}"/>
              </a:ext>
            </a:extLst>
          </p:cNvPr>
          <p:cNvSpPr/>
          <p:nvPr/>
        </p:nvSpPr>
        <p:spPr>
          <a:xfrm>
            <a:off x="366676" y="3834349"/>
            <a:ext cx="45719" cy="2395386"/>
          </a:xfrm>
          <a:custGeom>
            <a:avLst/>
            <a:gdLst/>
            <a:ahLst/>
            <a:cxnLst/>
            <a:rect l="l" t="t" r="r" b="b"/>
            <a:pathLst>
              <a:path w="38100" h="1181100">
                <a:moveTo>
                  <a:pt x="38100" y="0"/>
                </a:moveTo>
                <a:lnTo>
                  <a:pt x="38100" y="0"/>
                </a:lnTo>
                <a:lnTo>
                  <a:pt x="38100" y="1181100"/>
                </a:lnTo>
                <a:lnTo>
                  <a:pt x="38100" y="1181100"/>
                </a:lnTo>
                <a:cubicBezTo>
                  <a:pt x="17072" y="1181100"/>
                  <a:pt x="0" y="1164028"/>
                  <a:pt x="0" y="1143000"/>
                </a:cubicBezTo>
                <a:lnTo>
                  <a:pt x="0" y="38100"/>
                </a:lnTo>
                <a:cubicBezTo>
                  <a:pt x="0" y="17072"/>
                  <a:pt x="17072" y="0"/>
                  <a:pt x="38100" y="0"/>
                </a:cubicBezTo>
                <a:close/>
              </a:path>
            </a:pathLst>
          </a:custGeom>
          <a:solidFill>
            <a:srgbClr val="2E4057"/>
          </a:solidFill>
          <a:ln/>
        </p:spPr>
        <p:txBody>
          <a:bodyPr/>
          <a:lstStyle/>
          <a:p>
            <a:endParaRPr lang="zh-CN" altLang="en-US"/>
          </a:p>
        </p:txBody>
      </p:sp>
      <p:sp>
        <p:nvSpPr>
          <p:cNvPr id="34" name="Shape 24">
            <a:extLst>
              <a:ext uri="{FF2B5EF4-FFF2-40B4-BE49-F238E27FC236}">
                <a16:creationId xmlns:a16="http://schemas.microsoft.com/office/drawing/2014/main" id="{DCE52741-9E1B-3C59-0733-0FC91A35DF99}"/>
              </a:ext>
            </a:extLst>
          </p:cNvPr>
          <p:cNvSpPr/>
          <p:nvPr/>
        </p:nvSpPr>
        <p:spPr>
          <a:xfrm>
            <a:off x="699919" y="4140544"/>
            <a:ext cx="173314"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C0A062"/>
          </a:solidFill>
          <a:ln/>
        </p:spPr>
        <p:txBody>
          <a:bodyPr/>
          <a:lstStyle/>
          <a:p>
            <a:endParaRPr lang="zh-CN" altLang="en-US"/>
          </a:p>
        </p:txBody>
      </p:sp>
      <p:sp>
        <p:nvSpPr>
          <p:cNvPr id="35" name="Text 25">
            <a:extLst>
              <a:ext uri="{FF2B5EF4-FFF2-40B4-BE49-F238E27FC236}">
                <a16:creationId xmlns:a16="http://schemas.microsoft.com/office/drawing/2014/main" id="{4159EF1C-025F-B51B-DCA2-635267CAF911}"/>
              </a:ext>
            </a:extLst>
          </p:cNvPr>
          <p:cNvSpPr/>
          <p:nvPr/>
        </p:nvSpPr>
        <p:spPr>
          <a:xfrm>
            <a:off x="966618" y="4121494"/>
            <a:ext cx="993669" cy="228600"/>
          </a:xfrm>
          <a:prstGeom prst="rect">
            <a:avLst/>
          </a:prstGeom>
          <a:noFill/>
          <a:ln/>
        </p:spPr>
        <p:txBody>
          <a:bodyPr wrap="square" lIns="0" tIns="0" rIns="0" bIns="0" rtlCol="0" anchor="ctr"/>
          <a:lstStyle/>
          <a:p>
            <a:pPr>
              <a:lnSpc>
                <a:spcPct val="130000"/>
              </a:lnSpc>
            </a:pPr>
            <a:r>
              <a:rPr lang="en-US" sz="1200" b="1" dirty="0">
                <a:solidFill>
                  <a:srgbClr val="2E4057"/>
                </a:solidFill>
                <a:latin typeface="Liter" pitchFamily="34" charset="0"/>
                <a:ea typeface="Liter" pitchFamily="34" charset="-122"/>
                <a:cs typeface="Liter" pitchFamily="34" charset="-120"/>
              </a:rPr>
              <a:t>Key Insight</a:t>
            </a:r>
            <a:endParaRPr lang="en-US" sz="1600" dirty="0"/>
          </a:p>
        </p:txBody>
      </p:sp>
      <p:sp>
        <p:nvSpPr>
          <p:cNvPr id="36" name="Text 26">
            <a:extLst>
              <a:ext uri="{FF2B5EF4-FFF2-40B4-BE49-F238E27FC236}">
                <a16:creationId xmlns:a16="http://schemas.microsoft.com/office/drawing/2014/main" id="{D2E7C590-58F7-9A7D-47AC-D30B3A9C40B8}"/>
              </a:ext>
            </a:extLst>
          </p:cNvPr>
          <p:cNvSpPr/>
          <p:nvPr/>
        </p:nvSpPr>
        <p:spPr>
          <a:xfrm>
            <a:off x="639658" y="4919535"/>
            <a:ext cx="10333918" cy="647700"/>
          </a:xfrm>
          <a:prstGeom prst="rect">
            <a:avLst/>
          </a:prstGeom>
          <a:noFill/>
          <a:ln/>
        </p:spPr>
        <p:txBody>
          <a:bodyPr wrap="square" lIns="0" tIns="0" rIns="0" bIns="0" rtlCol="0" anchor="ctr"/>
          <a:lstStyle/>
          <a:p>
            <a:pPr marL="228600" indent="-228600">
              <a:lnSpc>
                <a:spcPct val="140000"/>
              </a:lnSpc>
              <a:buAutoNum type="arabicPeriod"/>
            </a:pPr>
            <a:r>
              <a:rPr lang="en-US" altLang="zh-CN" sz="1400" dirty="0">
                <a:solidFill>
                  <a:srgbClr val="2D3748"/>
                </a:solidFill>
                <a:latin typeface="Liter" pitchFamily="34" charset="0"/>
              </a:rPr>
              <a:t>Approval counts are highest for ages 30–50 and decline after age 50; approvals dominate outcomes in all age buckets.</a:t>
            </a:r>
          </a:p>
          <a:p>
            <a:pPr marL="228600" indent="-228600">
              <a:lnSpc>
                <a:spcPct val="140000"/>
              </a:lnSpc>
              <a:buAutoNum type="arabicPeriod"/>
            </a:pPr>
            <a:r>
              <a:rPr lang="en-US" sz="1400" dirty="0">
                <a:solidFill>
                  <a:srgbClr val="2D3748"/>
                </a:solidFill>
                <a:latin typeface="Liter" pitchFamily="34" charset="0"/>
              </a:rPr>
              <a:t>Married clients account for the largest volume of approvals (count-based), but approvals remain the most frequent outcome across all family-status categories.</a:t>
            </a:r>
          </a:p>
          <a:p>
            <a:pPr marL="228600" indent="-228600">
              <a:lnSpc>
                <a:spcPct val="140000"/>
              </a:lnSpc>
              <a:buAutoNum type="arabicPeriod"/>
            </a:pPr>
            <a:r>
              <a:rPr lang="en-US" sz="1400" dirty="0">
                <a:solidFill>
                  <a:srgbClr val="2D3748"/>
                </a:solidFill>
                <a:latin typeface="Liter" pitchFamily="34" charset="0"/>
              </a:rPr>
              <a:t>Repeat clients dominate approval counts; however, this is count-based and should be complemented with approval-rate comparisons for inference.</a:t>
            </a:r>
          </a:p>
        </p:txBody>
      </p:sp>
    </p:spTree>
    <p:extLst>
      <p:ext uri="{BB962C8B-B14F-4D97-AF65-F5344CB8AC3E}">
        <p14:creationId xmlns:p14="http://schemas.microsoft.com/office/powerpoint/2010/main" val="107865485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EEB31-1026-F233-20FE-8DED2E11F2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FCD0D61-9811-999A-32AC-D176654C5406}"/>
              </a:ext>
            </a:extLst>
          </p:cNvPr>
          <p:cNvSpPr/>
          <p:nvPr/>
        </p:nvSpPr>
        <p:spPr>
          <a:xfrm>
            <a:off x="366677" y="366677"/>
            <a:ext cx="11531982" cy="220006"/>
          </a:xfrm>
          <a:prstGeom prst="rect">
            <a:avLst/>
          </a:prstGeom>
          <a:noFill/>
          <a:ln/>
        </p:spPr>
        <p:txBody>
          <a:bodyPr wrap="square" lIns="0" tIns="0" rIns="0" bIns="0" rtlCol="0" anchor="ctr"/>
          <a:lstStyle/>
          <a:p>
            <a:pPr>
              <a:lnSpc>
                <a:spcPct val="130000"/>
              </a:lnSpc>
            </a:pPr>
            <a:r>
              <a:rPr lang="en-US" sz="1155" b="1" kern="0" spc="115" dirty="0">
                <a:solidFill>
                  <a:srgbClr val="C0A062"/>
                </a:solidFill>
                <a:latin typeface="Liter" pitchFamily="34" charset="0"/>
                <a:ea typeface="Liter" pitchFamily="34" charset="-122"/>
                <a:cs typeface="Liter" pitchFamily="34" charset="-120"/>
              </a:rPr>
              <a:t>06 • Bivariate Analysis</a:t>
            </a:r>
            <a:endParaRPr lang="en-US" sz="1600" dirty="0"/>
          </a:p>
        </p:txBody>
      </p:sp>
      <p:sp>
        <p:nvSpPr>
          <p:cNvPr id="3" name="Text 1">
            <a:extLst>
              <a:ext uri="{FF2B5EF4-FFF2-40B4-BE49-F238E27FC236}">
                <a16:creationId xmlns:a16="http://schemas.microsoft.com/office/drawing/2014/main" id="{973CB933-22B0-34AC-1E0D-66A315E469A9}"/>
              </a:ext>
            </a:extLst>
          </p:cNvPr>
          <p:cNvSpPr/>
          <p:nvPr/>
        </p:nvSpPr>
        <p:spPr>
          <a:xfrm>
            <a:off x="366677" y="623350"/>
            <a:ext cx="11623651" cy="366677"/>
          </a:xfrm>
          <a:prstGeom prst="rect">
            <a:avLst/>
          </a:prstGeom>
          <a:noFill/>
          <a:ln/>
        </p:spPr>
        <p:txBody>
          <a:bodyPr wrap="square" lIns="0" tIns="0" rIns="0" bIns="0" rtlCol="0" anchor="ctr"/>
          <a:lstStyle/>
          <a:p>
            <a:pPr>
              <a:lnSpc>
                <a:spcPct val="90000"/>
              </a:lnSpc>
            </a:pPr>
            <a:r>
              <a:rPr lang="en-US" altLang="zh-CN" sz="2599" b="1" dirty="0">
                <a:solidFill>
                  <a:srgbClr val="2E4057"/>
                </a:solidFill>
                <a:latin typeface="Liter" pitchFamily="34" charset="0"/>
                <a:ea typeface="Liter" pitchFamily="34" charset="-122"/>
                <a:cs typeface="Liter" pitchFamily="34" charset="-120"/>
              </a:rPr>
              <a:t>Socioeconomic Factors vs Financial Magnitudes</a:t>
            </a:r>
            <a:endParaRPr lang="en-US" altLang="zh-CN" sz="1600" dirty="0"/>
          </a:p>
        </p:txBody>
      </p:sp>
      <p:sp>
        <p:nvSpPr>
          <p:cNvPr id="4" name="Shape 2">
            <a:extLst>
              <a:ext uri="{FF2B5EF4-FFF2-40B4-BE49-F238E27FC236}">
                <a16:creationId xmlns:a16="http://schemas.microsoft.com/office/drawing/2014/main" id="{3E023539-E2EE-DD02-5EFC-8A3A1FA6F0ED}"/>
              </a:ext>
            </a:extLst>
          </p:cNvPr>
          <p:cNvSpPr/>
          <p:nvPr/>
        </p:nvSpPr>
        <p:spPr>
          <a:xfrm>
            <a:off x="366677" y="1063362"/>
            <a:ext cx="6921023" cy="5669738"/>
          </a:xfrm>
          <a:custGeom>
            <a:avLst/>
            <a:gdLst/>
            <a:ahLst/>
            <a:cxnLst/>
            <a:rect l="l" t="t" r="r" b="b"/>
            <a:pathLst>
              <a:path w="6921023" h="5793492">
                <a:moveTo>
                  <a:pt x="73346" y="0"/>
                </a:moveTo>
                <a:lnTo>
                  <a:pt x="6847677" y="0"/>
                </a:lnTo>
                <a:cubicBezTo>
                  <a:pt x="6888185" y="0"/>
                  <a:pt x="6921023" y="32838"/>
                  <a:pt x="6921023" y="73346"/>
                </a:cubicBezTo>
                <a:lnTo>
                  <a:pt x="6921023" y="5720146"/>
                </a:lnTo>
                <a:cubicBezTo>
                  <a:pt x="6921023" y="5760654"/>
                  <a:pt x="6888185" y="5793492"/>
                  <a:pt x="6847677" y="5793492"/>
                </a:cubicBezTo>
                <a:lnTo>
                  <a:pt x="73346" y="5793492"/>
                </a:lnTo>
                <a:cubicBezTo>
                  <a:pt x="32838" y="5793492"/>
                  <a:pt x="0" y="5760654"/>
                  <a:pt x="0" y="5720146"/>
                </a:cubicBezTo>
                <a:lnTo>
                  <a:pt x="0" y="73346"/>
                </a:lnTo>
                <a:cubicBezTo>
                  <a:pt x="0" y="32865"/>
                  <a:pt x="32865" y="0"/>
                  <a:pt x="73346"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dirty="0"/>
          </a:p>
        </p:txBody>
      </p:sp>
      <p:sp>
        <p:nvSpPr>
          <p:cNvPr id="5" name="Text 3">
            <a:extLst>
              <a:ext uri="{FF2B5EF4-FFF2-40B4-BE49-F238E27FC236}">
                <a16:creationId xmlns:a16="http://schemas.microsoft.com/office/drawing/2014/main" id="{4B8C355F-F06C-7B11-2709-D485A6BA35A5}"/>
              </a:ext>
            </a:extLst>
          </p:cNvPr>
          <p:cNvSpPr/>
          <p:nvPr/>
        </p:nvSpPr>
        <p:spPr>
          <a:xfrm>
            <a:off x="513347" y="1210033"/>
            <a:ext cx="6710183"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Education vs. Credit Amount</a:t>
            </a:r>
            <a:endParaRPr lang="en-US" sz="1600" dirty="0"/>
          </a:p>
        </p:txBody>
      </p:sp>
      <p:sp>
        <p:nvSpPr>
          <p:cNvPr id="7" name="Shape 4">
            <a:extLst>
              <a:ext uri="{FF2B5EF4-FFF2-40B4-BE49-F238E27FC236}">
                <a16:creationId xmlns:a16="http://schemas.microsoft.com/office/drawing/2014/main" id="{943448B4-B2A3-EC57-CA6C-12962186A404}"/>
              </a:ext>
            </a:extLst>
          </p:cNvPr>
          <p:cNvSpPr/>
          <p:nvPr/>
        </p:nvSpPr>
        <p:spPr>
          <a:xfrm>
            <a:off x="7386604" y="1754453"/>
            <a:ext cx="4400120" cy="1534872"/>
          </a:xfrm>
          <a:custGeom>
            <a:avLst/>
            <a:gdLst/>
            <a:ahLst/>
            <a:cxnLst/>
            <a:rect l="l" t="t" r="r" b="b"/>
            <a:pathLst>
              <a:path w="4400120" h="2255062">
                <a:moveTo>
                  <a:pt x="36668" y="0"/>
                </a:moveTo>
                <a:lnTo>
                  <a:pt x="4326786" y="0"/>
                </a:lnTo>
                <a:cubicBezTo>
                  <a:pt x="4367287" y="0"/>
                  <a:pt x="4400120" y="32833"/>
                  <a:pt x="4400120" y="73335"/>
                </a:cubicBezTo>
                <a:lnTo>
                  <a:pt x="4400120" y="2181727"/>
                </a:lnTo>
                <a:cubicBezTo>
                  <a:pt x="4400120" y="2222202"/>
                  <a:pt x="4367260" y="2255062"/>
                  <a:pt x="4326786" y="2255062"/>
                </a:cubicBezTo>
                <a:lnTo>
                  <a:pt x="36668" y="2255062"/>
                </a:lnTo>
                <a:cubicBezTo>
                  <a:pt x="16417" y="2255062"/>
                  <a:pt x="0" y="2238645"/>
                  <a:pt x="0" y="2218394"/>
                </a:cubicBezTo>
                <a:lnTo>
                  <a:pt x="0" y="36668"/>
                </a:lnTo>
                <a:cubicBezTo>
                  <a:pt x="0" y="16430"/>
                  <a:pt x="16430" y="0"/>
                  <a:pt x="36668"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a:p>
        </p:txBody>
      </p:sp>
      <p:sp>
        <p:nvSpPr>
          <p:cNvPr id="8" name="Shape 5">
            <a:extLst>
              <a:ext uri="{FF2B5EF4-FFF2-40B4-BE49-F238E27FC236}">
                <a16:creationId xmlns:a16="http://schemas.microsoft.com/office/drawing/2014/main" id="{C07C6746-519B-22D3-4DBD-42F42E7F699A}"/>
              </a:ext>
            </a:extLst>
          </p:cNvPr>
          <p:cNvSpPr/>
          <p:nvPr/>
        </p:nvSpPr>
        <p:spPr>
          <a:xfrm>
            <a:off x="7386604" y="1754453"/>
            <a:ext cx="36668" cy="1534872"/>
          </a:xfrm>
          <a:custGeom>
            <a:avLst/>
            <a:gdLst/>
            <a:ahLst/>
            <a:cxnLst/>
            <a:rect l="l" t="t" r="r" b="b"/>
            <a:pathLst>
              <a:path w="36668" h="2255062">
                <a:moveTo>
                  <a:pt x="36668" y="0"/>
                </a:moveTo>
                <a:lnTo>
                  <a:pt x="36668" y="0"/>
                </a:lnTo>
                <a:lnTo>
                  <a:pt x="36668" y="2255062"/>
                </a:lnTo>
                <a:lnTo>
                  <a:pt x="36668" y="2255062"/>
                </a:lnTo>
                <a:cubicBezTo>
                  <a:pt x="16417" y="2255062"/>
                  <a:pt x="0" y="2238645"/>
                  <a:pt x="0" y="2218394"/>
                </a:cubicBezTo>
                <a:lnTo>
                  <a:pt x="0" y="36668"/>
                </a:lnTo>
                <a:cubicBezTo>
                  <a:pt x="0" y="16430"/>
                  <a:pt x="16430" y="0"/>
                  <a:pt x="36668" y="0"/>
                </a:cubicBezTo>
                <a:close/>
              </a:path>
            </a:pathLst>
          </a:custGeom>
          <a:solidFill>
            <a:srgbClr val="2E4057"/>
          </a:solidFill>
          <a:ln/>
        </p:spPr>
        <p:txBody>
          <a:bodyPr/>
          <a:lstStyle/>
          <a:p>
            <a:endParaRPr lang="zh-CN" altLang="en-US"/>
          </a:p>
        </p:txBody>
      </p:sp>
      <p:sp>
        <p:nvSpPr>
          <p:cNvPr id="9" name="Shape 6">
            <a:extLst>
              <a:ext uri="{FF2B5EF4-FFF2-40B4-BE49-F238E27FC236}">
                <a16:creationId xmlns:a16="http://schemas.microsoft.com/office/drawing/2014/main" id="{433E5C4E-104E-DA91-9187-81E7A343A542}"/>
              </a:ext>
            </a:extLst>
          </p:cNvPr>
          <p:cNvSpPr/>
          <p:nvPr/>
        </p:nvSpPr>
        <p:spPr>
          <a:xfrm>
            <a:off x="7580236" y="1949362"/>
            <a:ext cx="220006" cy="220006"/>
          </a:xfrm>
          <a:custGeom>
            <a:avLst/>
            <a:gdLst/>
            <a:ahLst/>
            <a:cxnLst/>
            <a:rect l="l" t="t" r="r" b="b"/>
            <a:pathLst>
              <a:path w="220006" h="220006">
                <a:moveTo>
                  <a:pt x="85940" y="20626"/>
                </a:moveTo>
                <a:lnTo>
                  <a:pt x="134066" y="20626"/>
                </a:lnTo>
                <a:cubicBezTo>
                  <a:pt x="135957" y="20626"/>
                  <a:pt x="137504" y="22172"/>
                  <a:pt x="137504" y="24063"/>
                </a:cubicBezTo>
                <a:lnTo>
                  <a:pt x="137504" y="41251"/>
                </a:lnTo>
                <a:lnTo>
                  <a:pt x="82502" y="41251"/>
                </a:lnTo>
                <a:lnTo>
                  <a:pt x="82502" y="24063"/>
                </a:lnTo>
                <a:cubicBezTo>
                  <a:pt x="82502" y="22172"/>
                  <a:pt x="84049" y="20626"/>
                  <a:pt x="85940" y="20626"/>
                </a:cubicBezTo>
                <a:close/>
                <a:moveTo>
                  <a:pt x="61877" y="24063"/>
                </a:moveTo>
                <a:lnTo>
                  <a:pt x="61877" y="41251"/>
                </a:lnTo>
                <a:lnTo>
                  <a:pt x="27501" y="41251"/>
                </a:lnTo>
                <a:cubicBezTo>
                  <a:pt x="12332" y="41251"/>
                  <a:pt x="0" y="53583"/>
                  <a:pt x="0" y="68752"/>
                </a:cubicBezTo>
                <a:lnTo>
                  <a:pt x="0" y="110003"/>
                </a:lnTo>
                <a:lnTo>
                  <a:pt x="220006" y="110003"/>
                </a:lnTo>
                <a:lnTo>
                  <a:pt x="220006" y="68752"/>
                </a:lnTo>
                <a:cubicBezTo>
                  <a:pt x="220006" y="53583"/>
                  <a:pt x="207674" y="41251"/>
                  <a:pt x="192505" y="41251"/>
                </a:cubicBezTo>
                <a:lnTo>
                  <a:pt x="158129" y="41251"/>
                </a:lnTo>
                <a:lnTo>
                  <a:pt x="158129" y="24063"/>
                </a:lnTo>
                <a:cubicBezTo>
                  <a:pt x="158129" y="10785"/>
                  <a:pt x="147344" y="0"/>
                  <a:pt x="134066" y="0"/>
                </a:cubicBezTo>
                <a:lnTo>
                  <a:pt x="85940" y="0"/>
                </a:lnTo>
                <a:cubicBezTo>
                  <a:pt x="72662" y="0"/>
                  <a:pt x="61877" y="10785"/>
                  <a:pt x="61877" y="24063"/>
                </a:cubicBezTo>
                <a:close/>
                <a:moveTo>
                  <a:pt x="220006" y="130629"/>
                </a:moveTo>
                <a:lnTo>
                  <a:pt x="137504" y="130629"/>
                </a:lnTo>
                <a:lnTo>
                  <a:pt x="137504" y="137504"/>
                </a:lnTo>
                <a:cubicBezTo>
                  <a:pt x="137504" y="145109"/>
                  <a:pt x="131359" y="151254"/>
                  <a:pt x="123753" y="151254"/>
                </a:cubicBezTo>
                <a:lnTo>
                  <a:pt x="96253" y="151254"/>
                </a:lnTo>
                <a:cubicBezTo>
                  <a:pt x="88647" y="151254"/>
                  <a:pt x="82502" y="145109"/>
                  <a:pt x="82502" y="137504"/>
                </a:cubicBezTo>
                <a:lnTo>
                  <a:pt x="82502" y="130629"/>
                </a:lnTo>
                <a:lnTo>
                  <a:pt x="0" y="130629"/>
                </a:lnTo>
                <a:lnTo>
                  <a:pt x="0" y="178755"/>
                </a:lnTo>
                <a:cubicBezTo>
                  <a:pt x="0" y="193923"/>
                  <a:pt x="12332" y="206256"/>
                  <a:pt x="27501" y="206256"/>
                </a:cubicBezTo>
                <a:lnTo>
                  <a:pt x="192505" y="206256"/>
                </a:lnTo>
                <a:cubicBezTo>
                  <a:pt x="207674" y="206256"/>
                  <a:pt x="220006" y="193923"/>
                  <a:pt x="220006" y="178755"/>
                </a:cubicBezTo>
                <a:lnTo>
                  <a:pt x="220006" y="130629"/>
                </a:lnTo>
                <a:close/>
              </a:path>
            </a:pathLst>
          </a:custGeom>
          <a:solidFill>
            <a:srgbClr val="2E4057"/>
          </a:solidFill>
          <a:ln/>
        </p:spPr>
        <p:txBody>
          <a:bodyPr/>
          <a:lstStyle/>
          <a:p>
            <a:endParaRPr lang="zh-CN" altLang="en-US"/>
          </a:p>
        </p:txBody>
      </p:sp>
      <p:sp>
        <p:nvSpPr>
          <p:cNvPr id="10" name="Text 7">
            <a:extLst>
              <a:ext uri="{FF2B5EF4-FFF2-40B4-BE49-F238E27FC236}">
                <a16:creationId xmlns:a16="http://schemas.microsoft.com/office/drawing/2014/main" id="{2DCFD70E-056B-CD26-C781-AC64ECCA296B}"/>
              </a:ext>
            </a:extLst>
          </p:cNvPr>
          <p:cNvSpPr/>
          <p:nvPr/>
        </p:nvSpPr>
        <p:spPr>
          <a:xfrm>
            <a:off x="7937746" y="1931028"/>
            <a:ext cx="1549209"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Gender</a:t>
            </a:r>
            <a:endParaRPr lang="en-US" sz="1600" dirty="0"/>
          </a:p>
        </p:txBody>
      </p:sp>
      <p:sp>
        <p:nvSpPr>
          <p:cNvPr id="11" name="Text 8">
            <a:extLst>
              <a:ext uri="{FF2B5EF4-FFF2-40B4-BE49-F238E27FC236}">
                <a16:creationId xmlns:a16="http://schemas.microsoft.com/office/drawing/2014/main" id="{0281B136-87FB-5663-48D9-F529C98397EA}"/>
              </a:ext>
            </a:extLst>
          </p:cNvPr>
          <p:cNvSpPr/>
          <p:nvPr/>
        </p:nvSpPr>
        <p:spPr>
          <a:xfrm>
            <a:off x="7555833" y="2455722"/>
            <a:ext cx="4161780" cy="476680"/>
          </a:xfrm>
          <a:prstGeom prst="rect">
            <a:avLst/>
          </a:prstGeom>
          <a:noFill/>
          <a:ln/>
        </p:spPr>
        <p:txBody>
          <a:bodyPr wrap="square" lIns="0" tIns="0" rIns="0" bIns="0" rtlCol="0" anchor="ctr"/>
          <a:lstStyle/>
          <a:p>
            <a:pPr>
              <a:lnSpc>
                <a:spcPct val="140000"/>
              </a:lnSpc>
            </a:pPr>
            <a:r>
              <a:rPr lang="en-US" sz="1155" dirty="0">
                <a:solidFill>
                  <a:srgbClr val="2D3748"/>
                </a:solidFill>
                <a:latin typeface="Liter" pitchFamily="34" charset="0"/>
                <a:ea typeface="Liter" pitchFamily="34" charset="-122"/>
                <a:cs typeface="Liter" pitchFamily="34" charset="-120"/>
              </a:rPr>
              <a:t>Higher education levels are associated with larger typical credit amounts; gender differences are </a:t>
            </a:r>
            <a:r>
              <a:rPr lang="en-US" sz="1155" b="1" dirty="0">
                <a:solidFill>
                  <a:srgbClr val="2D3748"/>
                </a:solidFill>
                <a:latin typeface="Liter" pitchFamily="34" charset="0"/>
                <a:ea typeface="Liter" pitchFamily="34" charset="-122"/>
                <a:cs typeface="Liter" pitchFamily="34" charset="-120"/>
              </a:rPr>
              <a:t>minor</a:t>
            </a:r>
            <a:r>
              <a:rPr lang="en-US" sz="1155" dirty="0">
                <a:solidFill>
                  <a:srgbClr val="2D3748"/>
                </a:solidFill>
                <a:latin typeface="Liter" pitchFamily="34" charset="0"/>
                <a:ea typeface="Liter" pitchFamily="34" charset="-122"/>
                <a:cs typeface="Liter" pitchFamily="34" charset="-120"/>
              </a:rPr>
              <a:t> relative to education differences.</a:t>
            </a:r>
            <a:endParaRPr lang="en-US" sz="1600" dirty="0"/>
          </a:p>
        </p:txBody>
      </p:sp>
      <p:sp>
        <p:nvSpPr>
          <p:cNvPr id="14" name="Shape 11">
            <a:extLst>
              <a:ext uri="{FF2B5EF4-FFF2-40B4-BE49-F238E27FC236}">
                <a16:creationId xmlns:a16="http://schemas.microsoft.com/office/drawing/2014/main" id="{434DF2A7-A7BA-A2F0-F6BF-F81B10CE0189}"/>
              </a:ext>
            </a:extLst>
          </p:cNvPr>
          <p:cNvSpPr/>
          <p:nvPr/>
        </p:nvSpPr>
        <p:spPr>
          <a:xfrm>
            <a:off x="7386604" y="3515584"/>
            <a:ext cx="4400120" cy="1534872"/>
          </a:xfrm>
          <a:custGeom>
            <a:avLst/>
            <a:gdLst/>
            <a:ahLst/>
            <a:cxnLst/>
            <a:rect l="l" t="t" r="r" b="b"/>
            <a:pathLst>
              <a:path w="4400120" h="2255062">
                <a:moveTo>
                  <a:pt x="36668" y="0"/>
                </a:moveTo>
                <a:lnTo>
                  <a:pt x="4326786" y="0"/>
                </a:lnTo>
                <a:cubicBezTo>
                  <a:pt x="4367287" y="0"/>
                  <a:pt x="4400120" y="32833"/>
                  <a:pt x="4400120" y="73335"/>
                </a:cubicBezTo>
                <a:lnTo>
                  <a:pt x="4400120" y="2181727"/>
                </a:lnTo>
                <a:cubicBezTo>
                  <a:pt x="4400120" y="2222202"/>
                  <a:pt x="4367260" y="2255062"/>
                  <a:pt x="4326786" y="2255062"/>
                </a:cubicBezTo>
                <a:lnTo>
                  <a:pt x="36668" y="2255062"/>
                </a:lnTo>
                <a:cubicBezTo>
                  <a:pt x="16417" y="2255062"/>
                  <a:pt x="0" y="2238645"/>
                  <a:pt x="0" y="2218394"/>
                </a:cubicBezTo>
                <a:lnTo>
                  <a:pt x="0" y="36668"/>
                </a:lnTo>
                <a:cubicBezTo>
                  <a:pt x="0" y="16430"/>
                  <a:pt x="16430" y="0"/>
                  <a:pt x="36668" y="0"/>
                </a:cubicBezTo>
                <a:close/>
              </a:path>
            </a:pathLst>
          </a:custGeom>
          <a:solidFill>
            <a:srgbClr val="FFFFFF"/>
          </a:solidFill>
          <a:ln/>
          <a:effectLst>
            <a:outerShdw blurRad="27501" dist="9167" dir="5400000" algn="bl" rotWithShape="0">
              <a:srgbClr val="000000">
                <a:alpha val="10196"/>
              </a:srgbClr>
            </a:outerShdw>
          </a:effectLst>
        </p:spPr>
        <p:txBody>
          <a:bodyPr/>
          <a:lstStyle/>
          <a:p>
            <a:endParaRPr lang="zh-CN" altLang="en-US"/>
          </a:p>
        </p:txBody>
      </p:sp>
      <p:sp>
        <p:nvSpPr>
          <p:cNvPr id="15" name="Shape 12">
            <a:extLst>
              <a:ext uri="{FF2B5EF4-FFF2-40B4-BE49-F238E27FC236}">
                <a16:creationId xmlns:a16="http://schemas.microsoft.com/office/drawing/2014/main" id="{310E6F98-3996-EF7D-37EF-D8A3026A899F}"/>
              </a:ext>
            </a:extLst>
          </p:cNvPr>
          <p:cNvSpPr/>
          <p:nvPr/>
        </p:nvSpPr>
        <p:spPr>
          <a:xfrm>
            <a:off x="7386604" y="3515584"/>
            <a:ext cx="46194" cy="1534872"/>
          </a:xfrm>
          <a:custGeom>
            <a:avLst/>
            <a:gdLst/>
            <a:ahLst/>
            <a:cxnLst/>
            <a:rect l="l" t="t" r="r" b="b"/>
            <a:pathLst>
              <a:path w="36668" h="2255062">
                <a:moveTo>
                  <a:pt x="36668" y="0"/>
                </a:moveTo>
                <a:lnTo>
                  <a:pt x="36668" y="0"/>
                </a:lnTo>
                <a:lnTo>
                  <a:pt x="36668" y="2255062"/>
                </a:lnTo>
                <a:lnTo>
                  <a:pt x="36668" y="2255062"/>
                </a:lnTo>
                <a:cubicBezTo>
                  <a:pt x="16417" y="2255062"/>
                  <a:pt x="0" y="2238645"/>
                  <a:pt x="0" y="2218394"/>
                </a:cubicBezTo>
                <a:lnTo>
                  <a:pt x="0" y="36668"/>
                </a:lnTo>
                <a:cubicBezTo>
                  <a:pt x="0" y="16430"/>
                  <a:pt x="16430" y="0"/>
                  <a:pt x="36668" y="0"/>
                </a:cubicBezTo>
                <a:close/>
              </a:path>
            </a:pathLst>
          </a:custGeom>
          <a:solidFill>
            <a:srgbClr val="C0A062"/>
          </a:solidFill>
          <a:ln/>
        </p:spPr>
        <p:txBody>
          <a:bodyPr/>
          <a:lstStyle/>
          <a:p>
            <a:endParaRPr lang="zh-CN" altLang="en-US"/>
          </a:p>
        </p:txBody>
      </p:sp>
      <p:sp>
        <p:nvSpPr>
          <p:cNvPr id="16" name="Shape 13">
            <a:extLst>
              <a:ext uri="{FF2B5EF4-FFF2-40B4-BE49-F238E27FC236}">
                <a16:creationId xmlns:a16="http://schemas.microsoft.com/office/drawing/2014/main" id="{E27DB2E2-E800-E066-5454-DD7BCC492C5D}"/>
              </a:ext>
            </a:extLst>
          </p:cNvPr>
          <p:cNvSpPr/>
          <p:nvPr/>
        </p:nvSpPr>
        <p:spPr>
          <a:xfrm>
            <a:off x="7580236" y="3666479"/>
            <a:ext cx="137504" cy="220006"/>
          </a:xfrm>
          <a:custGeom>
            <a:avLst/>
            <a:gdLst/>
            <a:ahLst/>
            <a:cxnLst/>
            <a:rect l="l" t="t" r="r" b="b"/>
            <a:pathLst>
              <a:path w="137504" h="220006">
                <a:moveTo>
                  <a:pt x="58439" y="10313"/>
                </a:moveTo>
                <a:cubicBezTo>
                  <a:pt x="58439" y="4598"/>
                  <a:pt x="63037" y="0"/>
                  <a:pt x="68752" y="0"/>
                </a:cubicBezTo>
                <a:cubicBezTo>
                  <a:pt x="74467" y="0"/>
                  <a:pt x="79065" y="4598"/>
                  <a:pt x="79065" y="10313"/>
                </a:cubicBezTo>
                <a:lnTo>
                  <a:pt x="79065" y="27501"/>
                </a:lnTo>
                <a:lnTo>
                  <a:pt x="103128" y="27501"/>
                </a:lnTo>
                <a:cubicBezTo>
                  <a:pt x="110733" y="27501"/>
                  <a:pt x="116878" y="33645"/>
                  <a:pt x="116878" y="41251"/>
                </a:cubicBezTo>
                <a:cubicBezTo>
                  <a:pt x="116878" y="48857"/>
                  <a:pt x="110733" y="55002"/>
                  <a:pt x="103128" y="55002"/>
                </a:cubicBezTo>
                <a:lnTo>
                  <a:pt x="53755" y="55002"/>
                </a:lnTo>
                <a:cubicBezTo>
                  <a:pt x="43056" y="55002"/>
                  <a:pt x="34376" y="63681"/>
                  <a:pt x="34376" y="74381"/>
                </a:cubicBezTo>
                <a:cubicBezTo>
                  <a:pt x="34376" y="84049"/>
                  <a:pt x="41466" y="92213"/>
                  <a:pt x="51005" y="93588"/>
                </a:cubicBezTo>
                <a:lnTo>
                  <a:pt x="90366" y="99218"/>
                </a:lnTo>
                <a:cubicBezTo>
                  <a:pt x="113484" y="102526"/>
                  <a:pt x="130629" y="122292"/>
                  <a:pt x="130629" y="145625"/>
                </a:cubicBezTo>
                <a:cubicBezTo>
                  <a:pt x="130629" y="171536"/>
                  <a:pt x="109616" y="192505"/>
                  <a:pt x="83748" y="192505"/>
                </a:cubicBezTo>
                <a:lnTo>
                  <a:pt x="79065" y="192505"/>
                </a:lnTo>
                <a:lnTo>
                  <a:pt x="79065" y="209693"/>
                </a:lnTo>
                <a:cubicBezTo>
                  <a:pt x="79065" y="215408"/>
                  <a:pt x="74467" y="220006"/>
                  <a:pt x="68752" y="220006"/>
                </a:cubicBezTo>
                <a:cubicBezTo>
                  <a:pt x="63037" y="220006"/>
                  <a:pt x="58439" y="215408"/>
                  <a:pt x="58439" y="209693"/>
                </a:cubicBezTo>
                <a:lnTo>
                  <a:pt x="58439" y="192505"/>
                </a:lnTo>
                <a:lnTo>
                  <a:pt x="27501" y="192505"/>
                </a:lnTo>
                <a:cubicBezTo>
                  <a:pt x="19895" y="192505"/>
                  <a:pt x="13750" y="186361"/>
                  <a:pt x="13750" y="178755"/>
                </a:cubicBezTo>
                <a:cubicBezTo>
                  <a:pt x="13750" y="171149"/>
                  <a:pt x="19895" y="165005"/>
                  <a:pt x="27501" y="165005"/>
                </a:cubicBezTo>
                <a:lnTo>
                  <a:pt x="83748" y="165005"/>
                </a:lnTo>
                <a:cubicBezTo>
                  <a:pt x="94448" y="165005"/>
                  <a:pt x="103128" y="156325"/>
                  <a:pt x="103128" y="145625"/>
                </a:cubicBezTo>
                <a:cubicBezTo>
                  <a:pt x="103128" y="135957"/>
                  <a:pt x="96038" y="127793"/>
                  <a:pt x="86498" y="126418"/>
                </a:cubicBezTo>
                <a:lnTo>
                  <a:pt x="47138" y="120788"/>
                </a:lnTo>
                <a:cubicBezTo>
                  <a:pt x="24020" y="117523"/>
                  <a:pt x="6875" y="97714"/>
                  <a:pt x="6875" y="74381"/>
                </a:cubicBezTo>
                <a:cubicBezTo>
                  <a:pt x="6875" y="48513"/>
                  <a:pt x="27887" y="27501"/>
                  <a:pt x="53755" y="27501"/>
                </a:cubicBezTo>
                <a:lnTo>
                  <a:pt x="58439" y="27501"/>
                </a:lnTo>
                <a:lnTo>
                  <a:pt x="58439" y="10313"/>
                </a:lnTo>
                <a:close/>
              </a:path>
            </a:pathLst>
          </a:custGeom>
          <a:solidFill>
            <a:srgbClr val="C0A062"/>
          </a:solidFill>
          <a:ln/>
        </p:spPr>
        <p:txBody>
          <a:bodyPr/>
          <a:lstStyle/>
          <a:p>
            <a:endParaRPr lang="zh-CN" altLang="en-US"/>
          </a:p>
        </p:txBody>
      </p:sp>
      <p:sp>
        <p:nvSpPr>
          <p:cNvPr id="17" name="Text 14">
            <a:extLst>
              <a:ext uri="{FF2B5EF4-FFF2-40B4-BE49-F238E27FC236}">
                <a16:creationId xmlns:a16="http://schemas.microsoft.com/office/drawing/2014/main" id="{F3B16DB1-85BE-DA10-0186-4A8118576F5B}"/>
              </a:ext>
            </a:extLst>
          </p:cNvPr>
          <p:cNvSpPr/>
          <p:nvPr/>
        </p:nvSpPr>
        <p:spPr>
          <a:xfrm>
            <a:off x="7896495" y="3648145"/>
            <a:ext cx="1219200" cy="256674"/>
          </a:xfrm>
          <a:prstGeom prst="rect">
            <a:avLst/>
          </a:prstGeom>
          <a:noFill/>
          <a:ln/>
        </p:spPr>
        <p:txBody>
          <a:bodyPr wrap="square" lIns="0" tIns="0" rIns="0" bIns="0" rtlCol="0" anchor="ctr"/>
          <a:lstStyle/>
          <a:p>
            <a:pPr>
              <a:lnSpc>
                <a:spcPct val="130000"/>
              </a:lnSpc>
            </a:pPr>
            <a:r>
              <a:rPr lang="en-US" sz="1299" b="1" dirty="0">
                <a:solidFill>
                  <a:srgbClr val="2E4057"/>
                </a:solidFill>
                <a:latin typeface="Liter" pitchFamily="34" charset="0"/>
                <a:ea typeface="Liter" pitchFamily="34" charset="-122"/>
                <a:cs typeface="Liter" pitchFamily="34" charset="-120"/>
              </a:rPr>
              <a:t>Income Overlap</a:t>
            </a:r>
            <a:endParaRPr lang="en-US" sz="1600" dirty="0"/>
          </a:p>
        </p:txBody>
      </p:sp>
      <p:sp>
        <p:nvSpPr>
          <p:cNvPr id="21" name="Shape 18">
            <a:extLst>
              <a:ext uri="{FF2B5EF4-FFF2-40B4-BE49-F238E27FC236}">
                <a16:creationId xmlns:a16="http://schemas.microsoft.com/office/drawing/2014/main" id="{AA80AC21-9F67-8B6E-41E6-0D38989BEA87}"/>
              </a:ext>
            </a:extLst>
          </p:cNvPr>
          <p:cNvSpPr/>
          <p:nvPr/>
        </p:nvSpPr>
        <p:spPr>
          <a:xfrm>
            <a:off x="7420261" y="5291184"/>
            <a:ext cx="4418454" cy="1410977"/>
          </a:xfrm>
          <a:custGeom>
            <a:avLst/>
            <a:gdLst/>
            <a:ahLst/>
            <a:cxnLst/>
            <a:rect l="l" t="t" r="r" b="b"/>
            <a:pathLst>
              <a:path w="4418454" h="1063362">
                <a:moveTo>
                  <a:pt x="73340" y="0"/>
                </a:moveTo>
                <a:lnTo>
                  <a:pt x="4345114" y="0"/>
                </a:lnTo>
                <a:cubicBezTo>
                  <a:pt x="4385619" y="0"/>
                  <a:pt x="4418454" y="32835"/>
                  <a:pt x="4418454" y="73340"/>
                </a:cubicBezTo>
                <a:lnTo>
                  <a:pt x="4418454" y="990022"/>
                </a:lnTo>
                <a:cubicBezTo>
                  <a:pt x="4418454" y="1030527"/>
                  <a:pt x="4385619" y="1063362"/>
                  <a:pt x="4345114" y="1063362"/>
                </a:cubicBezTo>
                <a:lnTo>
                  <a:pt x="73340" y="1063362"/>
                </a:lnTo>
                <a:cubicBezTo>
                  <a:pt x="32835" y="1063362"/>
                  <a:pt x="0" y="1030527"/>
                  <a:pt x="0" y="990022"/>
                </a:cubicBezTo>
                <a:lnTo>
                  <a:pt x="0" y="73340"/>
                </a:lnTo>
                <a:cubicBezTo>
                  <a:pt x="0" y="32863"/>
                  <a:pt x="32863" y="0"/>
                  <a:pt x="73340" y="0"/>
                </a:cubicBezTo>
                <a:close/>
              </a:path>
            </a:pathLst>
          </a:custGeom>
          <a:solidFill>
            <a:srgbClr val="2E4057"/>
          </a:solidFill>
          <a:ln/>
        </p:spPr>
        <p:txBody>
          <a:bodyPr/>
          <a:lstStyle/>
          <a:p>
            <a:endParaRPr lang="zh-CN" altLang="en-US"/>
          </a:p>
        </p:txBody>
      </p:sp>
      <p:sp>
        <p:nvSpPr>
          <p:cNvPr id="22" name="Shape 19">
            <a:extLst>
              <a:ext uri="{FF2B5EF4-FFF2-40B4-BE49-F238E27FC236}">
                <a16:creationId xmlns:a16="http://schemas.microsoft.com/office/drawing/2014/main" id="{167DBD0B-5427-7528-55CF-198567049AE2}"/>
              </a:ext>
            </a:extLst>
          </p:cNvPr>
          <p:cNvSpPr/>
          <p:nvPr/>
        </p:nvSpPr>
        <p:spPr>
          <a:xfrm>
            <a:off x="7542849" y="5553685"/>
            <a:ext cx="206256" cy="183338"/>
          </a:xfrm>
          <a:custGeom>
            <a:avLst/>
            <a:gdLst/>
            <a:ahLst/>
            <a:cxnLst/>
            <a:rect l="l" t="t" r="r" b="b"/>
            <a:pathLst>
              <a:path w="206256" h="183338">
                <a:moveTo>
                  <a:pt x="110827" y="-6768"/>
                </a:moveTo>
                <a:cubicBezTo>
                  <a:pt x="109358" y="-9632"/>
                  <a:pt x="106386" y="-11459"/>
                  <a:pt x="103164" y="-11459"/>
                </a:cubicBezTo>
                <a:cubicBezTo>
                  <a:pt x="99941" y="-11459"/>
                  <a:pt x="96969" y="-9632"/>
                  <a:pt x="95501" y="-6768"/>
                </a:cubicBezTo>
                <a:lnTo>
                  <a:pt x="69146" y="44868"/>
                </a:lnTo>
                <a:lnTo>
                  <a:pt x="11888" y="53963"/>
                </a:lnTo>
                <a:cubicBezTo>
                  <a:pt x="8701" y="54464"/>
                  <a:pt x="6052" y="56720"/>
                  <a:pt x="5049" y="59800"/>
                </a:cubicBezTo>
                <a:cubicBezTo>
                  <a:pt x="4046" y="62879"/>
                  <a:pt x="4870" y="66245"/>
                  <a:pt x="7126" y="68537"/>
                </a:cubicBezTo>
                <a:lnTo>
                  <a:pt x="48091" y="109537"/>
                </a:lnTo>
                <a:lnTo>
                  <a:pt x="39067" y="166795"/>
                </a:lnTo>
                <a:cubicBezTo>
                  <a:pt x="38566" y="169982"/>
                  <a:pt x="39890" y="173205"/>
                  <a:pt x="42504" y="175102"/>
                </a:cubicBezTo>
                <a:cubicBezTo>
                  <a:pt x="45118" y="177000"/>
                  <a:pt x="48556" y="177287"/>
                  <a:pt x="51456" y="175819"/>
                </a:cubicBezTo>
                <a:lnTo>
                  <a:pt x="103164" y="149535"/>
                </a:lnTo>
                <a:lnTo>
                  <a:pt x="154835" y="175819"/>
                </a:lnTo>
                <a:cubicBezTo>
                  <a:pt x="157700" y="177287"/>
                  <a:pt x="161173" y="177000"/>
                  <a:pt x="163787" y="175102"/>
                </a:cubicBezTo>
                <a:cubicBezTo>
                  <a:pt x="166401" y="173205"/>
                  <a:pt x="167726" y="170018"/>
                  <a:pt x="167225" y="166795"/>
                </a:cubicBezTo>
                <a:lnTo>
                  <a:pt x="158165" y="109537"/>
                </a:lnTo>
                <a:lnTo>
                  <a:pt x="199130" y="68537"/>
                </a:lnTo>
                <a:cubicBezTo>
                  <a:pt x="201422" y="66245"/>
                  <a:pt x="202209" y="62879"/>
                  <a:pt x="201207" y="59800"/>
                </a:cubicBezTo>
                <a:cubicBezTo>
                  <a:pt x="200204" y="56720"/>
                  <a:pt x="197590" y="54464"/>
                  <a:pt x="194367" y="53963"/>
                </a:cubicBezTo>
                <a:lnTo>
                  <a:pt x="137146" y="44868"/>
                </a:lnTo>
                <a:lnTo>
                  <a:pt x="110827" y="-6768"/>
                </a:lnTo>
                <a:close/>
              </a:path>
            </a:pathLst>
          </a:custGeom>
          <a:solidFill>
            <a:srgbClr val="C0A062"/>
          </a:solidFill>
          <a:ln/>
        </p:spPr>
        <p:txBody>
          <a:bodyPr/>
          <a:lstStyle/>
          <a:p>
            <a:endParaRPr lang="zh-CN" altLang="en-US"/>
          </a:p>
        </p:txBody>
      </p:sp>
      <p:sp>
        <p:nvSpPr>
          <p:cNvPr id="23" name="Text 20">
            <a:extLst>
              <a:ext uri="{FF2B5EF4-FFF2-40B4-BE49-F238E27FC236}">
                <a16:creationId xmlns:a16="http://schemas.microsoft.com/office/drawing/2014/main" id="{F6200249-A9CF-DEC3-157F-142EB6E9C361}"/>
              </a:ext>
            </a:extLst>
          </p:cNvPr>
          <p:cNvSpPr/>
          <p:nvPr/>
        </p:nvSpPr>
        <p:spPr>
          <a:xfrm>
            <a:off x="7833899" y="5535351"/>
            <a:ext cx="1072529" cy="220006"/>
          </a:xfrm>
          <a:prstGeom prst="rect">
            <a:avLst/>
          </a:prstGeom>
          <a:noFill/>
          <a:ln/>
        </p:spPr>
        <p:txBody>
          <a:bodyPr wrap="square" lIns="0" tIns="0" rIns="0" bIns="0" rtlCol="0" anchor="ctr"/>
          <a:lstStyle/>
          <a:p>
            <a:pPr>
              <a:lnSpc>
                <a:spcPct val="130000"/>
              </a:lnSpc>
            </a:pPr>
            <a:r>
              <a:rPr lang="en-US" sz="1155" b="1" dirty="0">
                <a:solidFill>
                  <a:srgbClr val="FFFFFF"/>
                </a:solidFill>
                <a:latin typeface="Liter" pitchFamily="34" charset="0"/>
                <a:ea typeface="Liter" pitchFamily="34" charset="-122"/>
                <a:cs typeface="Liter" pitchFamily="34" charset="-120"/>
              </a:rPr>
              <a:t>Key Conclusion</a:t>
            </a:r>
            <a:endParaRPr lang="en-US" sz="1600" dirty="0"/>
          </a:p>
        </p:txBody>
      </p:sp>
      <p:sp>
        <p:nvSpPr>
          <p:cNvPr id="25" name="Text 22">
            <a:extLst>
              <a:ext uri="{FF2B5EF4-FFF2-40B4-BE49-F238E27FC236}">
                <a16:creationId xmlns:a16="http://schemas.microsoft.com/office/drawing/2014/main" id="{9E2632FB-FAEE-EFBB-A517-A326E246C5BD}"/>
              </a:ext>
            </a:extLst>
          </p:cNvPr>
          <p:cNvSpPr/>
          <p:nvPr/>
        </p:nvSpPr>
        <p:spPr>
          <a:xfrm>
            <a:off x="7542396" y="5794638"/>
            <a:ext cx="4103814" cy="783770"/>
          </a:xfrm>
          <a:prstGeom prst="rect">
            <a:avLst/>
          </a:prstGeom>
          <a:noFill/>
          <a:ln/>
        </p:spPr>
        <p:txBody>
          <a:bodyPr wrap="square" lIns="73335" tIns="36668" rIns="73335" bIns="36668" rtlCol="0" anchor="ctr"/>
          <a:lstStyle/>
          <a:p>
            <a:pPr>
              <a:lnSpc>
                <a:spcPct val="140000"/>
              </a:lnSpc>
            </a:pPr>
            <a:r>
              <a:rPr lang="en-US" sz="1155" dirty="0">
                <a:solidFill>
                  <a:srgbClr val="FFFFFF"/>
                </a:solidFill>
                <a:latin typeface="Liter" pitchFamily="34" charset="0"/>
                <a:ea typeface="Liter" pitchFamily="34" charset="-122"/>
                <a:cs typeface="Liter" pitchFamily="34" charset="-120"/>
              </a:rPr>
              <a:t>Income type appears to explain more variation in financed goods price than gender differences.</a:t>
            </a:r>
          </a:p>
        </p:txBody>
      </p:sp>
      <p:pic>
        <p:nvPicPr>
          <p:cNvPr id="7170" name="Picture 2">
            <a:extLst>
              <a:ext uri="{FF2B5EF4-FFF2-40B4-BE49-F238E27FC236}">
                <a16:creationId xmlns:a16="http://schemas.microsoft.com/office/drawing/2014/main" id="{1A73038E-EE65-9E82-E84C-69AA64626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347" y="1540042"/>
            <a:ext cx="6523167" cy="230264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727C5690-62DF-E68F-81AC-86382339B1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954" y="4322168"/>
            <a:ext cx="6266151" cy="191248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3AA92FAB-30F5-8294-3ACA-6CC2F54854FA}"/>
              </a:ext>
            </a:extLst>
          </p:cNvPr>
          <p:cNvSpPr txBox="1"/>
          <p:nvPr/>
        </p:nvSpPr>
        <p:spPr>
          <a:xfrm>
            <a:off x="613047" y="3989619"/>
            <a:ext cx="6098058" cy="292259"/>
          </a:xfrm>
          <a:prstGeom prst="rect">
            <a:avLst/>
          </a:prstGeom>
          <a:noFill/>
        </p:spPr>
        <p:txBody>
          <a:bodyPr wrap="square">
            <a:spAutoFit/>
          </a:bodyPr>
          <a:lstStyle/>
          <a:p>
            <a:r>
              <a:rPr lang="zh-CN" altLang="en-US" sz="1299" b="1" dirty="0">
                <a:solidFill>
                  <a:srgbClr val="2E4057"/>
                </a:solidFill>
                <a:latin typeface="Liter" pitchFamily="34" charset="0"/>
              </a:rPr>
              <a:t>Income Type vs. Goods Price</a:t>
            </a:r>
          </a:p>
        </p:txBody>
      </p:sp>
      <p:sp>
        <p:nvSpPr>
          <p:cNvPr id="27" name="文本框 26">
            <a:extLst>
              <a:ext uri="{FF2B5EF4-FFF2-40B4-BE49-F238E27FC236}">
                <a16:creationId xmlns:a16="http://schemas.microsoft.com/office/drawing/2014/main" id="{42C5BBD3-0B79-5272-6342-002151D217A5}"/>
              </a:ext>
            </a:extLst>
          </p:cNvPr>
          <p:cNvSpPr txBox="1"/>
          <p:nvPr/>
        </p:nvSpPr>
        <p:spPr>
          <a:xfrm>
            <a:off x="7544733" y="4131078"/>
            <a:ext cx="4353926" cy="625556"/>
          </a:xfrm>
          <a:prstGeom prst="rect">
            <a:avLst/>
          </a:prstGeom>
          <a:noFill/>
        </p:spPr>
        <p:txBody>
          <a:bodyPr wrap="square">
            <a:spAutoFit/>
          </a:bodyPr>
          <a:lstStyle/>
          <a:p>
            <a:r>
              <a:rPr lang="zh-CN" altLang="en-US" sz="1155" dirty="0">
                <a:solidFill>
                  <a:srgbClr val="2D3748"/>
                </a:solidFill>
                <a:latin typeface="Liter" pitchFamily="34" charset="0"/>
              </a:rPr>
              <a:t>Income source differentiates financed goods price more than gender; business/commercial categories show higher typical goods price, while student/unemployed categories are lower.</a:t>
            </a:r>
          </a:p>
        </p:txBody>
      </p:sp>
      <p:sp>
        <p:nvSpPr>
          <p:cNvPr id="31" name="文本框 30">
            <a:extLst>
              <a:ext uri="{FF2B5EF4-FFF2-40B4-BE49-F238E27FC236}">
                <a16:creationId xmlns:a16="http://schemas.microsoft.com/office/drawing/2014/main" id="{0BDCFD73-4883-CF3A-4267-E207077E3793}"/>
              </a:ext>
            </a:extLst>
          </p:cNvPr>
          <p:cNvSpPr txBox="1"/>
          <p:nvPr/>
        </p:nvSpPr>
        <p:spPr>
          <a:xfrm>
            <a:off x="725072" y="6348838"/>
            <a:ext cx="6099716" cy="270074"/>
          </a:xfrm>
          <a:prstGeom prst="rect">
            <a:avLst/>
          </a:prstGeom>
          <a:noFill/>
        </p:spPr>
        <p:txBody>
          <a:bodyPr wrap="square">
            <a:spAutoFit/>
          </a:bodyPr>
          <a:lstStyle/>
          <a:p>
            <a:r>
              <a:rPr lang="en-US" altLang="zh-CN" sz="1155" dirty="0">
                <a:solidFill>
                  <a:srgbClr val="2D3748"/>
                </a:solidFill>
                <a:latin typeface="Liter" pitchFamily="34" charset="0"/>
              </a:rPr>
              <a:t>Minor data-quality issue: Small number of unknown-gender (“XNA”) records.</a:t>
            </a:r>
            <a:endParaRPr lang="zh-CN" altLang="en-US" sz="1155" dirty="0">
              <a:solidFill>
                <a:srgbClr val="2D3748"/>
              </a:solidFill>
              <a:latin typeface="Liter" pitchFamily="34" charset="0"/>
            </a:endParaRPr>
          </a:p>
        </p:txBody>
      </p:sp>
    </p:spTree>
    <p:extLst>
      <p:ext uri="{BB962C8B-B14F-4D97-AF65-F5344CB8AC3E}">
        <p14:creationId xmlns:p14="http://schemas.microsoft.com/office/powerpoint/2010/main" val="337121244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0A062"/>
                </a:solidFill>
                <a:latin typeface="Liter" pitchFamily="34" charset="0"/>
                <a:ea typeface="Liter" pitchFamily="34" charset="-122"/>
                <a:cs typeface="Liter" pitchFamily="34" charset="-120"/>
              </a:rPr>
              <a:t>08 • Business Implications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4057"/>
                </a:solidFill>
                <a:latin typeface="Liter" pitchFamily="34" charset="0"/>
                <a:ea typeface="Liter" pitchFamily="34" charset="-122"/>
                <a:cs typeface="Liter" pitchFamily="34" charset="-120"/>
              </a:rPr>
              <a:t>Actionable Recommendations</a:t>
            </a:r>
            <a:endParaRPr lang="en-US" sz="1600" dirty="0"/>
          </a:p>
        </p:txBody>
      </p:sp>
      <p:sp>
        <p:nvSpPr>
          <p:cNvPr id="4" name="Shape 2"/>
          <p:cNvSpPr/>
          <p:nvPr/>
        </p:nvSpPr>
        <p:spPr>
          <a:xfrm>
            <a:off x="400050" y="1104900"/>
            <a:ext cx="5638800" cy="2228850"/>
          </a:xfrm>
          <a:custGeom>
            <a:avLst/>
            <a:gdLst/>
            <a:ahLst/>
            <a:cxnLst/>
            <a:rect l="l" t="t" r="r" b="b"/>
            <a:pathLst>
              <a:path w="5638800" h="2228850">
                <a:moveTo>
                  <a:pt x="38100" y="0"/>
                </a:moveTo>
                <a:lnTo>
                  <a:pt x="5562596" y="0"/>
                </a:lnTo>
                <a:cubicBezTo>
                  <a:pt x="5604682" y="0"/>
                  <a:pt x="5638800" y="34118"/>
                  <a:pt x="5638800" y="76204"/>
                </a:cubicBezTo>
                <a:lnTo>
                  <a:pt x="5638800" y="2152646"/>
                </a:lnTo>
                <a:cubicBezTo>
                  <a:pt x="5638800" y="2194732"/>
                  <a:pt x="5604682" y="2228850"/>
                  <a:pt x="5562596" y="2228850"/>
                </a:cubicBezTo>
                <a:lnTo>
                  <a:pt x="38100" y="2228850"/>
                </a:lnTo>
                <a:cubicBezTo>
                  <a:pt x="17072" y="2228850"/>
                  <a:pt x="0" y="2211778"/>
                  <a:pt x="0" y="219075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5" name="Shape 3"/>
          <p:cNvSpPr/>
          <p:nvPr/>
        </p:nvSpPr>
        <p:spPr>
          <a:xfrm>
            <a:off x="400050" y="1104900"/>
            <a:ext cx="38100" cy="2228850"/>
          </a:xfrm>
          <a:custGeom>
            <a:avLst/>
            <a:gdLst/>
            <a:ahLst/>
            <a:cxnLst/>
            <a:rect l="l" t="t" r="r" b="b"/>
            <a:pathLst>
              <a:path w="38100" h="2228850">
                <a:moveTo>
                  <a:pt x="38100" y="0"/>
                </a:moveTo>
                <a:lnTo>
                  <a:pt x="38100" y="0"/>
                </a:lnTo>
                <a:lnTo>
                  <a:pt x="38100" y="2228850"/>
                </a:lnTo>
                <a:lnTo>
                  <a:pt x="38100" y="2228850"/>
                </a:lnTo>
                <a:cubicBezTo>
                  <a:pt x="17072" y="2228850"/>
                  <a:pt x="0" y="2211778"/>
                  <a:pt x="0" y="2190750"/>
                </a:cubicBezTo>
                <a:lnTo>
                  <a:pt x="0" y="38100"/>
                </a:lnTo>
                <a:cubicBezTo>
                  <a:pt x="0" y="17072"/>
                  <a:pt x="17072" y="0"/>
                  <a:pt x="38100" y="0"/>
                </a:cubicBezTo>
                <a:close/>
              </a:path>
            </a:pathLst>
          </a:custGeom>
          <a:solidFill>
            <a:srgbClr val="C0A062"/>
          </a:solidFill>
          <a:ln/>
        </p:spPr>
        <p:txBody>
          <a:bodyPr/>
          <a:lstStyle/>
          <a:p>
            <a:endParaRPr lang="zh-CN" altLang="en-US"/>
          </a:p>
        </p:txBody>
      </p:sp>
      <p:sp>
        <p:nvSpPr>
          <p:cNvPr id="6" name="Shape 4"/>
          <p:cNvSpPr/>
          <p:nvPr/>
        </p:nvSpPr>
        <p:spPr>
          <a:xfrm>
            <a:off x="571500" y="13620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0A062"/>
          </a:solidFill>
          <a:ln/>
        </p:spPr>
        <p:txBody>
          <a:bodyPr/>
          <a:lstStyle/>
          <a:p>
            <a:endParaRPr lang="zh-CN" altLang="en-US"/>
          </a:p>
        </p:txBody>
      </p:sp>
      <p:sp>
        <p:nvSpPr>
          <p:cNvPr id="7" name="Text 5"/>
          <p:cNvSpPr/>
          <p:nvPr/>
        </p:nvSpPr>
        <p:spPr>
          <a:xfrm>
            <a:off x="523875" y="13620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1</a:t>
            </a:r>
            <a:endParaRPr lang="en-US" sz="1600" dirty="0"/>
          </a:p>
        </p:txBody>
      </p:sp>
      <p:sp>
        <p:nvSpPr>
          <p:cNvPr id="8" name="Text 6"/>
          <p:cNvSpPr/>
          <p:nvPr/>
        </p:nvSpPr>
        <p:spPr>
          <a:xfrm>
            <a:off x="1143000" y="1362075"/>
            <a:ext cx="48291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Risk Segmentation Signals</a:t>
            </a:r>
            <a:endParaRPr lang="en-US" sz="1600" dirty="0"/>
          </a:p>
        </p:txBody>
      </p:sp>
      <p:sp>
        <p:nvSpPr>
          <p:cNvPr id="9" name="Text 7"/>
          <p:cNvSpPr/>
          <p:nvPr/>
        </p:nvSpPr>
        <p:spPr>
          <a:xfrm>
            <a:off x="1143000" y="1666875"/>
            <a:ext cx="4819650" cy="990600"/>
          </a:xfrm>
          <a:prstGeom prst="rect">
            <a:avLst/>
          </a:prstGeom>
          <a:noFill/>
          <a:ln/>
        </p:spPr>
        <p:txBody>
          <a:bodyPr wrap="square" lIns="0" tIns="0" rIns="0" bIns="0" rtlCol="0" anchor="ctr"/>
          <a:lstStyle/>
          <a:p>
            <a:pPr>
              <a:lnSpc>
                <a:spcPct val="140000"/>
              </a:lnSpc>
            </a:pPr>
            <a:r>
              <a:rPr lang="en-US" sz="1200" b="1" dirty="0">
                <a:solidFill>
                  <a:srgbClr val="2D3748"/>
                </a:solidFill>
                <a:latin typeface="Liter" pitchFamily="34" charset="0"/>
                <a:ea typeface="Liter" pitchFamily="34" charset="-122"/>
                <a:cs typeface="Liter" pitchFamily="34" charset="-120"/>
              </a:rPr>
              <a:t>Stability-related attributes</a:t>
            </a:r>
            <a:r>
              <a:rPr lang="en-US" sz="1200" dirty="0">
                <a:solidFill>
                  <a:srgbClr val="2D3748"/>
                </a:solidFill>
                <a:latin typeface="Liter" pitchFamily="34" charset="0"/>
                <a:ea typeface="Liter" pitchFamily="34" charset="-122"/>
                <a:cs typeface="Liter" pitchFamily="34" charset="-120"/>
              </a:rPr>
              <a:t> (employment tenure, education level, age) provide stronger separation between repayment groups than raw financial magnitudes. These variables should be prioritized in early screening rules.</a:t>
            </a:r>
            <a:endParaRPr lang="en-US" sz="1600" dirty="0"/>
          </a:p>
        </p:txBody>
      </p:sp>
      <p:sp>
        <p:nvSpPr>
          <p:cNvPr id="10" name="Shape 8"/>
          <p:cNvSpPr/>
          <p:nvPr/>
        </p:nvSpPr>
        <p:spPr>
          <a:xfrm>
            <a:off x="1143000" y="2733675"/>
            <a:ext cx="4743450" cy="342900"/>
          </a:xfrm>
          <a:custGeom>
            <a:avLst/>
            <a:gdLst/>
            <a:ahLst/>
            <a:cxnLst/>
            <a:rect l="l" t="t" r="r" b="b"/>
            <a:pathLst>
              <a:path w="4743450" h="342900">
                <a:moveTo>
                  <a:pt x="38100" y="0"/>
                </a:moveTo>
                <a:lnTo>
                  <a:pt x="4705350" y="0"/>
                </a:lnTo>
                <a:cubicBezTo>
                  <a:pt x="4726392" y="0"/>
                  <a:pt x="4743450" y="17058"/>
                  <a:pt x="4743450" y="38100"/>
                </a:cubicBezTo>
                <a:lnTo>
                  <a:pt x="4743450" y="304800"/>
                </a:lnTo>
                <a:cubicBezTo>
                  <a:pt x="4743450" y="325842"/>
                  <a:pt x="4726392" y="342900"/>
                  <a:pt x="4705350" y="342900"/>
                </a:cubicBezTo>
                <a:lnTo>
                  <a:pt x="38100" y="342900"/>
                </a:lnTo>
                <a:cubicBezTo>
                  <a:pt x="17058" y="342900"/>
                  <a:pt x="0" y="325842"/>
                  <a:pt x="0" y="304800"/>
                </a:cubicBezTo>
                <a:lnTo>
                  <a:pt x="0" y="38100"/>
                </a:lnTo>
                <a:cubicBezTo>
                  <a:pt x="0" y="17072"/>
                  <a:pt x="17072" y="0"/>
                  <a:pt x="38100" y="0"/>
                </a:cubicBezTo>
                <a:close/>
              </a:path>
            </a:pathLst>
          </a:custGeom>
          <a:solidFill>
            <a:srgbClr val="C0A062">
              <a:alpha val="10196"/>
            </a:srgbClr>
          </a:solidFill>
          <a:ln/>
        </p:spPr>
        <p:txBody>
          <a:bodyPr/>
          <a:lstStyle/>
          <a:p>
            <a:endParaRPr lang="zh-CN" altLang="en-US"/>
          </a:p>
        </p:txBody>
      </p:sp>
      <p:sp>
        <p:nvSpPr>
          <p:cNvPr id="11" name="Shape 9"/>
          <p:cNvSpPr/>
          <p:nvPr/>
        </p:nvSpPr>
        <p:spPr>
          <a:xfrm>
            <a:off x="1246584" y="283368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C0A062"/>
          </a:solidFill>
          <a:ln/>
        </p:spPr>
        <p:txBody>
          <a:bodyPr/>
          <a:lstStyle/>
          <a:p>
            <a:endParaRPr lang="zh-CN" altLang="en-US"/>
          </a:p>
        </p:txBody>
      </p:sp>
      <p:sp>
        <p:nvSpPr>
          <p:cNvPr id="12" name="Text 10"/>
          <p:cNvSpPr/>
          <p:nvPr/>
        </p:nvSpPr>
        <p:spPr>
          <a:xfrm>
            <a:off x="1447800" y="2809875"/>
            <a:ext cx="4429125" cy="190500"/>
          </a:xfrm>
          <a:prstGeom prst="rect">
            <a:avLst/>
          </a:prstGeom>
          <a:noFill/>
          <a:ln/>
        </p:spPr>
        <p:txBody>
          <a:bodyPr wrap="square" lIns="0" tIns="0" rIns="0" bIns="0" rtlCol="0" anchor="ctr"/>
          <a:lstStyle/>
          <a:p>
            <a:pPr>
              <a:lnSpc>
                <a:spcPct val="120000"/>
              </a:lnSpc>
            </a:pPr>
            <a:r>
              <a:rPr lang="en-US" sz="1050" b="1" dirty="0">
                <a:solidFill>
                  <a:srgbClr val="2D3748"/>
                </a:solidFill>
                <a:latin typeface="Liter" pitchFamily="34" charset="0"/>
                <a:ea typeface="Liter" pitchFamily="34" charset="-122"/>
                <a:cs typeface="Liter" pitchFamily="34" charset="-120"/>
              </a:rPr>
              <a:t>Action:</a:t>
            </a:r>
            <a:r>
              <a:rPr lang="en-US" sz="1050" dirty="0">
                <a:solidFill>
                  <a:srgbClr val="2D3748"/>
                </a:solidFill>
                <a:latin typeface="Liter" pitchFamily="34" charset="0"/>
                <a:ea typeface="Liter" pitchFamily="34" charset="-122"/>
                <a:cs typeface="Liter" pitchFamily="34" charset="-120"/>
              </a:rPr>
              <a:t> Implement education-based risk tiers and tenure thresholds</a:t>
            </a:r>
            <a:endParaRPr lang="en-US" sz="1600" dirty="0"/>
          </a:p>
        </p:txBody>
      </p:sp>
      <p:sp>
        <p:nvSpPr>
          <p:cNvPr id="13" name="Shape 11"/>
          <p:cNvSpPr/>
          <p:nvPr/>
        </p:nvSpPr>
        <p:spPr>
          <a:xfrm>
            <a:off x="400050" y="3448050"/>
            <a:ext cx="5638800" cy="2228850"/>
          </a:xfrm>
          <a:custGeom>
            <a:avLst/>
            <a:gdLst/>
            <a:ahLst/>
            <a:cxnLst/>
            <a:rect l="l" t="t" r="r" b="b"/>
            <a:pathLst>
              <a:path w="5638800" h="2228850">
                <a:moveTo>
                  <a:pt x="38100" y="0"/>
                </a:moveTo>
                <a:lnTo>
                  <a:pt x="5562596" y="0"/>
                </a:lnTo>
                <a:cubicBezTo>
                  <a:pt x="5604682" y="0"/>
                  <a:pt x="5638800" y="34118"/>
                  <a:pt x="5638800" y="76204"/>
                </a:cubicBezTo>
                <a:lnTo>
                  <a:pt x="5638800" y="2152646"/>
                </a:lnTo>
                <a:cubicBezTo>
                  <a:pt x="5638800" y="2194732"/>
                  <a:pt x="5604682" y="2228850"/>
                  <a:pt x="5562596" y="2228850"/>
                </a:cubicBezTo>
                <a:lnTo>
                  <a:pt x="38100" y="2228850"/>
                </a:lnTo>
                <a:cubicBezTo>
                  <a:pt x="17072" y="2228850"/>
                  <a:pt x="0" y="2211778"/>
                  <a:pt x="0" y="219075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14" name="Shape 12"/>
          <p:cNvSpPr/>
          <p:nvPr/>
        </p:nvSpPr>
        <p:spPr>
          <a:xfrm>
            <a:off x="400050" y="3448050"/>
            <a:ext cx="38100" cy="2228850"/>
          </a:xfrm>
          <a:custGeom>
            <a:avLst/>
            <a:gdLst/>
            <a:ahLst/>
            <a:cxnLst/>
            <a:rect l="l" t="t" r="r" b="b"/>
            <a:pathLst>
              <a:path w="38100" h="2228850">
                <a:moveTo>
                  <a:pt x="38100" y="0"/>
                </a:moveTo>
                <a:lnTo>
                  <a:pt x="38100" y="0"/>
                </a:lnTo>
                <a:lnTo>
                  <a:pt x="38100" y="2228850"/>
                </a:lnTo>
                <a:lnTo>
                  <a:pt x="38100" y="2228850"/>
                </a:lnTo>
                <a:cubicBezTo>
                  <a:pt x="17072" y="2228850"/>
                  <a:pt x="0" y="2211778"/>
                  <a:pt x="0" y="2190750"/>
                </a:cubicBezTo>
                <a:lnTo>
                  <a:pt x="0" y="38100"/>
                </a:lnTo>
                <a:cubicBezTo>
                  <a:pt x="0" y="17072"/>
                  <a:pt x="17072" y="0"/>
                  <a:pt x="38100" y="0"/>
                </a:cubicBezTo>
                <a:close/>
              </a:path>
            </a:pathLst>
          </a:custGeom>
          <a:solidFill>
            <a:srgbClr val="2E4057"/>
          </a:solidFill>
          <a:ln/>
        </p:spPr>
        <p:txBody>
          <a:bodyPr/>
          <a:lstStyle/>
          <a:p>
            <a:endParaRPr lang="zh-CN" altLang="en-US"/>
          </a:p>
        </p:txBody>
      </p:sp>
      <p:sp>
        <p:nvSpPr>
          <p:cNvPr id="15" name="Shape 13"/>
          <p:cNvSpPr/>
          <p:nvPr/>
        </p:nvSpPr>
        <p:spPr>
          <a:xfrm>
            <a:off x="571500" y="38290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E4057"/>
          </a:solidFill>
          <a:ln/>
        </p:spPr>
        <p:txBody>
          <a:bodyPr/>
          <a:lstStyle/>
          <a:p>
            <a:endParaRPr lang="zh-CN" altLang="en-US"/>
          </a:p>
        </p:txBody>
      </p:sp>
      <p:sp>
        <p:nvSpPr>
          <p:cNvPr id="16" name="Text 14"/>
          <p:cNvSpPr/>
          <p:nvPr/>
        </p:nvSpPr>
        <p:spPr>
          <a:xfrm>
            <a:off x="523875" y="38290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2</a:t>
            </a:r>
            <a:endParaRPr lang="en-US" sz="1600" dirty="0"/>
          </a:p>
        </p:txBody>
      </p:sp>
      <p:sp>
        <p:nvSpPr>
          <p:cNvPr id="17" name="Text 15"/>
          <p:cNvSpPr/>
          <p:nvPr/>
        </p:nvSpPr>
        <p:spPr>
          <a:xfrm>
            <a:off x="1143000" y="3829050"/>
            <a:ext cx="48291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Underwriting Alignment</a:t>
            </a:r>
            <a:endParaRPr lang="en-US" sz="1600" dirty="0"/>
          </a:p>
        </p:txBody>
      </p:sp>
      <p:sp>
        <p:nvSpPr>
          <p:cNvPr id="18" name="Text 16"/>
          <p:cNvSpPr/>
          <p:nvPr/>
        </p:nvSpPr>
        <p:spPr>
          <a:xfrm>
            <a:off x="1143000" y="4133850"/>
            <a:ext cx="4819650" cy="742950"/>
          </a:xfrm>
          <a:prstGeom prst="rect">
            <a:avLst/>
          </a:prstGeom>
          <a:noFill/>
          <a:ln/>
        </p:spPr>
        <p:txBody>
          <a:bodyPr wrap="square" lIns="0" tIns="0" rIns="0" bIns="0" rtlCol="0" anchor="ctr"/>
          <a:lstStyle/>
          <a:p>
            <a:pPr>
              <a:lnSpc>
                <a:spcPct val="140000"/>
              </a:lnSpc>
            </a:pPr>
            <a:r>
              <a:rPr lang="en-US" sz="1200" dirty="0">
                <a:solidFill>
                  <a:srgbClr val="2D3748"/>
                </a:solidFill>
                <a:latin typeface="Liter" pitchFamily="34" charset="0"/>
                <a:ea typeface="Liter" pitchFamily="34" charset="-122"/>
                <a:cs typeface="Liter" pitchFamily="34" charset="-120"/>
              </a:rPr>
              <a:t>Loan amounts appear income-aligned among reliable borrowers but not among defaulters. The near-zero correlations for defaulters suggest </a:t>
            </a:r>
            <a:r>
              <a:rPr lang="en-US" sz="1200" b="1" dirty="0">
                <a:solidFill>
                  <a:srgbClr val="2D3748"/>
                </a:solidFill>
                <a:highlight>
                  <a:srgbClr val="C0A062">
                    <a:alpha val="20000"/>
                  </a:srgbClr>
                </a:highlight>
                <a:latin typeface="Liter" pitchFamily="34" charset="0"/>
                <a:ea typeface="Liter" pitchFamily="34" charset="-122"/>
                <a:cs typeface="Liter" pitchFamily="34" charset="-120"/>
              </a:rPr>
              <a:t>underwriting misalignment </a:t>
            </a:r>
            <a:r>
              <a:rPr lang="en-US" sz="1200" dirty="0">
                <a:solidFill>
                  <a:srgbClr val="2D3748"/>
                </a:solidFill>
                <a:latin typeface="Liter" pitchFamily="34" charset="0"/>
                <a:ea typeface="Liter" pitchFamily="34" charset="-122"/>
                <a:cs typeface="Liter" pitchFamily="34" charset="-120"/>
              </a:rPr>
              <a:t>.</a:t>
            </a:r>
            <a:endParaRPr lang="en-US" sz="1600" dirty="0"/>
          </a:p>
        </p:txBody>
      </p:sp>
      <p:sp>
        <p:nvSpPr>
          <p:cNvPr id="19" name="Shape 17"/>
          <p:cNvSpPr/>
          <p:nvPr/>
        </p:nvSpPr>
        <p:spPr>
          <a:xfrm>
            <a:off x="1143000" y="4953000"/>
            <a:ext cx="4743450" cy="342900"/>
          </a:xfrm>
          <a:custGeom>
            <a:avLst/>
            <a:gdLst/>
            <a:ahLst/>
            <a:cxnLst/>
            <a:rect l="l" t="t" r="r" b="b"/>
            <a:pathLst>
              <a:path w="4743450" h="342900">
                <a:moveTo>
                  <a:pt x="38100" y="0"/>
                </a:moveTo>
                <a:lnTo>
                  <a:pt x="4705350" y="0"/>
                </a:lnTo>
                <a:cubicBezTo>
                  <a:pt x="4726392" y="0"/>
                  <a:pt x="4743450" y="17058"/>
                  <a:pt x="4743450" y="38100"/>
                </a:cubicBezTo>
                <a:lnTo>
                  <a:pt x="4743450" y="304800"/>
                </a:lnTo>
                <a:cubicBezTo>
                  <a:pt x="4743450" y="325842"/>
                  <a:pt x="4726392" y="342900"/>
                  <a:pt x="4705350" y="342900"/>
                </a:cubicBezTo>
                <a:lnTo>
                  <a:pt x="38100" y="342900"/>
                </a:lnTo>
                <a:cubicBezTo>
                  <a:pt x="17058" y="342900"/>
                  <a:pt x="0" y="325842"/>
                  <a:pt x="0" y="304800"/>
                </a:cubicBezTo>
                <a:lnTo>
                  <a:pt x="0" y="38100"/>
                </a:lnTo>
                <a:cubicBezTo>
                  <a:pt x="0" y="17072"/>
                  <a:pt x="17072" y="0"/>
                  <a:pt x="38100" y="0"/>
                </a:cubicBezTo>
                <a:close/>
              </a:path>
            </a:pathLst>
          </a:custGeom>
          <a:solidFill>
            <a:srgbClr val="2E4057">
              <a:alpha val="10196"/>
            </a:srgbClr>
          </a:solidFill>
          <a:ln/>
        </p:spPr>
        <p:txBody>
          <a:bodyPr/>
          <a:lstStyle/>
          <a:p>
            <a:endParaRPr lang="zh-CN" altLang="en-US"/>
          </a:p>
        </p:txBody>
      </p:sp>
      <p:sp>
        <p:nvSpPr>
          <p:cNvPr id="20" name="Shape 18"/>
          <p:cNvSpPr/>
          <p:nvPr/>
        </p:nvSpPr>
        <p:spPr>
          <a:xfrm>
            <a:off x="1246584" y="5053013"/>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2E4057"/>
          </a:solidFill>
          <a:ln/>
        </p:spPr>
        <p:txBody>
          <a:bodyPr/>
          <a:lstStyle/>
          <a:p>
            <a:endParaRPr lang="zh-CN" altLang="en-US"/>
          </a:p>
        </p:txBody>
      </p:sp>
      <p:sp>
        <p:nvSpPr>
          <p:cNvPr id="21" name="Text 19"/>
          <p:cNvSpPr/>
          <p:nvPr/>
        </p:nvSpPr>
        <p:spPr>
          <a:xfrm>
            <a:off x="1447800" y="5029200"/>
            <a:ext cx="4429125" cy="190500"/>
          </a:xfrm>
          <a:prstGeom prst="rect">
            <a:avLst/>
          </a:prstGeom>
          <a:noFill/>
          <a:ln/>
        </p:spPr>
        <p:txBody>
          <a:bodyPr wrap="square" lIns="0" tIns="0" rIns="0" bIns="0" rtlCol="0" anchor="ctr"/>
          <a:lstStyle/>
          <a:p>
            <a:pPr>
              <a:lnSpc>
                <a:spcPct val="120000"/>
              </a:lnSpc>
            </a:pPr>
            <a:r>
              <a:rPr lang="en-US" sz="1050" b="1" dirty="0">
                <a:solidFill>
                  <a:srgbClr val="2D3748"/>
                </a:solidFill>
                <a:latin typeface="Liter" pitchFamily="34" charset="0"/>
                <a:ea typeface="Liter" pitchFamily="34" charset="-122"/>
                <a:cs typeface="Liter" pitchFamily="34" charset="-120"/>
              </a:rPr>
              <a:t>Action:</a:t>
            </a:r>
            <a:r>
              <a:rPr lang="en-US" sz="1050" dirty="0">
                <a:solidFill>
                  <a:srgbClr val="2D3748"/>
                </a:solidFill>
                <a:latin typeface="Liter" pitchFamily="34" charset="0"/>
                <a:ea typeface="Liter" pitchFamily="34" charset="-122"/>
                <a:cs typeface="Liter" pitchFamily="34" charset="-120"/>
              </a:rPr>
              <a:t> Enforce income-consistency checks and debt-to-income limits</a:t>
            </a:r>
            <a:endParaRPr lang="en-US" sz="1600" dirty="0"/>
          </a:p>
        </p:txBody>
      </p:sp>
      <p:sp>
        <p:nvSpPr>
          <p:cNvPr id="22" name="Shape 20"/>
          <p:cNvSpPr/>
          <p:nvPr/>
        </p:nvSpPr>
        <p:spPr>
          <a:xfrm>
            <a:off x="6172200" y="1104900"/>
            <a:ext cx="5638800" cy="2228850"/>
          </a:xfrm>
          <a:custGeom>
            <a:avLst/>
            <a:gdLst/>
            <a:ahLst/>
            <a:cxnLst/>
            <a:rect l="l" t="t" r="r" b="b"/>
            <a:pathLst>
              <a:path w="5638800" h="2228850">
                <a:moveTo>
                  <a:pt x="38100" y="0"/>
                </a:moveTo>
                <a:lnTo>
                  <a:pt x="5562596" y="0"/>
                </a:lnTo>
                <a:cubicBezTo>
                  <a:pt x="5604682" y="0"/>
                  <a:pt x="5638800" y="34118"/>
                  <a:pt x="5638800" y="76204"/>
                </a:cubicBezTo>
                <a:lnTo>
                  <a:pt x="5638800" y="2152646"/>
                </a:lnTo>
                <a:cubicBezTo>
                  <a:pt x="5638800" y="2194732"/>
                  <a:pt x="5604682" y="2228850"/>
                  <a:pt x="5562596" y="2228850"/>
                </a:cubicBezTo>
                <a:lnTo>
                  <a:pt x="38100" y="2228850"/>
                </a:lnTo>
                <a:cubicBezTo>
                  <a:pt x="17072" y="2228850"/>
                  <a:pt x="0" y="2211778"/>
                  <a:pt x="0" y="219075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23" name="Shape 21"/>
          <p:cNvSpPr/>
          <p:nvPr/>
        </p:nvSpPr>
        <p:spPr>
          <a:xfrm>
            <a:off x="6172200" y="1104900"/>
            <a:ext cx="38100" cy="2228850"/>
          </a:xfrm>
          <a:custGeom>
            <a:avLst/>
            <a:gdLst/>
            <a:ahLst/>
            <a:cxnLst/>
            <a:rect l="l" t="t" r="r" b="b"/>
            <a:pathLst>
              <a:path w="38100" h="2228850">
                <a:moveTo>
                  <a:pt x="38100" y="0"/>
                </a:moveTo>
                <a:lnTo>
                  <a:pt x="38100" y="0"/>
                </a:lnTo>
                <a:lnTo>
                  <a:pt x="38100" y="2228850"/>
                </a:lnTo>
                <a:lnTo>
                  <a:pt x="38100" y="2228850"/>
                </a:lnTo>
                <a:cubicBezTo>
                  <a:pt x="17072" y="2228850"/>
                  <a:pt x="0" y="2211778"/>
                  <a:pt x="0" y="2190750"/>
                </a:cubicBezTo>
                <a:lnTo>
                  <a:pt x="0" y="38100"/>
                </a:lnTo>
                <a:cubicBezTo>
                  <a:pt x="0" y="17072"/>
                  <a:pt x="17072" y="0"/>
                  <a:pt x="38100" y="0"/>
                </a:cubicBezTo>
                <a:close/>
              </a:path>
            </a:pathLst>
          </a:custGeom>
          <a:solidFill>
            <a:srgbClr val="A0AEC0"/>
          </a:solidFill>
          <a:ln/>
        </p:spPr>
        <p:txBody>
          <a:bodyPr/>
          <a:lstStyle/>
          <a:p>
            <a:endParaRPr lang="zh-CN" altLang="en-US"/>
          </a:p>
        </p:txBody>
      </p:sp>
      <p:sp>
        <p:nvSpPr>
          <p:cNvPr id="24" name="Shape 22"/>
          <p:cNvSpPr/>
          <p:nvPr/>
        </p:nvSpPr>
        <p:spPr>
          <a:xfrm>
            <a:off x="6343650" y="14859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A0AEC0"/>
          </a:solidFill>
          <a:ln/>
        </p:spPr>
        <p:txBody>
          <a:bodyPr/>
          <a:lstStyle/>
          <a:p>
            <a:endParaRPr lang="zh-CN" altLang="en-US"/>
          </a:p>
        </p:txBody>
      </p:sp>
      <p:sp>
        <p:nvSpPr>
          <p:cNvPr id="25" name="Text 23"/>
          <p:cNvSpPr/>
          <p:nvPr/>
        </p:nvSpPr>
        <p:spPr>
          <a:xfrm>
            <a:off x="6296025" y="14859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3</a:t>
            </a:r>
            <a:endParaRPr lang="en-US" sz="1600" dirty="0"/>
          </a:p>
        </p:txBody>
      </p:sp>
      <p:sp>
        <p:nvSpPr>
          <p:cNvPr id="26" name="Text 24"/>
          <p:cNvSpPr/>
          <p:nvPr/>
        </p:nvSpPr>
        <p:spPr>
          <a:xfrm>
            <a:off x="6915150" y="1485900"/>
            <a:ext cx="48291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Feature Prioritization</a:t>
            </a:r>
            <a:endParaRPr lang="en-US" sz="1600" dirty="0"/>
          </a:p>
        </p:txBody>
      </p:sp>
      <p:sp>
        <p:nvSpPr>
          <p:cNvPr id="27" name="Text 25"/>
          <p:cNvSpPr/>
          <p:nvPr/>
        </p:nvSpPr>
        <p:spPr>
          <a:xfrm>
            <a:off x="6915150" y="1790700"/>
            <a:ext cx="4819650" cy="742950"/>
          </a:xfrm>
          <a:prstGeom prst="rect">
            <a:avLst/>
          </a:prstGeom>
          <a:noFill/>
          <a:ln/>
        </p:spPr>
        <p:txBody>
          <a:bodyPr wrap="square" lIns="0" tIns="0" rIns="0" bIns="0" rtlCol="0" anchor="ctr"/>
          <a:lstStyle/>
          <a:p>
            <a:pPr>
              <a:lnSpc>
                <a:spcPct val="140000"/>
              </a:lnSpc>
            </a:pPr>
            <a:r>
              <a:rPr lang="en-US" sz="1200" b="1" dirty="0">
                <a:solidFill>
                  <a:srgbClr val="2D3748"/>
                </a:solidFill>
                <a:highlight>
                  <a:srgbClr val="C0A062">
                    <a:alpha val="20000"/>
                  </a:srgbClr>
                </a:highlight>
                <a:latin typeface="Liter" pitchFamily="34" charset="0"/>
                <a:ea typeface="Liter" pitchFamily="34" charset="-122"/>
                <a:cs typeface="Liter" pitchFamily="34" charset="-120"/>
              </a:rPr>
              <a:t>Relative metrics </a:t>
            </a:r>
            <a:r>
              <a:rPr lang="en-US" sz="1200" dirty="0">
                <a:solidFill>
                  <a:srgbClr val="2D3748"/>
                </a:solidFill>
                <a:latin typeface="Liter" pitchFamily="34" charset="0"/>
                <a:ea typeface="Liter" pitchFamily="34" charset="-122"/>
                <a:cs typeface="Liter" pitchFamily="34" charset="-120"/>
              </a:rPr>
              <a:t>(e.g., loan-to-income ratio, tenure-income interactions) are likely more predictive than absolute values. Raw credit amounts showed limited discriminatory power.</a:t>
            </a:r>
            <a:endParaRPr lang="en-US" sz="1600" dirty="0"/>
          </a:p>
        </p:txBody>
      </p:sp>
      <p:sp>
        <p:nvSpPr>
          <p:cNvPr id="28" name="Shape 26"/>
          <p:cNvSpPr/>
          <p:nvPr/>
        </p:nvSpPr>
        <p:spPr>
          <a:xfrm>
            <a:off x="6915150" y="2609850"/>
            <a:ext cx="4743450" cy="342900"/>
          </a:xfrm>
          <a:custGeom>
            <a:avLst/>
            <a:gdLst/>
            <a:ahLst/>
            <a:cxnLst/>
            <a:rect l="l" t="t" r="r" b="b"/>
            <a:pathLst>
              <a:path w="4743450" h="342900">
                <a:moveTo>
                  <a:pt x="38100" y="0"/>
                </a:moveTo>
                <a:lnTo>
                  <a:pt x="4705350" y="0"/>
                </a:lnTo>
                <a:cubicBezTo>
                  <a:pt x="4726392" y="0"/>
                  <a:pt x="4743450" y="17058"/>
                  <a:pt x="4743450" y="38100"/>
                </a:cubicBezTo>
                <a:lnTo>
                  <a:pt x="4743450" y="304800"/>
                </a:lnTo>
                <a:cubicBezTo>
                  <a:pt x="4743450" y="325842"/>
                  <a:pt x="4726392" y="342900"/>
                  <a:pt x="4705350" y="342900"/>
                </a:cubicBezTo>
                <a:lnTo>
                  <a:pt x="38100" y="342900"/>
                </a:lnTo>
                <a:cubicBezTo>
                  <a:pt x="17058" y="342900"/>
                  <a:pt x="0" y="325842"/>
                  <a:pt x="0" y="304800"/>
                </a:cubicBezTo>
                <a:lnTo>
                  <a:pt x="0" y="38100"/>
                </a:lnTo>
                <a:cubicBezTo>
                  <a:pt x="0" y="17072"/>
                  <a:pt x="17072" y="0"/>
                  <a:pt x="38100" y="0"/>
                </a:cubicBezTo>
                <a:close/>
              </a:path>
            </a:pathLst>
          </a:custGeom>
          <a:solidFill>
            <a:srgbClr val="A0AEC0">
              <a:alpha val="10196"/>
            </a:srgbClr>
          </a:solidFill>
          <a:ln/>
        </p:spPr>
        <p:txBody>
          <a:bodyPr/>
          <a:lstStyle/>
          <a:p>
            <a:endParaRPr lang="zh-CN" altLang="en-US"/>
          </a:p>
        </p:txBody>
      </p:sp>
      <p:sp>
        <p:nvSpPr>
          <p:cNvPr id="29" name="Shape 27"/>
          <p:cNvSpPr/>
          <p:nvPr/>
        </p:nvSpPr>
        <p:spPr>
          <a:xfrm>
            <a:off x="7018734" y="2709863"/>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A0AEC0"/>
          </a:solidFill>
          <a:ln/>
        </p:spPr>
        <p:txBody>
          <a:bodyPr/>
          <a:lstStyle/>
          <a:p>
            <a:endParaRPr lang="zh-CN" altLang="en-US"/>
          </a:p>
        </p:txBody>
      </p:sp>
      <p:sp>
        <p:nvSpPr>
          <p:cNvPr id="30" name="Text 28"/>
          <p:cNvSpPr/>
          <p:nvPr/>
        </p:nvSpPr>
        <p:spPr>
          <a:xfrm>
            <a:off x="7219950" y="2686050"/>
            <a:ext cx="4429125" cy="190500"/>
          </a:xfrm>
          <a:prstGeom prst="rect">
            <a:avLst/>
          </a:prstGeom>
          <a:noFill/>
          <a:ln/>
        </p:spPr>
        <p:txBody>
          <a:bodyPr wrap="square" lIns="0" tIns="0" rIns="0" bIns="0" rtlCol="0" anchor="ctr"/>
          <a:lstStyle/>
          <a:p>
            <a:pPr>
              <a:lnSpc>
                <a:spcPct val="120000"/>
              </a:lnSpc>
            </a:pPr>
            <a:r>
              <a:rPr lang="en-US" sz="1050" b="1" dirty="0">
                <a:solidFill>
                  <a:srgbClr val="2D3748"/>
                </a:solidFill>
                <a:latin typeface="Liter" pitchFamily="34" charset="0"/>
                <a:ea typeface="Liter" pitchFamily="34" charset="-122"/>
                <a:cs typeface="Liter" pitchFamily="34" charset="-120"/>
              </a:rPr>
              <a:t>Action:</a:t>
            </a:r>
            <a:r>
              <a:rPr lang="en-US" sz="1050" dirty="0">
                <a:solidFill>
                  <a:srgbClr val="2D3748"/>
                </a:solidFill>
                <a:latin typeface="Liter" pitchFamily="34" charset="0"/>
                <a:ea typeface="Liter" pitchFamily="34" charset="-122"/>
                <a:cs typeface="Liter" pitchFamily="34" charset="-120"/>
              </a:rPr>
              <a:t> Engineer ratio-based features for scoring models</a:t>
            </a:r>
            <a:endParaRPr lang="en-US" sz="1600" dirty="0"/>
          </a:p>
        </p:txBody>
      </p:sp>
      <p:sp>
        <p:nvSpPr>
          <p:cNvPr id="31" name="Shape 29"/>
          <p:cNvSpPr/>
          <p:nvPr/>
        </p:nvSpPr>
        <p:spPr>
          <a:xfrm>
            <a:off x="6172200" y="3448050"/>
            <a:ext cx="5638800" cy="2228850"/>
          </a:xfrm>
          <a:custGeom>
            <a:avLst/>
            <a:gdLst/>
            <a:ahLst/>
            <a:cxnLst/>
            <a:rect l="l" t="t" r="r" b="b"/>
            <a:pathLst>
              <a:path w="5638800" h="2228850">
                <a:moveTo>
                  <a:pt x="38100" y="0"/>
                </a:moveTo>
                <a:lnTo>
                  <a:pt x="5562596" y="0"/>
                </a:lnTo>
                <a:cubicBezTo>
                  <a:pt x="5604682" y="0"/>
                  <a:pt x="5638800" y="34118"/>
                  <a:pt x="5638800" y="76204"/>
                </a:cubicBezTo>
                <a:lnTo>
                  <a:pt x="5638800" y="2152646"/>
                </a:lnTo>
                <a:cubicBezTo>
                  <a:pt x="5638800" y="2194732"/>
                  <a:pt x="5604682" y="2228850"/>
                  <a:pt x="5562596" y="2228850"/>
                </a:cubicBezTo>
                <a:lnTo>
                  <a:pt x="38100" y="2228850"/>
                </a:lnTo>
                <a:cubicBezTo>
                  <a:pt x="17072" y="2228850"/>
                  <a:pt x="0" y="2211778"/>
                  <a:pt x="0" y="2190750"/>
                </a:cubicBezTo>
                <a:lnTo>
                  <a:pt x="0" y="38100"/>
                </a:lnTo>
                <a:cubicBezTo>
                  <a:pt x="0" y="17072"/>
                  <a:pt x="17072" y="0"/>
                  <a:pt x="38100" y="0"/>
                </a:cubicBezTo>
                <a:close/>
              </a:path>
            </a:pathLst>
          </a:custGeom>
          <a:solidFill>
            <a:srgbClr val="FFFFFF"/>
          </a:solidFill>
          <a:ln/>
          <a:effectLst>
            <a:outerShdw blurRad="28575" dist="9525" dir="5400000" algn="bl" rotWithShape="0">
              <a:srgbClr val="000000">
                <a:alpha val="10196"/>
              </a:srgbClr>
            </a:outerShdw>
          </a:effectLst>
        </p:spPr>
        <p:txBody>
          <a:bodyPr/>
          <a:lstStyle/>
          <a:p>
            <a:endParaRPr lang="zh-CN" altLang="en-US"/>
          </a:p>
        </p:txBody>
      </p:sp>
      <p:sp>
        <p:nvSpPr>
          <p:cNvPr id="32" name="Shape 30"/>
          <p:cNvSpPr/>
          <p:nvPr/>
        </p:nvSpPr>
        <p:spPr>
          <a:xfrm>
            <a:off x="6172200" y="3448050"/>
            <a:ext cx="38100" cy="2228850"/>
          </a:xfrm>
          <a:custGeom>
            <a:avLst/>
            <a:gdLst/>
            <a:ahLst/>
            <a:cxnLst/>
            <a:rect l="l" t="t" r="r" b="b"/>
            <a:pathLst>
              <a:path w="38100" h="2228850">
                <a:moveTo>
                  <a:pt x="38100" y="0"/>
                </a:moveTo>
                <a:lnTo>
                  <a:pt x="38100" y="0"/>
                </a:lnTo>
                <a:lnTo>
                  <a:pt x="38100" y="2228850"/>
                </a:lnTo>
                <a:lnTo>
                  <a:pt x="38100" y="2228850"/>
                </a:lnTo>
                <a:cubicBezTo>
                  <a:pt x="17072" y="2228850"/>
                  <a:pt x="0" y="2211778"/>
                  <a:pt x="0" y="2190750"/>
                </a:cubicBezTo>
                <a:lnTo>
                  <a:pt x="0" y="38100"/>
                </a:lnTo>
                <a:cubicBezTo>
                  <a:pt x="0" y="17072"/>
                  <a:pt x="17072" y="0"/>
                  <a:pt x="38100" y="0"/>
                </a:cubicBezTo>
                <a:close/>
              </a:path>
            </a:pathLst>
          </a:custGeom>
          <a:solidFill>
            <a:srgbClr val="C0A062"/>
          </a:solidFill>
          <a:ln/>
        </p:spPr>
        <p:txBody>
          <a:bodyPr/>
          <a:lstStyle/>
          <a:p>
            <a:endParaRPr lang="zh-CN" altLang="en-US"/>
          </a:p>
        </p:txBody>
      </p:sp>
      <p:sp>
        <p:nvSpPr>
          <p:cNvPr id="33" name="Shape 31"/>
          <p:cNvSpPr/>
          <p:nvPr/>
        </p:nvSpPr>
        <p:spPr>
          <a:xfrm>
            <a:off x="6343650" y="37052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0A062"/>
          </a:solidFill>
          <a:ln/>
        </p:spPr>
        <p:txBody>
          <a:bodyPr/>
          <a:lstStyle/>
          <a:p>
            <a:endParaRPr lang="zh-CN" altLang="en-US"/>
          </a:p>
        </p:txBody>
      </p:sp>
      <p:sp>
        <p:nvSpPr>
          <p:cNvPr id="34" name="Text 32"/>
          <p:cNvSpPr/>
          <p:nvPr/>
        </p:nvSpPr>
        <p:spPr>
          <a:xfrm>
            <a:off x="6296025" y="37052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4</a:t>
            </a:r>
            <a:endParaRPr lang="en-US" sz="1600" dirty="0"/>
          </a:p>
        </p:txBody>
      </p:sp>
      <p:sp>
        <p:nvSpPr>
          <p:cNvPr id="35" name="Text 33"/>
          <p:cNvSpPr/>
          <p:nvPr/>
        </p:nvSpPr>
        <p:spPr>
          <a:xfrm>
            <a:off x="6915150" y="3705225"/>
            <a:ext cx="4829175" cy="266700"/>
          </a:xfrm>
          <a:prstGeom prst="rect">
            <a:avLst/>
          </a:prstGeom>
          <a:noFill/>
          <a:ln/>
        </p:spPr>
        <p:txBody>
          <a:bodyPr wrap="square" lIns="0" tIns="0" rIns="0" bIns="0" rtlCol="0" anchor="ctr"/>
          <a:lstStyle/>
          <a:p>
            <a:pPr>
              <a:lnSpc>
                <a:spcPct val="130000"/>
              </a:lnSpc>
            </a:pPr>
            <a:r>
              <a:rPr lang="en-US" sz="1350" b="1" dirty="0">
                <a:solidFill>
                  <a:srgbClr val="2E4057"/>
                </a:solidFill>
                <a:latin typeface="Liter" pitchFamily="34" charset="0"/>
                <a:ea typeface="Liter" pitchFamily="34" charset="-122"/>
                <a:cs typeface="Liter" pitchFamily="34" charset="-120"/>
              </a:rPr>
              <a:t>Operational Considerations</a:t>
            </a:r>
            <a:endParaRPr lang="en-US" sz="1600" dirty="0"/>
          </a:p>
        </p:txBody>
      </p:sp>
      <p:sp>
        <p:nvSpPr>
          <p:cNvPr id="36" name="Text 34"/>
          <p:cNvSpPr/>
          <p:nvPr/>
        </p:nvSpPr>
        <p:spPr>
          <a:xfrm>
            <a:off x="6915150" y="4010025"/>
            <a:ext cx="4819650" cy="990600"/>
          </a:xfrm>
          <a:prstGeom prst="rect">
            <a:avLst/>
          </a:prstGeom>
          <a:noFill/>
          <a:ln/>
        </p:spPr>
        <p:txBody>
          <a:bodyPr wrap="square" lIns="0" tIns="0" rIns="0" bIns="0" rtlCol="0" anchor="ctr"/>
          <a:lstStyle/>
          <a:p>
            <a:pPr>
              <a:lnSpc>
                <a:spcPct val="140000"/>
              </a:lnSpc>
            </a:pPr>
            <a:r>
              <a:rPr lang="en-US" sz="1200" dirty="0">
                <a:solidFill>
                  <a:srgbClr val="2D3748"/>
                </a:solidFill>
                <a:latin typeface="Liter" pitchFamily="34" charset="0"/>
                <a:ea typeface="Liter" pitchFamily="34" charset="-122"/>
                <a:cs typeface="Liter" pitchFamily="34" charset="-120"/>
              </a:rPr>
              <a:t>Segments with extreme percentages but </a:t>
            </a:r>
            <a:r>
              <a:rPr lang="en-US" sz="1200" b="1" dirty="0">
                <a:solidFill>
                  <a:srgbClr val="2D3748"/>
                </a:solidFill>
                <a:latin typeface="Liter" pitchFamily="34" charset="0"/>
                <a:ea typeface="Liter" pitchFamily="34" charset="-122"/>
                <a:cs typeface="Liter" pitchFamily="34" charset="-120"/>
              </a:rPr>
              <a:t>very small sample sizes</a:t>
            </a:r>
            <a:r>
              <a:rPr lang="en-US" sz="1200" dirty="0">
                <a:solidFill>
                  <a:srgbClr val="2D3748"/>
                </a:solidFill>
                <a:latin typeface="Liter" pitchFamily="34" charset="0"/>
                <a:ea typeface="Liter" pitchFamily="34" charset="-122"/>
                <a:cs typeface="Liter" pitchFamily="34" charset="-120"/>
              </a:rPr>
              <a:t> (e.g., Unemployed at 36-40% default rate, n=22) should not drive policy decisions. Count-dominant groups should be evaluated using rates, not raw volume.</a:t>
            </a:r>
            <a:endParaRPr lang="en-US" sz="1600" dirty="0"/>
          </a:p>
        </p:txBody>
      </p:sp>
      <p:sp>
        <p:nvSpPr>
          <p:cNvPr id="37" name="Shape 35"/>
          <p:cNvSpPr/>
          <p:nvPr/>
        </p:nvSpPr>
        <p:spPr>
          <a:xfrm>
            <a:off x="6915150" y="5076825"/>
            <a:ext cx="4743450" cy="342900"/>
          </a:xfrm>
          <a:custGeom>
            <a:avLst/>
            <a:gdLst/>
            <a:ahLst/>
            <a:cxnLst/>
            <a:rect l="l" t="t" r="r" b="b"/>
            <a:pathLst>
              <a:path w="4743450" h="342900">
                <a:moveTo>
                  <a:pt x="38100" y="0"/>
                </a:moveTo>
                <a:lnTo>
                  <a:pt x="4705350" y="0"/>
                </a:lnTo>
                <a:cubicBezTo>
                  <a:pt x="4726392" y="0"/>
                  <a:pt x="4743450" y="17058"/>
                  <a:pt x="4743450" y="38100"/>
                </a:cubicBezTo>
                <a:lnTo>
                  <a:pt x="4743450" y="304800"/>
                </a:lnTo>
                <a:cubicBezTo>
                  <a:pt x="4743450" y="325842"/>
                  <a:pt x="4726392" y="342900"/>
                  <a:pt x="4705350" y="342900"/>
                </a:cubicBezTo>
                <a:lnTo>
                  <a:pt x="38100" y="342900"/>
                </a:lnTo>
                <a:cubicBezTo>
                  <a:pt x="17058" y="342900"/>
                  <a:pt x="0" y="325842"/>
                  <a:pt x="0" y="304800"/>
                </a:cubicBezTo>
                <a:lnTo>
                  <a:pt x="0" y="38100"/>
                </a:lnTo>
                <a:cubicBezTo>
                  <a:pt x="0" y="17072"/>
                  <a:pt x="17072" y="0"/>
                  <a:pt x="38100" y="0"/>
                </a:cubicBezTo>
                <a:close/>
              </a:path>
            </a:pathLst>
          </a:custGeom>
          <a:solidFill>
            <a:srgbClr val="C0A062">
              <a:alpha val="10196"/>
            </a:srgbClr>
          </a:solidFill>
          <a:ln/>
        </p:spPr>
        <p:txBody>
          <a:bodyPr/>
          <a:lstStyle/>
          <a:p>
            <a:endParaRPr lang="zh-CN" altLang="en-US"/>
          </a:p>
        </p:txBody>
      </p:sp>
      <p:sp>
        <p:nvSpPr>
          <p:cNvPr id="38" name="Shape 36"/>
          <p:cNvSpPr/>
          <p:nvPr/>
        </p:nvSpPr>
        <p:spPr>
          <a:xfrm>
            <a:off x="7018734" y="517683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C0A062"/>
          </a:solidFill>
          <a:ln/>
        </p:spPr>
        <p:txBody>
          <a:bodyPr/>
          <a:lstStyle/>
          <a:p>
            <a:endParaRPr lang="zh-CN" altLang="en-US"/>
          </a:p>
        </p:txBody>
      </p:sp>
      <p:sp>
        <p:nvSpPr>
          <p:cNvPr id="39" name="Text 37"/>
          <p:cNvSpPr/>
          <p:nvPr/>
        </p:nvSpPr>
        <p:spPr>
          <a:xfrm>
            <a:off x="7219950" y="5153025"/>
            <a:ext cx="4429125" cy="190500"/>
          </a:xfrm>
          <a:prstGeom prst="rect">
            <a:avLst/>
          </a:prstGeom>
          <a:noFill/>
          <a:ln/>
        </p:spPr>
        <p:txBody>
          <a:bodyPr wrap="square" lIns="0" tIns="0" rIns="0" bIns="0" rtlCol="0" anchor="ctr"/>
          <a:lstStyle/>
          <a:p>
            <a:pPr>
              <a:lnSpc>
                <a:spcPct val="120000"/>
              </a:lnSpc>
            </a:pPr>
            <a:r>
              <a:rPr lang="en-US" sz="1050" b="1" dirty="0">
                <a:solidFill>
                  <a:srgbClr val="2D3748"/>
                </a:solidFill>
                <a:latin typeface="Liter" pitchFamily="34" charset="0"/>
                <a:ea typeface="Liter" pitchFamily="34" charset="-122"/>
                <a:cs typeface="Liter" pitchFamily="34" charset="-120"/>
              </a:rPr>
              <a:t>Action:</a:t>
            </a:r>
            <a:r>
              <a:rPr lang="en-US" sz="1050" dirty="0">
                <a:solidFill>
                  <a:srgbClr val="2D3748"/>
                </a:solidFill>
                <a:latin typeface="Liter" pitchFamily="34" charset="0"/>
                <a:ea typeface="Liter" pitchFamily="34" charset="-122"/>
                <a:cs typeface="Liter" pitchFamily="34" charset="-120"/>
              </a:rPr>
              <a:t> Use approval/default rates for count-dominant segments</a:t>
            </a:r>
            <a:endParaRPr lang="en-US" sz="1600" dirty="0"/>
          </a:p>
        </p:txBody>
      </p:sp>
      <p:sp>
        <p:nvSpPr>
          <p:cNvPr id="40" name="Shape 38"/>
          <p:cNvSpPr/>
          <p:nvPr/>
        </p:nvSpPr>
        <p:spPr>
          <a:xfrm>
            <a:off x="381000" y="5753100"/>
            <a:ext cx="11430000" cy="723900"/>
          </a:xfrm>
          <a:custGeom>
            <a:avLst/>
            <a:gdLst/>
            <a:ahLst/>
            <a:cxnLst/>
            <a:rect l="l" t="t" r="r" b="b"/>
            <a:pathLst>
              <a:path w="11430000" h="723900">
                <a:moveTo>
                  <a:pt x="76198" y="0"/>
                </a:moveTo>
                <a:lnTo>
                  <a:pt x="11353802" y="0"/>
                </a:lnTo>
                <a:cubicBezTo>
                  <a:pt x="11395857" y="0"/>
                  <a:pt x="11430000" y="34143"/>
                  <a:pt x="11430000" y="76198"/>
                </a:cubicBezTo>
                <a:lnTo>
                  <a:pt x="11430000" y="647702"/>
                </a:lnTo>
                <a:cubicBezTo>
                  <a:pt x="11430000" y="689757"/>
                  <a:pt x="11395857" y="723900"/>
                  <a:pt x="11353802" y="723900"/>
                </a:cubicBezTo>
                <a:lnTo>
                  <a:pt x="76198" y="723900"/>
                </a:lnTo>
                <a:cubicBezTo>
                  <a:pt x="34143" y="723900"/>
                  <a:pt x="0" y="689757"/>
                  <a:pt x="0" y="647702"/>
                </a:cubicBezTo>
                <a:lnTo>
                  <a:pt x="0" y="76198"/>
                </a:lnTo>
                <a:cubicBezTo>
                  <a:pt x="0" y="34143"/>
                  <a:pt x="34143" y="0"/>
                  <a:pt x="76198" y="0"/>
                </a:cubicBezTo>
                <a:close/>
              </a:path>
            </a:pathLst>
          </a:custGeom>
          <a:solidFill>
            <a:srgbClr val="2E4057"/>
          </a:solidFill>
          <a:ln/>
        </p:spPr>
        <p:txBody>
          <a:bodyPr/>
          <a:lstStyle/>
          <a:p>
            <a:endParaRPr lang="zh-CN" altLang="en-US"/>
          </a:p>
        </p:txBody>
      </p:sp>
      <p:sp>
        <p:nvSpPr>
          <p:cNvPr id="41" name="Shape 39"/>
          <p:cNvSpPr/>
          <p:nvPr/>
        </p:nvSpPr>
        <p:spPr>
          <a:xfrm>
            <a:off x="523875" y="6000750"/>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C0A062"/>
          </a:solidFill>
          <a:ln/>
        </p:spPr>
        <p:txBody>
          <a:bodyPr/>
          <a:lstStyle/>
          <a:p>
            <a:endParaRPr lang="zh-CN" altLang="en-US"/>
          </a:p>
        </p:txBody>
      </p:sp>
      <p:sp>
        <p:nvSpPr>
          <p:cNvPr id="42" name="Text 40"/>
          <p:cNvSpPr/>
          <p:nvPr/>
        </p:nvSpPr>
        <p:spPr>
          <a:xfrm>
            <a:off x="933450" y="5867400"/>
            <a:ext cx="10839450" cy="495300"/>
          </a:xfrm>
          <a:prstGeom prst="rect">
            <a:avLst/>
          </a:prstGeom>
          <a:noFill/>
          <a:ln/>
        </p:spPr>
        <p:txBody>
          <a:bodyPr wrap="square" lIns="0" tIns="0" rIns="0" bIns="0" rtlCol="0" anchor="ctr"/>
          <a:lstStyle/>
          <a:p>
            <a:pPr>
              <a:lnSpc>
                <a:spcPct val="140000"/>
              </a:lnSpc>
            </a:pPr>
            <a:r>
              <a:rPr lang="en-US" sz="1200" b="1" dirty="0">
                <a:solidFill>
                  <a:srgbClr val="FFFFFF"/>
                </a:solidFill>
                <a:latin typeface="Liter" pitchFamily="34" charset="0"/>
                <a:ea typeface="Liter" pitchFamily="34" charset="-122"/>
                <a:cs typeface="Liter" pitchFamily="34" charset="-120"/>
              </a:rPr>
              <a:t>Strategic Impact:</a:t>
            </a:r>
            <a:r>
              <a:rPr lang="en-US" sz="1200" dirty="0">
                <a:solidFill>
                  <a:srgbClr val="FFFFFF"/>
                </a:solidFill>
                <a:latin typeface="Liter" pitchFamily="34" charset="0"/>
                <a:ea typeface="Liter" pitchFamily="34" charset="-122"/>
                <a:cs typeface="Liter" pitchFamily="34" charset="-120"/>
              </a:rPr>
              <a:t> Incorporating structural stability indicators and interaction-based measures can help lenders more effectively distinguish reliable applicants from high-risk ones, directly supporting the business objective of </a:t>
            </a:r>
            <a:r>
              <a:rPr lang="en-US" sz="1200" dirty="0">
                <a:solidFill>
                  <a:srgbClr val="FFFFFF"/>
                </a:solidFill>
                <a:highlight>
                  <a:srgbClr val="C0A062">
                    <a:alpha val="30000"/>
                  </a:srgbClr>
                </a:highlight>
                <a:latin typeface="Liter" pitchFamily="34" charset="0"/>
                <a:ea typeface="Liter" pitchFamily="34" charset="-122"/>
                <a:cs typeface="Liter" pitchFamily="34" charset="-120"/>
              </a:rPr>
              <a:t>optimizing approval decisions </a:t>
            </a:r>
            <a:r>
              <a:rPr lang="en-US" sz="1200" dirty="0">
                <a:solidFill>
                  <a:srgbClr val="FFFFFF"/>
                </a:solidFill>
                <a:latin typeface="Liter" pitchFamily="34" charset="0"/>
                <a:ea typeface="Liter" pitchFamily="34" charset="-122"/>
                <a:cs typeface="Liter" pitchFamily="34" charset="-120"/>
              </a:rPr>
              <a:t>.</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2E4057"/>
        </a:solidFill>
        <a:effectLst/>
      </p:bgPr>
    </p:bg>
    <p:spTree>
      <p:nvGrpSpPr>
        <p:cNvPr id="1" name=""/>
        <p:cNvGrpSpPr/>
        <p:nvPr/>
      </p:nvGrpSpPr>
      <p:grpSpPr>
        <a:xfrm>
          <a:off x="0" y="0"/>
          <a:ext cx="0" cy="0"/>
          <a:chOff x="0" y="0"/>
          <a:chExt cx="0" cy="0"/>
        </a:xfrm>
      </p:grpSpPr>
      <p:pic>
        <p:nvPicPr>
          <p:cNvPr id="2" name="Image 0" descr="https://kimi-web-img.moonshot.cn/img/plat.ai/e9dad6d4d7048ba22974bb3b58b88ddc710b7268.webp"/>
          <p:cNvPicPr>
            <a:picLocks noChangeAspect="1"/>
          </p:cNvPicPr>
          <p:nvPr/>
        </p:nvPicPr>
        <p:blipFill>
          <a:blip r:embed="rId3">
            <a:alphaModFix amt="20000"/>
          </a:blip>
          <a:srcRect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E4057">
                  <a:alpha val="95000"/>
                </a:srgbClr>
              </a:gs>
              <a:gs pos="50000">
                <a:srgbClr val="2E4057">
                  <a:alpha val="90000"/>
                </a:srgbClr>
              </a:gs>
              <a:gs pos="100000">
                <a:srgbClr val="2E4057">
                  <a:alpha val="85000"/>
                </a:srgbClr>
              </a:gs>
            </a:gsLst>
            <a:lin ang="2700000" scaled="1"/>
          </a:gradFill>
          <a:ln/>
        </p:spPr>
        <p:txBody>
          <a:bodyPr/>
          <a:lstStyle/>
          <a:p>
            <a:endParaRPr lang="zh-CN" altLang="en-US"/>
          </a:p>
        </p:txBody>
      </p:sp>
      <p:sp>
        <p:nvSpPr>
          <p:cNvPr id="4" name="Shape 1"/>
          <p:cNvSpPr/>
          <p:nvPr/>
        </p:nvSpPr>
        <p:spPr>
          <a:xfrm>
            <a:off x="381000" y="49530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C0A062"/>
          </a:solidFill>
          <a:ln/>
        </p:spPr>
        <p:txBody>
          <a:bodyPr/>
          <a:lstStyle/>
          <a:p>
            <a:endParaRPr lang="zh-CN" altLang="en-US"/>
          </a:p>
        </p:txBody>
      </p:sp>
      <p:sp>
        <p:nvSpPr>
          <p:cNvPr id="5" name="Text 2"/>
          <p:cNvSpPr/>
          <p:nvPr/>
        </p:nvSpPr>
        <p:spPr>
          <a:xfrm>
            <a:off x="1104900" y="381000"/>
            <a:ext cx="1685925" cy="266700"/>
          </a:xfrm>
          <a:prstGeom prst="rect">
            <a:avLst/>
          </a:prstGeom>
          <a:noFill/>
          <a:ln/>
        </p:spPr>
        <p:txBody>
          <a:bodyPr wrap="square" lIns="0" tIns="0" rIns="0" bIns="0" rtlCol="0" anchor="ctr"/>
          <a:lstStyle/>
          <a:p>
            <a:pPr>
              <a:lnSpc>
                <a:spcPct val="130000"/>
              </a:lnSpc>
            </a:pPr>
            <a:r>
              <a:rPr lang="en-US" sz="1350" b="1" kern="0" spc="135" dirty="0">
                <a:solidFill>
                  <a:srgbClr val="C0A062"/>
                </a:solidFill>
                <a:latin typeface="Liter" pitchFamily="34" charset="0"/>
                <a:ea typeface="Liter" pitchFamily="34" charset="-122"/>
                <a:cs typeface="Liter" pitchFamily="34" charset="-120"/>
              </a:rPr>
              <a:t>Key Takeaways</a:t>
            </a:r>
            <a:endParaRPr lang="en-US" sz="1600" dirty="0"/>
          </a:p>
        </p:txBody>
      </p:sp>
      <p:sp>
        <p:nvSpPr>
          <p:cNvPr id="6" name="Text 3"/>
          <p:cNvSpPr/>
          <p:nvPr/>
        </p:nvSpPr>
        <p:spPr>
          <a:xfrm>
            <a:off x="381000" y="800100"/>
            <a:ext cx="11658600" cy="1143000"/>
          </a:xfrm>
          <a:prstGeom prst="rect">
            <a:avLst/>
          </a:prstGeom>
          <a:noFill/>
          <a:ln/>
        </p:spPr>
        <p:txBody>
          <a:bodyPr wrap="square" lIns="0" tIns="0" rIns="0" bIns="0" rtlCol="0" anchor="ctr"/>
          <a:lstStyle/>
          <a:p>
            <a:pPr>
              <a:lnSpc>
                <a:spcPct val="100000"/>
              </a:lnSpc>
            </a:pPr>
            <a:r>
              <a:rPr lang="en-US" sz="3600" b="1" dirty="0">
                <a:solidFill>
                  <a:srgbClr val="F7FAFC"/>
                </a:solidFill>
                <a:latin typeface="Liter" pitchFamily="34" charset="0"/>
                <a:ea typeface="Liter" pitchFamily="34" charset="-122"/>
                <a:cs typeface="Liter" pitchFamily="34" charset="-120"/>
              </a:rPr>
              <a:t>Data-Driven Risk</a:t>
            </a:r>
            <a:endParaRPr lang="en-US" sz="1600" dirty="0"/>
          </a:p>
          <a:p>
            <a:pPr>
              <a:lnSpc>
                <a:spcPct val="100000"/>
              </a:lnSpc>
            </a:pPr>
            <a:r>
              <a:rPr lang="en-US" sz="3600" b="1" dirty="0">
                <a:solidFill>
                  <a:srgbClr val="F7FAFC"/>
                </a:solidFill>
                <a:latin typeface="Liter" pitchFamily="34" charset="0"/>
                <a:ea typeface="Liter" pitchFamily="34" charset="-122"/>
                <a:cs typeface="Liter" pitchFamily="34" charset="-120"/>
              </a:rPr>
              <a:t>Optimization</a:t>
            </a:r>
            <a:endParaRPr lang="en-US" sz="1600" dirty="0"/>
          </a:p>
        </p:txBody>
      </p:sp>
      <p:sp>
        <p:nvSpPr>
          <p:cNvPr id="7" name="Shape 4"/>
          <p:cNvSpPr/>
          <p:nvPr/>
        </p:nvSpPr>
        <p:spPr>
          <a:xfrm>
            <a:off x="385763" y="2284437"/>
            <a:ext cx="3695700" cy="2124075"/>
          </a:xfrm>
          <a:custGeom>
            <a:avLst/>
            <a:gdLst/>
            <a:ahLst/>
            <a:cxnLst/>
            <a:rect l="l" t="t" r="r" b="b"/>
            <a:pathLst>
              <a:path w="3695700" h="2124075">
                <a:moveTo>
                  <a:pt x="76191" y="0"/>
                </a:moveTo>
                <a:lnTo>
                  <a:pt x="3619509" y="0"/>
                </a:lnTo>
                <a:cubicBezTo>
                  <a:pt x="3661560" y="0"/>
                  <a:pt x="3695700" y="34140"/>
                  <a:pt x="3695700" y="76191"/>
                </a:cubicBezTo>
                <a:lnTo>
                  <a:pt x="3695700" y="2047884"/>
                </a:lnTo>
                <a:cubicBezTo>
                  <a:pt x="3695700" y="2089935"/>
                  <a:pt x="3661560" y="2124075"/>
                  <a:pt x="3619509" y="2124075"/>
                </a:cubicBezTo>
                <a:lnTo>
                  <a:pt x="76191" y="2124075"/>
                </a:lnTo>
                <a:cubicBezTo>
                  <a:pt x="34140" y="2124075"/>
                  <a:pt x="0" y="2089935"/>
                  <a:pt x="0" y="2047884"/>
                </a:cubicBezTo>
                <a:lnTo>
                  <a:pt x="0" y="76191"/>
                </a:lnTo>
                <a:cubicBezTo>
                  <a:pt x="0" y="34140"/>
                  <a:pt x="34140" y="0"/>
                  <a:pt x="76191" y="0"/>
                </a:cubicBezTo>
                <a:close/>
              </a:path>
            </a:pathLst>
          </a:custGeom>
          <a:solidFill>
            <a:srgbClr val="FFFFFF">
              <a:alpha val="10196"/>
            </a:srgbClr>
          </a:solidFill>
          <a:ln w="12700">
            <a:solidFill>
              <a:srgbClr val="FFFFFF">
                <a:alpha val="20000"/>
              </a:srgbClr>
            </a:solidFill>
            <a:prstDash val="solid"/>
          </a:ln>
        </p:spPr>
        <p:txBody>
          <a:bodyPr/>
          <a:lstStyle/>
          <a:p>
            <a:endParaRPr lang="zh-CN" altLang="en-US"/>
          </a:p>
        </p:txBody>
      </p:sp>
      <p:sp>
        <p:nvSpPr>
          <p:cNvPr id="8" name="Shape 5"/>
          <p:cNvSpPr/>
          <p:nvPr/>
        </p:nvSpPr>
        <p:spPr>
          <a:xfrm>
            <a:off x="581025" y="24797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0A062"/>
          </a:solidFill>
          <a:ln/>
        </p:spPr>
        <p:txBody>
          <a:bodyPr/>
          <a:lstStyle/>
          <a:p>
            <a:endParaRPr lang="zh-CN" altLang="en-US"/>
          </a:p>
        </p:txBody>
      </p:sp>
      <p:sp>
        <p:nvSpPr>
          <p:cNvPr id="9" name="Shape 6"/>
          <p:cNvSpPr/>
          <p:nvPr/>
        </p:nvSpPr>
        <p:spPr>
          <a:xfrm>
            <a:off x="733425" y="2632100"/>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FFFFFF"/>
          </a:solidFill>
          <a:ln/>
        </p:spPr>
        <p:txBody>
          <a:bodyPr/>
          <a:lstStyle/>
          <a:p>
            <a:endParaRPr lang="zh-CN" altLang="en-US"/>
          </a:p>
        </p:txBody>
      </p:sp>
      <p:sp>
        <p:nvSpPr>
          <p:cNvPr id="10" name="Text 7"/>
          <p:cNvSpPr/>
          <p:nvPr/>
        </p:nvSpPr>
        <p:spPr>
          <a:xfrm>
            <a:off x="581025" y="3127400"/>
            <a:ext cx="3400425" cy="266700"/>
          </a:xfrm>
          <a:prstGeom prst="rect">
            <a:avLst/>
          </a:prstGeom>
          <a:noFill/>
          <a:ln/>
        </p:spPr>
        <p:txBody>
          <a:bodyPr wrap="square" lIns="0" tIns="0" rIns="0" bIns="0" rtlCol="0" anchor="ctr"/>
          <a:lstStyle/>
          <a:p>
            <a:pPr>
              <a:lnSpc>
                <a:spcPct val="120000"/>
              </a:lnSpc>
            </a:pPr>
            <a:r>
              <a:rPr lang="en-US" sz="1500" b="1" dirty="0">
                <a:solidFill>
                  <a:srgbClr val="F7FAFC"/>
                </a:solidFill>
                <a:latin typeface="Liter" pitchFamily="34" charset="0"/>
                <a:ea typeface="Liter" pitchFamily="34" charset="-122"/>
                <a:cs typeface="Liter" pitchFamily="34" charset="-120"/>
              </a:rPr>
              <a:t>Stability Over Magnitude</a:t>
            </a:r>
            <a:endParaRPr lang="en-US" sz="1600" dirty="0"/>
          </a:p>
        </p:txBody>
      </p:sp>
      <p:sp>
        <p:nvSpPr>
          <p:cNvPr id="11" name="Text 8"/>
          <p:cNvSpPr/>
          <p:nvPr/>
        </p:nvSpPr>
        <p:spPr>
          <a:xfrm>
            <a:off x="581025" y="3470300"/>
            <a:ext cx="3381375" cy="742950"/>
          </a:xfrm>
          <a:prstGeom prst="rect">
            <a:avLst/>
          </a:prstGeom>
          <a:noFill/>
          <a:ln/>
        </p:spPr>
        <p:txBody>
          <a:bodyPr wrap="square" lIns="0" tIns="0" rIns="0" bIns="0" rtlCol="0" anchor="ctr"/>
          <a:lstStyle/>
          <a:p>
            <a:pPr>
              <a:lnSpc>
                <a:spcPct val="140000"/>
              </a:lnSpc>
            </a:pPr>
            <a:r>
              <a:rPr lang="en-US" sz="1200" dirty="0">
                <a:solidFill>
                  <a:srgbClr val="A0AEC0"/>
                </a:solidFill>
                <a:latin typeface="Liter" pitchFamily="34" charset="0"/>
                <a:ea typeface="Liter" pitchFamily="34" charset="-122"/>
                <a:cs typeface="Liter" pitchFamily="34" charset="-120"/>
              </a:rPr>
              <a:t>Structural stability indicators (employment tenure, education, age) provide stronger risk separation than raw financial values.</a:t>
            </a:r>
            <a:endParaRPr lang="en-US" sz="1600" dirty="0"/>
          </a:p>
        </p:txBody>
      </p:sp>
      <p:sp>
        <p:nvSpPr>
          <p:cNvPr id="12" name="Shape 9"/>
          <p:cNvSpPr/>
          <p:nvPr/>
        </p:nvSpPr>
        <p:spPr>
          <a:xfrm>
            <a:off x="4246513" y="2284437"/>
            <a:ext cx="3695700" cy="2124075"/>
          </a:xfrm>
          <a:custGeom>
            <a:avLst/>
            <a:gdLst/>
            <a:ahLst/>
            <a:cxnLst/>
            <a:rect l="l" t="t" r="r" b="b"/>
            <a:pathLst>
              <a:path w="3695700" h="2124075">
                <a:moveTo>
                  <a:pt x="76191" y="0"/>
                </a:moveTo>
                <a:lnTo>
                  <a:pt x="3619509" y="0"/>
                </a:lnTo>
                <a:cubicBezTo>
                  <a:pt x="3661560" y="0"/>
                  <a:pt x="3695700" y="34140"/>
                  <a:pt x="3695700" y="76191"/>
                </a:cubicBezTo>
                <a:lnTo>
                  <a:pt x="3695700" y="2047884"/>
                </a:lnTo>
                <a:cubicBezTo>
                  <a:pt x="3695700" y="2089935"/>
                  <a:pt x="3661560" y="2124075"/>
                  <a:pt x="3619509" y="2124075"/>
                </a:cubicBezTo>
                <a:lnTo>
                  <a:pt x="76191" y="2124075"/>
                </a:lnTo>
                <a:cubicBezTo>
                  <a:pt x="34140" y="2124075"/>
                  <a:pt x="0" y="2089935"/>
                  <a:pt x="0" y="2047884"/>
                </a:cubicBezTo>
                <a:lnTo>
                  <a:pt x="0" y="76191"/>
                </a:lnTo>
                <a:cubicBezTo>
                  <a:pt x="0" y="34140"/>
                  <a:pt x="34140" y="0"/>
                  <a:pt x="76191" y="0"/>
                </a:cubicBezTo>
                <a:close/>
              </a:path>
            </a:pathLst>
          </a:custGeom>
          <a:solidFill>
            <a:srgbClr val="FFFFFF">
              <a:alpha val="10196"/>
            </a:srgbClr>
          </a:solidFill>
          <a:ln w="12700">
            <a:solidFill>
              <a:srgbClr val="FFFFFF">
                <a:alpha val="20000"/>
              </a:srgbClr>
            </a:solidFill>
            <a:prstDash val="solid"/>
          </a:ln>
        </p:spPr>
        <p:txBody>
          <a:bodyPr/>
          <a:lstStyle/>
          <a:p>
            <a:endParaRPr lang="zh-CN" altLang="en-US"/>
          </a:p>
        </p:txBody>
      </p:sp>
      <p:sp>
        <p:nvSpPr>
          <p:cNvPr id="13" name="Shape 10"/>
          <p:cNvSpPr/>
          <p:nvPr/>
        </p:nvSpPr>
        <p:spPr>
          <a:xfrm>
            <a:off x="4441775" y="24797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0A062"/>
          </a:solidFill>
          <a:ln/>
        </p:spPr>
        <p:txBody>
          <a:bodyPr/>
          <a:lstStyle/>
          <a:p>
            <a:endParaRPr lang="zh-CN" altLang="en-US"/>
          </a:p>
        </p:txBody>
      </p:sp>
      <p:sp>
        <p:nvSpPr>
          <p:cNvPr id="14" name="Shape 11"/>
          <p:cNvSpPr/>
          <p:nvPr/>
        </p:nvSpPr>
        <p:spPr>
          <a:xfrm>
            <a:off x="4565600" y="2632100"/>
            <a:ext cx="285750" cy="228600"/>
          </a:xfrm>
          <a:custGeom>
            <a:avLst/>
            <a:gdLst/>
            <a:ahLst/>
            <a:cxnLst/>
            <a:rect l="l" t="t" r="r" b="b"/>
            <a:pathLst>
              <a:path w="285750" h="228600">
                <a:moveTo>
                  <a:pt x="171450" y="14288"/>
                </a:moveTo>
                <a:lnTo>
                  <a:pt x="228600" y="14288"/>
                </a:lnTo>
                <a:cubicBezTo>
                  <a:pt x="236503" y="14288"/>
                  <a:pt x="242888" y="20672"/>
                  <a:pt x="242888" y="28575"/>
                </a:cubicBezTo>
                <a:cubicBezTo>
                  <a:pt x="242888" y="36478"/>
                  <a:pt x="236503" y="42863"/>
                  <a:pt x="228600" y="42863"/>
                </a:cubicBezTo>
                <a:lnTo>
                  <a:pt x="177879" y="42863"/>
                </a:lnTo>
                <a:cubicBezTo>
                  <a:pt x="175558" y="54382"/>
                  <a:pt x="167655" y="63892"/>
                  <a:pt x="157163" y="68446"/>
                </a:cubicBezTo>
                <a:lnTo>
                  <a:pt x="157163" y="200025"/>
                </a:lnTo>
                <a:lnTo>
                  <a:pt x="228600" y="200025"/>
                </a:lnTo>
                <a:cubicBezTo>
                  <a:pt x="236503" y="200025"/>
                  <a:pt x="242888" y="206410"/>
                  <a:pt x="242888" y="214313"/>
                </a:cubicBezTo>
                <a:cubicBezTo>
                  <a:pt x="242888" y="222215"/>
                  <a:pt x="236503" y="228600"/>
                  <a:pt x="228600" y="228600"/>
                </a:cubicBezTo>
                <a:lnTo>
                  <a:pt x="57150" y="228600"/>
                </a:lnTo>
                <a:cubicBezTo>
                  <a:pt x="49247" y="228600"/>
                  <a:pt x="42863" y="222215"/>
                  <a:pt x="42863" y="214313"/>
                </a:cubicBezTo>
                <a:cubicBezTo>
                  <a:pt x="42863" y="206410"/>
                  <a:pt x="49247" y="200025"/>
                  <a:pt x="57150" y="200025"/>
                </a:cubicBezTo>
                <a:lnTo>
                  <a:pt x="128588" y="200025"/>
                </a:lnTo>
                <a:lnTo>
                  <a:pt x="128588" y="68446"/>
                </a:lnTo>
                <a:cubicBezTo>
                  <a:pt x="118095" y="63847"/>
                  <a:pt x="110192" y="54337"/>
                  <a:pt x="107871" y="42863"/>
                </a:cubicBezTo>
                <a:lnTo>
                  <a:pt x="57150" y="42863"/>
                </a:lnTo>
                <a:cubicBezTo>
                  <a:pt x="49247" y="42863"/>
                  <a:pt x="42863" y="36478"/>
                  <a:pt x="42863" y="28575"/>
                </a:cubicBezTo>
                <a:cubicBezTo>
                  <a:pt x="42863" y="20672"/>
                  <a:pt x="49247" y="14288"/>
                  <a:pt x="57150" y="14288"/>
                </a:cubicBezTo>
                <a:lnTo>
                  <a:pt x="114300" y="14288"/>
                </a:lnTo>
                <a:cubicBezTo>
                  <a:pt x="120819" y="5626"/>
                  <a:pt x="131177" y="0"/>
                  <a:pt x="142875" y="0"/>
                </a:cubicBezTo>
                <a:cubicBezTo>
                  <a:pt x="154573" y="0"/>
                  <a:pt x="164931" y="5626"/>
                  <a:pt x="171450" y="14288"/>
                </a:cubicBezTo>
                <a:close/>
                <a:moveTo>
                  <a:pt x="196275" y="142875"/>
                </a:moveTo>
                <a:lnTo>
                  <a:pt x="260925" y="142875"/>
                </a:lnTo>
                <a:lnTo>
                  <a:pt x="228600" y="87422"/>
                </a:lnTo>
                <a:lnTo>
                  <a:pt x="196275" y="142875"/>
                </a:lnTo>
                <a:close/>
                <a:moveTo>
                  <a:pt x="228600" y="185738"/>
                </a:moveTo>
                <a:cubicBezTo>
                  <a:pt x="200516" y="185738"/>
                  <a:pt x="177165" y="170557"/>
                  <a:pt x="172343" y="150510"/>
                </a:cubicBezTo>
                <a:cubicBezTo>
                  <a:pt x="171182" y="145599"/>
                  <a:pt x="172789" y="140553"/>
                  <a:pt x="175334" y="136178"/>
                </a:cubicBezTo>
                <a:lnTo>
                  <a:pt x="217840" y="63311"/>
                </a:lnTo>
                <a:cubicBezTo>
                  <a:pt x="220072" y="59472"/>
                  <a:pt x="224180" y="57150"/>
                  <a:pt x="228600" y="57150"/>
                </a:cubicBezTo>
                <a:cubicBezTo>
                  <a:pt x="233020" y="57150"/>
                  <a:pt x="237128" y="59516"/>
                  <a:pt x="239360" y="63311"/>
                </a:cubicBezTo>
                <a:lnTo>
                  <a:pt x="281866" y="136178"/>
                </a:lnTo>
                <a:cubicBezTo>
                  <a:pt x="284411" y="140553"/>
                  <a:pt x="286018" y="145599"/>
                  <a:pt x="284857" y="150510"/>
                </a:cubicBezTo>
                <a:cubicBezTo>
                  <a:pt x="280035" y="170512"/>
                  <a:pt x="256684" y="185738"/>
                  <a:pt x="228600" y="185738"/>
                </a:cubicBezTo>
                <a:close/>
                <a:moveTo>
                  <a:pt x="56614" y="87422"/>
                </a:moveTo>
                <a:lnTo>
                  <a:pt x="24289" y="142875"/>
                </a:lnTo>
                <a:lnTo>
                  <a:pt x="88984" y="142875"/>
                </a:lnTo>
                <a:lnTo>
                  <a:pt x="56614" y="87422"/>
                </a:lnTo>
                <a:close/>
                <a:moveTo>
                  <a:pt x="402" y="150510"/>
                </a:moveTo>
                <a:cubicBezTo>
                  <a:pt x="-759" y="145599"/>
                  <a:pt x="848" y="140553"/>
                  <a:pt x="3393" y="136178"/>
                </a:cubicBezTo>
                <a:lnTo>
                  <a:pt x="45899" y="63311"/>
                </a:lnTo>
                <a:cubicBezTo>
                  <a:pt x="48131" y="59472"/>
                  <a:pt x="52239" y="57150"/>
                  <a:pt x="56659" y="57150"/>
                </a:cubicBezTo>
                <a:cubicBezTo>
                  <a:pt x="61079" y="57150"/>
                  <a:pt x="65187" y="59516"/>
                  <a:pt x="67419" y="63311"/>
                </a:cubicBezTo>
                <a:lnTo>
                  <a:pt x="109924" y="136178"/>
                </a:lnTo>
                <a:cubicBezTo>
                  <a:pt x="112469" y="140553"/>
                  <a:pt x="114077" y="145599"/>
                  <a:pt x="112916" y="150510"/>
                </a:cubicBezTo>
                <a:cubicBezTo>
                  <a:pt x="108094" y="170512"/>
                  <a:pt x="84743" y="185738"/>
                  <a:pt x="56659" y="185738"/>
                </a:cubicBezTo>
                <a:cubicBezTo>
                  <a:pt x="28575" y="185738"/>
                  <a:pt x="5224" y="170557"/>
                  <a:pt x="402" y="150510"/>
                </a:cubicBezTo>
                <a:close/>
              </a:path>
            </a:pathLst>
          </a:custGeom>
          <a:solidFill>
            <a:srgbClr val="FFFFFF"/>
          </a:solidFill>
          <a:ln/>
        </p:spPr>
        <p:txBody>
          <a:bodyPr/>
          <a:lstStyle/>
          <a:p>
            <a:endParaRPr lang="zh-CN" altLang="en-US"/>
          </a:p>
        </p:txBody>
      </p:sp>
      <p:sp>
        <p:nvSpPr>
          <p:cNvPr id="15" name="Text 12"/>
          <p:cNvSpPr/>
          <p:nvPr/>
        </p:nvSpPr>
        <p:spPr>
          <a:xfrm>
            <a:off x="4441775" y="3127400"/>
            <a:ext cx="3400425" cy="266700"/>
          </a:xfrm>
          <a:prstGeom prst="rect">
            <a:avLst/>
          </a:prstGeom>
          <a:noFill/>
          <a:ln/>
        </p:spPr>
        <p:txBody>
          <a:bodyPr wrap="square" lIns="0" tIns="0" rIns="0" bIns="0" rtlCol="0" anchor="ctr"/>
          <a:lstStyle/>
          <a:p>
            <a:pPr>
              <a:lnSpc>
                <a:spcPct val="120000"/>
              </a:lnSpc>
            </a:pPr>
            <a:r>
              <a:rPr lang="en-US" sz="1500" b="1" dirty="0">
                <a:solidFill>
                  <a:srgbClr val="F7FAFC"/>
                </a:solidFill>
                <a:latin typeface="Liter" pitchFamily="34" charset="0"/>
                <a:ea typeface="Liter" pitchFamily="34" charset="-122"/>
                <a:cs typeface="Liter" pitchFamily="34" charset="-120"/>
              </a:rPr>
              <a:t>Alignment Matters</a:t>
            </a:r>
            <a:endParaRPr lang="en-US" sz="1600" dirty="0"/>
          </a:p>
        </p:txBody>
      </p:sp>
      <p:sp>
        <p:nvSpPr>
          <p:cNvPr id="16" name="Text 13"/>
          <p:cNvSpPr/>
          <p:nvPr/>
        </p:nvSpPr>
        <p:spPr>
          <a:xfrm>
            <a:off x="4441775" y="3470300"/>
            <a:ext cx="3381375" cy="742950"/>
          </a:xfrm>
          <a:prstGeom prst="rect">
            <a:avLst/>
          </a:prstGeom>
          <a:noFill/>
          <a:ln/>
        </p:spPr>
        <p:txBody>
          <a:bodyPr wrap="square" lIns="0" tIns="0" rIns="0" bIns="0" rtlCol="0" anchor="ctr"/>
          <a:lstStyle/>
          <a:p>
            <a:pPr>
              <a:lnSpc>
                <a:spcPct val="140000"/>
              </a:lnSpc>
            </a:pPr>
            <a:r>
              <a:rPr lang="en-US" sz="1200" dirty="0">
                <a:solidFill>
                  <a:srgbClr val="A0AEC0"/>
                </a:solidFill>
                <a:latin typeface="Liter" pitchFamily="34" charset="0"/>
                <a:ea typeface="Liter" pitchFamily="34" charset="-122"/>
                <a:cs typeface="Liter" pitchFamily="34" charset="-120"/>
              </a:rPr>
              <a:t>Income-aligned loan sizing among repayers vs. misalignment among defaulters highlights the importance of underwriting consistency.</a:t>
            </a:r>
            <a:endParaRPr lang="en-US" sz="1600" dirty="0"/>
          </a:p>
        </p:txBody>
      </p:sp>
      <p:sp>
        <p:nvSpPr>
          <p:cNvPr id="17" name="Shape 14"/>
          <p:cNvSpPr/>
          <p:nvPr/>
        </p:nvSpPr>
        <p:spPr>
          <a:xfrm>
            <a:off x="8107338" y="2284437"/>
            <a:ext cx="3695700" cy="2124075"/>
          </a:xfrm>
          <a:custGeom>
            <a:avLst/>
            <a:gdLst/>
            <a:ahLst/>
            <a:cxnLst/>
            <a:rect l="l" t="t" r="r" b="b"/>
            <a:pathLst>
              <a:path w="3695700" h="2124075">
                <a:moveTo>
                  <a:pt x="76191" y="0"/>
                </a:moveTo>
                <a:lnTo>
                  <a:pt x="3619509" y="0"/>
                </a:lnTo>
                <a:cubicBezTo>
                  <a:pt x="3661560" y="0"/>
                  <a:pt x="3695700" y="34140"/>
                  <a:pt x="3695700" y="76191"/>
                </a:cubicBezTo>
                <a:lnTo>
                  <a:pt x="3695700" y="2047884"/>
                </a:lnTo>
                <a:cubicBezTo>
                  <a:pt x="3695700" y="2089935"/>
                  <a:pt x="3661560" y="2124075"/>
                  <a:pt x="3619509" y="2124075"/>
                </a:cubicBezTo>
                <a:lnTo>
                  <a:pt x="76191" y="2124075"/>
                </a:lnTo>
                <a:cubicBezTo>
                  <a:pt x="34140" y="2124075"/>
                  <a:pt x="0" y="2089935"/>
                  <a:pt x="0" y="2047884"/>
                </a:cubicBezTo>
                <a:lnTo>
                  <a:pt x="0" y="76191"/>
                </a:lnTo>
                <a:cubicBezTo>
                  <a:pt x="0" y="34140"/>
                  <a:pt x="34140" y="0"/>
                  <a:pt x="76191" y="0"/>
                </a:cubicBezTo>
                <a:close/>
              </a:path>
            </a:pathLst>
          </a:custGeom>
          <a:solidFill>
            <a:srgbClr val="FFFFFF">
              <a:alpha val="10196"/>
            </a:srgbClr>
          </a:solidFill>
          <a:ln w="12700">
            <a:solidFill>
              <a:srgbClr val="FFFFFF">
                <a:alpha val="20000"/>
              </a:srgbClr>
            </a:solidFill>
            <a:prstDash val="solid"/>
          </a:ln>
        </p:spPr>
        <p:txBody>
          <a:bodyPr/>
          <a:lstStyle/>
          <a:p>
            <a:endParaRPr lang="zh-CN" altLang="en-US"/>
          </a:p>
        </p:txBody>
      </p:sp>
      <p:sp>
        <p:nvSpPr>
          <p:cNvPr id="18" name="Shape 15"/>
          <p:cNvSpPr/>
          <p:nvPr/>
        </p:nvSpPr>
        <p:spPr>
          <a:xfrm>
            <a:off x="8302600" y="24797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0A062"/>
          </a:solidFill>
          <a:ln/>
        </p:spPr>
        <p:txBody>
          <a:bodyPr/>
          <a:lstStyle/>
          <a:p>
            <a:endParaRPr lang="zh-CN" altLang="en-US"/>
          </a:p>
        </p:txBody>
      </p:sp>
      <p:sp>
        <p:nvSpPr>
          <p:cNvPr id="19" name="Shape 16"/>
          <p:cNvSpPr/>
          <p:nvPr/>
        </p:nvSpPr>
        <p:spPr>
          <a:xfrm>
            <a:off x="8455000" y="263210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FFFFF"/>
          </a:solidFill>
          <a:ln/>
        </p:spPr>
        <p:txBody>
          <a:bodyPr/>
          <a:lstStyle/>
          <a:p>
            <a:endParaRPr lang="zh-CN" altLang="en-US"/>
          </a:p>
        </p:txBody>
      </p:sp>
      <p:sp>
        <p:nvSpPr>
          <p:cNvPr id="20" name="Text 17"/>
          <p:cNvSpPr/>
          <p:nvPr/>
        </p:nvSpPr>
        <p:spPr>
          <a:xfrm>
            <a:off x="8302600" y="3127400"/>
            <a:ext cx="3400425" cy="266700"/>
          </a:xfrm>
          <a:prstGeom prst="rect">
            <a:avLst/>
          </a:prstGeom>
          <a:noFill/>
          <a:ln/>
        </p:spPr>
        <p:txBody>
          <a:bodyPr wrap="square" lIns="0" tIns="0" rIns="0" bIns="0" rtlCol="0" anchor="ctr"/>
          <a:lstStyle/>
          <a:p>
            <a:pPr>
              <a:lnSpc>
                <a:spcPct val="120000"/>
              </a:lnSpc>
            </a:pPr>
            <a:r>
              <a:rPr lang="en-US" sz="1500" b="1" dirty="0">
                <a:solidFill>
                  <a:srgbClr val="F7FAFC"/>
                </a:solidFill>
                <a:latin typeface="Liter" pitchFamily="34" charset="0"/>
                <a:ea typeface="Liter" pitchFamily="34" charset="-122"/>
                <a:cs typeface="Liter" pitchFamily="34" charset="-120"/>
              </a:rPr>
              <a:t>Relative Metrics Win</a:t>
            </a:r>
            <a:endParaRPr lang="en-US" sz="1600" dirty="0"/>
          </a:p>
        </p:txBody>
      </p:sp>
      <p:sp>
        <p:nvSpPr>
          <p:cNvPr id="21" name="Text 18"/>
          <p:cNvSpPr/>
          <p:nvPr/>
        </p:nvSpPr>
        <p:spPr>
          <a:xfrm>
            <a:off x="8302600" y="3470300"/>
            <a:ext cx="3381375" cy="742950"/>
          </a:xfrm>
          <a:prstGeom prst="rect">
            <a:avLst/>
          </a:prstGeom>
          <a:noFill/>
          <a:ln/>
        </p:spPr>
        <p:txBody>
          <a:bodyPr wrap="square" lIns="0" tIns="0" rIns="0" bIns="0" rtlCol="0" anchor="ctr"/>
          <a:lstStyle/>
          <a:p>
            <a:pPr>
              <a:lnSpc>
                <a:spcPct val="140000"/>
              </a:lnSpc>
            </a:pPr>
            <a:r>
              <a:rPr lang="en-US" sz="1200" dirty="0">
                <a:solidFill>
                  <a:srgbClr val="A0AEC0"/>
                </a:solidFill>
                <a:latin typeface="Liter" pitchFamily="34" charset="0"/>
                <a:ea typeface="Liter" pitchFamily="34" charset="-122"/>
                <a:cs typeface="Liter" pitchFamily="34" charset="-120"/>
              </a:rPr>
              <a:t>Loan-to-income ratios and interaction-based measures are more predictive than absolute loan amounts or income values.</a:t>
            </a:r>
            <a:endParaRPr lang="en-US" sz="1600" dirty="0"/>
          </a:p>
        </p:txBody>
      </p:sp>
      <p:sp>
        <p:nvSpPr>
          <p:cNvPr id="22" name="Shape 19"/>
          <p:cNvSpPr/>
          <p:nvPr/>
        </p:nvSpPr>
        <p:spPr>
          <a:xfrm>
            <a:off x="385763" y="4602138"/>
            <a:ext cx="11420475" cy="1228725"/>
          </a:xfrm>
          <a:custGeom>
            <a:avLst/>
            <a:gdLst/>
            <a:ahLst/>
            <a:cxnLst/>
            <a:rect l="l" t="t" r="r" b="b"/>
            <a:pathLst>
              <a:path w="11420475" h="1228725">
                <a:moveTo>
                  <a:pt x="76206" y="0"/>
                </a:moveTo>
                <a:lnTo>
                  <a:pt x="11344269" y="0"/>
                </a:lnTo>
                <a:cubicBezTo>
                  <a:pt x="11386357" y="0"/>
                  <a:pt x="11420475" y="34118"/>
                  <a:pt x="11420475" y="76206"/>
                </a:cubicBezTo>
                <a:lnTo>
                  <a:pt x="11420475" y="1152519"/>
                </a:lnTo>
                <a:cubicBezTo>
                  <a:pt x="11420475" y="1194607"/>
                  <a:pt x="11386357" y="1228725"/>
                  <a:pt x="11344269" y="1228725"/>
                </a:cubicBezTo>
                <a:lnTo>
                  <a:pt x="76206" y="1228725"/>
                </a:lnTo>
                <a:cubicBezTo>
                  <a:pt x="34118" y="1228725"/>
                  <a:pt x="0" y="1194607"/>
                  <a:pt x="0" y="1152519"/>
                </a:cubicBezTo>
                <a:lnTo>
                  <a:pt x="0" y="76206"/>
                </a:lnTo>
                <a:cubicBezTo>
                  <a:pt x="0" y="34147"/>
                  <a:pt x="34147" y="0"/>
                  <a:pt x="76206" y="0"/>
                </a:cubicBezTo>
                <a:close/>
              </a:path>
            </a:pathLst>
          </a:custGeom>
          <a:solidFill>
            <a:srgbClr val="C0A062">
              <a:alpha val="20000"/>
            </a:srgbClr>
          </a:solidFill>
          <a:ln w="12700">
            <a:solidFill>
              <a:srgbClr val="C0A062">
                <a:alpha val="40000"/>
              </a:srgbClr>
            </a:solidFill>
            <a:prstDash val="solid"/>
          </a:ln>
        </p:spPr>
        <p:txBody>
          <a:bodyPr/>
          <a:lstStyle/>
          <a:p>
            <a:endParaRPr lang="zh-CN" altLang="en-US"/>
          </a:p>
        </p:txBody>
      </p:sp>
      <p:sp>
        <p:nvSpPr>
          <p:cNvPr id="23" name="Shape 20"/>
          <p:cNvSpPr/>
          <p:nvPr/>
        </p:nvSpPr>
        <p:spPr>
          <a:xfrm>
            <a:off x="654844" y="5073625"/>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C0A062"/>
          </a:solidFill>
          <a:ln/>
        </p:spPr>
        <p:txBody>
          <a:bodyPr/>
          <a:lstStyle/>
          <a:p>
            <a:endParaRPr lang="zh-CN" altLang="en-US"/>
          </a:p>
        </p:txBody>
      </p:sp>
      <p:sp>
        <p:nvSpPr>
          <p:cNvPr id="24" name="Text 21"/>
          <p:cNvSpPr/>
          <p:nvPr/>
        </p:nvSpPr>
        <p:spPr>
          <a:xfrm>
            <a:off x="1090613" y="4797400"/>
            <a:ext cx="10620375" cy="266700"/>
          </a:xfrm>
          <a:prstGeom prst="rect">
            <a:avLst/>
          </a:prstGeom>
          <a:noFill/>
          <a:ln/>
        </p:spPr>
        <p:txBody>
          <a:bodyPr wrap="square" lIns="0" tIns="0" rIns="0" bIns="0" rtlCol="0" anchor="ctr"/>
          <a:lstStyle/>
          <a:p>
            <a:pPr>
              <a:lnSpc>
                <a:spcPct val="120000"/>
              </a:lnSpc>
            </a:pPr>
            <a:r>
              <a:rPr lang="en-US" sz="1500" b="1" dirty="0">
                <a:solidFill>
                  <a:srgbClr val="F7FAFC"/>
                </a:solidFill>
                <a:latin typeface="Liter" pitchFamily="34" charset="0"/>
                <a:ea typeface="Liter" pitchFamily="34" charset="-122"/>
                <a:cs typeface="Liter" pitchFamily="34" charset="-120"/>
              </a:rPr>
              <a:t>Core Insight</a:t>
            </a:r>
            <a:endParaRPr lang="en-US" sz="1600" dirty="0"/>
          </a:p>
        </p:txBody>
      </p:sp>
      <p:sp>
        <p:nvSpPr>
          <p:cNvPr id="25" name="Text 22"/>
          <p:cNvSpPr/>
          <p:nvPr/>
        </p:nvSpPr>
        <p:spPr>
          <a:xfrm>
            <a:off x="1090613" y="5140300"/>
            <a:ext cx="10601325" cy="495300"/>
          </a:xfrm>
          <a:prstGeom prst="rect">
            <a:avLst/>
          </a:prstGeom>
          <a:noFill/>
          <a:ln/>
        </p:spPr>
        <p:txBody>
          <a:bodyPr wrap="square" lIns="0" tIns="0" rIns="0" bIns="0" rtlCol="0" anchor="ctr"/>
          <a:lstStyle/>
          <a:p>
            <a:pPr>
              <a:lnSpc>
                <a:spcPct val="140000"/>
              </a:lnSpc>
            </a:pPr>
            <a:r>
              <a:rPr lang="en-US" sz="1200" dirty="0">
                <a:solidFill>
                  <a:srgbClr val="A0AEC0"/>
                </a:solidFill>
                <a:latin typeface="Liter" pitchFamily="34" charset="0"/>
                <a:ea typeface="Liter" pitchFamily="34" charset="-122"/>
                <a:cs typeface="Liter" pitchFamily="34" charset="-120"/>
              </a:rPr>
              <a:t>Incorporating structural stability indicators and interaction-based measures enables lenders to </a:t>
            </a:r>
            <a:r>
              <a:rPr lang="en-US" sz="1200" b="1" dirty="0">
                <a:solidFill>
                  <a:srgbClr val="C0A062"/>
                </a:solidFill>
                <a:latin typeface="Liter" pitchFamily="34" charset="0"/>
                <a:ea typeface="Liter" pitchFamily="34" charset="-122"/>
                <a:cs typeface="Liter" pitchFamily="34" charset="-120"/>
              </a:rPr>
              <a:t>more effectively distinguish reliable applicants from high-risk ones</a:t>
            </a:r>
            <a:r>
              <a:rPr lang="en-US" sz="1200" dirty="0">
                <a:solidFill>
                  <a:srgbClr val="A0AEC0"/>
                </a:solidFill>
                <a:latin typeface="Liter" pitchFamily="34" charset="0"/>
                <a:ea typeface="Liter" pitchFamily="34" charset="-122"/>
                <a:cs typeface="Liter" pitchFamily="34" charset="-120"/>
              </a:rPr>
              <a:t> , directly supporting the optimization of approval decisions and minimizing both opportunity loss and credit risk.</a:t>
            </a:r>
            <a:endParaRPr lang="en-US" sz="1600" dirty="0"/>
          </a:p>
        </p:txBody>
      </p:sp>
      <p:sp>
        <p:nvSpPr>
          <p:cNvPr id="26" name="Shape 23"/>
          <p:cNvSpPr/>
          <p:nvPr/>
        </p:nvSpPr>
        <p:spPr>
          <a:xfrm>
            <a:off x="381000" y="60198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0A062">
              <a:alpha val="20000"/>
            </a:srgbClr>
          </a:solidFill>
          <a:ln/>
        </p:spPr>
        <p:txBody>
          <a:bodyPr/>
          <a:lstStyle/>
          <a:p>
            <a:endParaRPr lang="zh-CN" altLang="en-US"/>
          </a:p>
        </p:txBody>
      </p:sp>
      <p:sp>
        <p:nvSpPr>
          <p:cNvPr id="27" name="Shape 24"/>
          <p:cNvSpPr/>
          <p:nvPr/>
        </p:nvSpPr>
        <p:spPr>
          <a:xfrm>
            <a:off x="490538" y="6153150"/>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C0A062"/>
          </a:solidFill>
          <a:ln/>
        </p:spPr>
        <p:txBody>
          <a:bodyPr/>
          <a:lstStyle/>
          <a:p>
            <a:endParaRPr lang="zh-CN" altLang="en-US"/>
          </a:p>
        </p:txBody>
      </p:sp>
      <p:sp>
        <p:nvSpPr>
          <p:cNvPr id="28" name="Text 25"/>
          <p:cNvSpPr/>
          <p:nvPr/>
        </p:nvSpPr>
        <p:spPr>
          <a:xfrm>
            <a:off x="990600" y="6038850"/>
            <a:ext cx="2809875" cy="228600"/>
          </a:xfrm>
          <a:prstGeom prst="rect">
            <a:avLst/>
          </a:prstGeom>
          <a:noFill/>
          <a:ln/>
        </p:spPr>
        <p:txBody>
          <a:bodyPr wrap="square" lIns="0" tIns="0" rIns="0" bIns="0" rtlCol="0" anchor="ctr"/>
          <a:lstStyle/>
          <a:p>
            <a:pPr>
              <a:lnSpc>
                <a:spcPct val="130000"/>
              </a:lnSpc>
            </a:pPr>
            <a:r>
              <a:rPr lang="en-US" sz="1200" b="1" dirty="0">
                <a:solidFill>
                  <a:srgbClr val="F7FAFC"/>
                </a:solidFill>
                <a:latin typeface="Liter" pitchFamily="34" charset="0"/>
                <a:ea typeface="Liter" pitchFamily="34" charset="-122"/>
                <a:cs typeface="Liter" pitchFamily="34" charset="-120"/>
              </a:rPr>
              <a:t>Data Bootcamp Group 12</a:t>
            </a:r>
            <a:endParaRPr lang="en-US" sz="1600" dirty="0"/>
          </a:p>
        </p:txBody>
      </p:sp>
      <p:sp>
        <p:nvSpPr>
          <p:cNvPr id="29" name="Text 26"/>
          <p:cNvSpPr/>
          <p:nvPr/>
        </p:nvSpPr>
        <p:spPr>
          <a:xfrm>
            <a:off x="990600" y="6267450"/>
            <a:ext cx="2800350" cy="190500"/>
          </a:xfrm>
          <a:prstGeom prst="rect">
            <a:avLst/>
          </a:prstGeom>
          <a:noFill/>
          <a:ln/>
        </p:spPr>
        <p:txBody>
          <a:bodyPr wrap="square" lIns="0" tIns="0" rIns="0" bIns="0" rtlCol="0" anchor="ctr"/>
          <a:lstStyle/>
          <a:p>
            <a:pPr>
              <a:lnSpc>
                <a:spcPct val="120000"/>
              </a:lnSpc>
            </a:pPr>
            <a:r>
              <a:rPr lang="en-US" sz="1050" dirty="0">
                <a:solidFill>
                  <a:srgbClr val="A0AEC0"/>
                </a:solidFill>
                <a:latin typeface="Liter" pitchFamily="34" charset="0"/>
                <a:ea typeface="Liter" pitchFamily="34" charset="-122"/>
                <a:cs typeface="Liter" pitchFamily="34" charset="-120"/>
              </a:rPr>
              <a:t>Skye Xi • Jonathan Cain </a:t>
            </a:r>
            <a:r>
              <a:rPr lang="en-US" altLang="zh-CN" sz="1050" dirty="0">
                <a:solidFill>
                  <a:srgbClr val="A0AEC0"/>
                </a:solidFill>
                <a:latin typeface="Liter" pitchFamily="34" charset="0"/>
                <a:ea typeface="Liter" pitchFamily="34" charset="-122"/>
                <a:cs typeface="Liter" pitchFamily="34" charset="-120"/>
              </a:rPr>
              <a:t> • </a:t>
            </a:r>
            <a:r>
              <a:rPr lang="en-US" sz="1050" dirty="0">
                <a:solidFill>
                  <a:srgbClr val="A0AEC0"/>
                </a:solidFill>
                <a:latin typeface="Liter" pitchFamily="34" charset="0"/>
                <a:ea typeface="Liter" pitchFamily="34" charset="-122"/>
                <a:cs typeface="Liter" pitchFamily="34" charset="-120"/>
              </a:rPr>
              <a:t> Sab Rajesh Krishnan</a:t>
            </a:r>
            <a:endParaRPr lang="en-US" sz="1600" dirty="0"/>
          </a:p>
        </p:txBody>
      </p:sp>
      <p:sp>
        <p:nvSpPr>
          <p:cNvPr id="30" name="Text 27"/>
          <p:cNvSpPr/>
          <p:nvPr/>
        </p:nvSpPr>
        <p:spPr>
          <a:xfrm>
            <a:off x="10397356" y="6057900"/>
            <a:ext cx="1409700" cy="190500"/>
          </a:xfrm>
          <a:prstGeom prst="rect">
            <a:avLst/>
          </a:prstGeom>
          <a:noFill/>
          <a:ln/>
        </p:spPr>
        <p:txBody>
          <a:bodyPr wrap="square" lIns="0" tIns="0" rIns="0" bIns="0" rtlCol="0" anchor="ctr"/>
          <a:lstStyle/>
          <a:p>
            <a:pPr algn="r">
              <a:lnSpc>
                <a:spcPct val="120000"/>
              </a:lnSpc>
            </a:pPr>
            <a:r>
              <a:rPr lang="en-US" sz="1050" dirty="0">
                <a:solidFill>
                  <a:srgbClr val="A0AEC0"/>
                </a:solidFill>
                <a:latin typeface="Liter" pitchFamily="34" charset="0"/>
                <a:ea typeface="Liter" pitchFamily="34" charset="-122"/>
                <a:cs typeface="Liter" pitchFamily="34" charset="-120"/>
              </a:rPr>
              <a:t>February 2026</a:t>
            </a:r>
            <a:endParaRPr lang="en-US" sz="1600" dirty="0"/>
          </a:p>
        </p:txBody>
      </p:sp>
      <p:sp>
        <p:nvSpPr>
          <p:cNvPr id="31" name="Text 28"/>
          <p:cNvSpPr/>
          <p:nvPr/>
        </p:nvSpPr>
        <p:spPr>
          <a:xfrm>
            <a:off x="10397356" y="6248400"/>
            <a:ext cx="1409700" cy="190500"/>
          </a:xfrm>
          <a:prstGeom prst="rect">
            <a:avLst/>
          </a:prstGeom>
          <a:noFill/>
          <a:ln/>
        </p:spPr>
        <p:txBody>
          <a:bodyPr wrap="square" lIns="0" tIns="0" rIns="0" bIns="0" rtlCol="0" anchor="ctr"/>
          <a:lstStyle/>
          <a:p>
            <a:pPr algn="r">
              <a:lnSpc>
                <a:spcPct val="120000"/>
              </a:lnSpc>
            </a:pPr>
            <a:r>
              <a:rPr lang="en-US" sz="1050" dirty="0">
                <a:solidFill>
                  <a:srgbClr val="A0AEC0"/>
                </a:solidFill>
                <a:latin typeface="Liter" pitchFamily="34" charset="0"/>
                <a:ea typeface="Liter" pitchFamily="34" charset="-122"/>
                <a:cs typeface="Liter" pitchFamily="34" charset="-120"/>
              </a:rPr>
              <a:t>Credit Risk EDA Report</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702</TotalTime>
  <Words>1307</Words>
  <Application>Microsoft Macintosh PowerPoint</Application>
  <PresentationFormat>宽屏</PresentationFormat>
  <Paragraphs>162</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Liter</vt:lpstr>
      <vt:lpstr>Arial</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Risk Exploratory Data Analysis</dc:title>
  <dc:subject>Credit Risk Exploratory Data Analysis</dc:subject>
  <dc:creator>Kimi</dc:creator>
  <cp:lastModifiedBy>Skye Xi</cp:lastModifiedBy>
  <cp:revision>4</cp:revision>
  <dcterms:created xsi:type="dcterms:W3CDTF">2026-02-28T02:55:49Z</dcterms:created>
  <dcterms:modified xsi:type="dcterms:W3CDTF">2026-02-28T14:37:55Z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{"Label":"Credit Risk Exploratory Data Analysis","ContentProducer":"001191110108MACG2KBH8F10000","ProduceID":"19ca1f13-f462-8c61-8000-00009fa076a6","ReservedCode1":"","ContentPropagator":"001191110108MACG2KBH8F20000","PropagateID":"19ca1f13-f462-8c61-8000-00009fa076a6","ReservedCode2":""}</vt:lpwstr>
  </property>
</Properties>
</file>