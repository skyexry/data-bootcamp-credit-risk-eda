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webp" ContentType="image/webp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Relationship Id="rId4" Type="http://schemas.openxmlformats.org/officeDocument/2006/relationships/custom-properties" Target="docProps/custom.xml" 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embeddedFontLst>
    <p:embeddedFont>
      <p:font typeface="Liter" charset="-122" pitchFamily="34"/>
      <p:regular r:id="rId19"/>
    </p:embeddedFont>
  </p:embeddedFon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webp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webp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40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zoomchartswebstorage.blob.core.windows.net/956ae3e1726d32485e4922d5fa289fd383cc91da.webp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rcRect l="0" r="0" t="0" b="0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rotWithShape="1" flip="none">
            <a:gsLst>
              <a:gs pos="0">
                <a:srgbClr val="2E4057">
                  <a:alpha val="95000"/>
                </a:srgbClr>
              </a:gs>
              <a:gs pos="50000">
                <a:srgbClr val="2E4057">
                  <a:alpha val="85000"/>
                </a:srgbClr>
              </a:gs>
              <a:gs pos="100000">
                <a:srgbClr val="2E4057">
                  <a:alpha val="70000"/>
                </a:srgbClr>
              </a:gs>
            </a:gsLst>
            <a:lin ang="2700000" scaled="1"/>
          </a:gradFill>
          <a:ln/>
        </p:spPr>
      </p:sp>
      <p:sp>
        <p:nvSpPr>
          <p:cNvPr id="4" name="Shape 1"/>
          <p:cNvSpPr/>
          <p:nvPr/>
        </p:nvSpPr>
        <p:spPr>
          <a:xfrm>
            <a:off x="381000" y="495300"/>
            <a:ext cx="609600" cy="38100"/>
          </a:xfrm>
          <a:custGeom>
            <a:avLst/>
            <a:gdLst/>
            <a:ahLst/>
            <a:cxnLst/>
            <a:rect l="l" t="t" r="r" b="b"/>
            <a:pathLst>
              <a:path w="609600" h="38100">
                <a:moveTo>
                  <a:pt x="0" y="0"/>
                </a:moveTo>
                <a:lnTo>
                  <a:pt x="609600" y="0"/>
                </a:lnTo>
                <a:lnTo>
                  <a:pt x="6096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C0A062"/>
          </a:solidFill>
          <a:ln/>
        </p:spPr>
      </p:sp>
      <p:sp>
        <p:nvSpPr>
          <p:cNvPr id="5" name="Text 2"/>
          <p:cNvSpPr/>
          <p:nvPr/>
        </p:nvSpPr>
        <p:spPr>
          <a:xfrm>
            <a:off x="1104900" y="381000"/>
            <a:ext cx="27908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spc="135" kern="0" dirty="0">
                <a:solidFill>
                  <a:srgbClr val="C0A06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Data Bootcamp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381000" y="1628775"/>
            <a:ext cx="8877300" cy="2571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F7FAF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Credit Risk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F7FAF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Exploratory Data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F7FAF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Analysis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81000" y="4467225"/>
            <a:ext cx="238125" cy="190500"/>
          </a:xfrm>
          <a:custGeom>
            <a:avLst/>
            <a:gdLst/>
            <a:ahLst/>
            <a:cxnLst/>
            <a:rect l="l" t="t" r="r" b="b"/>
            <a:pathLst>
              <a:path w="238125" h="190500">
                <a:moveTo>
                  <a:pt x="119063" y="5953"/>
                </a:moveTo>
                <a:cubicBezTo>
                  <a:pt x="140419" y="5953"/>
                  <a:pt x="157758" y="23292"/>
                  <a:pt x="157758" y="44648"/>
                </a:cubicBezTo>
                <a:cubicBezTo>
                  <a:pt x="157758" y="66005"/>
                  <a:pt x="140419" y="83344"/>
                  <a:pt x="119063" y="83344"/>
                </a:cubicBezTo>
                <a:cubicBezTo>
                  <a:pt x="97706" y="83344"/>
                  <a:pt x="80367" y="66005"/>
                  <a:pt x="80367" y="44648"/>
                </a:cubicBezTo>
                <a:cubicBezTo>
                  <a:pt x="80367" y="23292"/>
                  <a:pt x="97706" y="5953"/>
                  <a:pt x="119063" y="5953"/>
                </a:cubicBezTo>
                <a:close/>
                <a:moveTo>
                  <a:pt x="35719" y="32742"/>
                </a:moveTo>
                <a:cubicBezTo>
                  <a:pt x="50504" y="32742"/>
                  <a:pt x="62508" y="44746"/>
                  <a:pt x="62508" y="59531"/>
                </a:cubicBezTo>
                <a:cubicBezTo>
                  <a:pt x="62508" y="74317"/>
                  <a:pt x="50504" y="86320"/>
                  <a:pt x="35719" y="86320"/>
                </a:cubicBezTo>
                <a:cubicBezTo>
                  <a:pt x="20933" y="86320"/>
                  <a:pt x="8930" y="74317"/>
                  <a:pt x="8930" y="59531"/>
                </a:cubicBezTo>
                <a:cubicBezTo>
                  <a:pt x="8930" y="44746"/>
                  <a:pt x="20933" y="32742"/>
                  <a:pt x="35719" y="32742"/>
                </a:cubicBezTo>
                <a:close/>
                <a:moveTo>
                  <a:pt x="0" y="154781"/>
                </a:moveTo>
                <a:cubicBezTo>
                  <a:pt x="0" y="128476"/>
                  <a:pt x="21320" y="107156"/>
                  <a:pt x="47625" y="107156"/>
                </a:cubicBezTo>
                <a:cubicBezTo>
                  <a:pt x="52388" y="107156"/>
                  <a:pt x="57001" y="107863"/>
                  <a:pt x="61354" y="109165"/>
                </a:cubicBezTo>
                <a:cubicBezTo>
                  <a:pt x="49113" y="122858"/>
                  <a:pt x="41672" y="140940"/>
                  <a:pt x="41672" y="160734"/>
                </a:cubicBezTo>
                <a:lnTo>
                  <a:pt x="41672" y="166688"/>
                </a:lnTo>
                <a:cubicBezTo>
                  <a:pt x="41672" y="170929"/>
                  <a:pt x="42565" y="174947"/>
                  <a:pt x="44165" y="178594"/>
                </a:cubicBezTo>
                <a:lnTo>
                  <a:pt x="11906" y="178594"/>
                </a:lnTo>
                <a:cubicBezTo>
                  <a:pt x="5321" y="178594"/>
                  <a:pt x="0" y="173273"/>
                  <a:pt x="0" y="166688"/>
                </a:cubicBezTo>
                <a:lnTo>
                  <a:pt x="0" y="154781"/>
                </a:lnTo>
                <a:close/>
                <a:moveTo>
                  <a:pt x="193960" y="178594"/>
                </a:moveTo>
                <a:cubicBezTo>
                  <a:pt x="195560" y="174947"/>
                  <a:pt x="196453" y="170929"/>
                  <a:pt x="196453" y="166688"/>
                </a:cubicBezTo>
                <a:lnTo>
                  <a:pt x="196453" y="160734"/>
                </a:lnTo>
                <a:cubicBezTo>
                  <a:pt x="196453" y="140940"/>
                  <a:pt x="189012" y="122858"/>
                  <a:pt x="176771" y="109165"/>
                </a:cubicBezTo>
                <a:cubicBezTo>
                  <a:pt x="181124" y="107863"/>
                  <a:pt x="185738" y="107156"/>
                  <a:pt x="190500" y="107156"/>
                </a:cubicBezTo>
                <a:cubicBezTo>
                  <a:pt x="216805" y="107156"/>
                  <a:pt x="238125" y="128476"/>
                  <a:pt x="238125" y="154781"/>
                </a:cubicBezTo>
                <a:lnTo>
                  <a:pt x="238125" y="166688"/>
                </a:lnTo>
                <a:cubicBezTo>
                  <a:pt x="238125" y="173273"/>
                  <a:pt x="232804" y="178594"/>
                  <a:pt x="226219" y="178594"/>
                </a:cubicBezTo>
                <a:lnTo>
                  <a:pt x="193960" y="178594"/>
                </a:lnTo>
                <a:close/>
                <a:moveTo>
                  <a:pt x="175617" y="59531"/>
                </a:moveTo>
                <a:cubicBezTo>
                  <a:pt x="175617" y="44746"/>
                  <a:pt x="187621" y="32742"/>
                  <a:pt x="202406" y="32742"/>
                </a:cubicBezTo>
                <a:cubicBezTo>
                  <a:pt x="217192" y="32742"/>
                  <a:pt x="229195" y="44746"/>
                  <a:pt x="229195" y="59531"/>
                </a:cubicBezTo>
                <a:cubicBezTo>
                  <a:pt x="229195" y="74317"/>
                  <a:pt x="217192" y="86320"/>
                  <a:pt x="202406" y="86320"/>
                </a:cubicBezTo>
                <a:cubicBezTo>
                  <a:pt x="187621" y="86320"/>
                  <a:pt x="175617" y="74317"/>
                  <a:pt x="175617" y="59531"/>
                </a:cubicBezTo>
                <a:close/>
                <a:moveTo>
                  <a:pt x="59531" y="160734"/>
                </a:moveTo>
                <a:cubicBezTo>
                  <a:pt x="59531" y="127843"/>
                  <a:pt x="86171" y="101203"/>
                  <a:pt x="119063" y="101203"/>
                </a:cubicBezTo>
                <a:cubicBezTo>
                  <a:pt x="151954" y="101203"/>
                  <a:pt x="178594" y="127843"/>
                  <a:pt x="178594" y="160734"/>
                </a:cubicBezTo>
                <a:lnTo>
                  <a:pt x="178594" y="166688"/>
                </a:lnTo>
                <a:cubicBezTo>
                  <a:pt x="178594" y="173273"/>
                  <a:pt x="173273" y="178594"/>
                  <a:pt x="166688" y="178594"/>
                </a:cubicBezTo>
                <a:lnTo>
                  <a:pt x="71438" y="178594"/>
                </a:lnTo>
                <a:cubicBezTo>
                  <a:pt x="64852" y="178594"/>
                  <a:pt x="59531" y="173273"/>
                  <a:pt x="59531" y="166688"/>
                </a:cubicBezTo>
                <a:lnTo>
                  <a:pt x="59531" y="160734"/>
                </a:lnTo>
                <a:close/>
              </a:path>
            </a:pathLst>
          </a:custGeom>
          <a:solidFill>
            <a:srgbClr val="C0A062"/>
          </a:solidFill>
          <a:ln/>
        </p:spPr>
      </p:sp>
      <p:sp>
        <p:nvSpPr>
          <p:cNvPr id="8" name="Text 5"/>
          <p:cNvSpPr/>
          <p:nvPr/>
        </p:nvSpPr>
        <p:spPr>
          <a:xfrm>
            <a:off x="695325" y="4429125"/>
            <a:ext cx="838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dirty="0">
                <a:solidFill>
                  <a:srgbClr val="A0AEC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Group 12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1667470" y="4448175"/>
            <a:ext cx="38100" cy="228600"/>
          </a:xfrm>
          <a:custGeom>
            <a:avLst/>
            <a:gdLst/>
            <a:ahLst/>
            <a:cxnLst/>
            <a:rect l="l" t="t" r="r" b="b"/>
            <a:pathLst>
              <a:path w="38100" h="228600">
                <a:moveTo>
                  <a:pt x="0" y="0"/>
                </a:moveTo>
                <a:lnTo>
                  <a:pt x="38100" y="0"/>
                </a:lnTo>
                <a:lnTo>
                  <a:pt x="38100" y="228600"/>
                </a:lnTo>
                <a:lnTo>
                  <a:pt x="0" y="228600"/>
                </a:lnTo>
                <a:lnTo>
                  <a:pt x="0" y="0"/>
                </a:lnTo>
                <a:close/>
              </a:path>
            </a:pathLst>
          </a:custGeom>
          <a:solidFill>
            <a:srgbClr val="A0AEC0"/>
          </a:solidFill>
          <a:ln/>
        </p:spPr>
      </p:sp>
      <p:sp>
        <p:nvSpPr>
          <p:cNvPr id="10" name="Shape 7"/>
          <p:cNvSpPr/>
          <p:nvPr/>
        </p:nvSpPr>
        <p:spPr>
          <a:xfrm>
            <a:off x="1969889" y="4467225"/>
            <a:ext cx="166688" cy="190500"/>
          </a:xfrm>
          <a:custGeom>
            <a:avLst/>
            <a:gdLst/>
            <a:ahLst/>
            <a:cxnLst/>
            <a:rect l="l" t="t" r="r" b="b"/>
            <a:pathLst>
              <a:path w="166688" h="190500">
                <a:moveTo>
                  <a:pt x="47625" y="0"/>
                </a:moveTo>
                <a:cubicBezTo>
                  <a:pt x="41039" y="0"/>
                  <a:pt x="35719" y="5321"/>
                  <a:pt x="35719" y="11906"/>
                </a:cubicBezTo>
                <a:lnTo>
                  <a:pt x="35719" y="23812"/>
                </a:lnTo>
                <a:lnTo>
                  <a:pt x="23812" y="23812"/>
                </a:lnTo>
                <a:cubicBezTo>
                  <a:pt x="10678" y="23812"/>
                  <a:pt x="0" y="34491"/>
                  <a:pt x="0" y="47625"/>
                </a:cubicBezTo>
                <a:lnTo>
                  <a:pt x="0" y="65484"/>
                </a:lnTo>
                <a:lnTo>
                  <a:pt x="166688" y="65484"/>
                </a:lnTo>
                <a:lnTo>
                  <a:pt x="166688" y="47625"/>
                </a:lnTo>
                <a:cubicBezTo>
                  <a:pt x="166688" y="34491"/>
                  <a:pt x="156009" y="23812"/>
                  <a:pt x="142875" y="23812"/>
                </a:cubicBezTo>
                <a:lnTo>
                  <a:pt x="130969" y="23812"/>
                </a:lnTo>
                <a:lnTo>
                  <a:pt x="130969" y="11906"/>
                </a:lnTo>
                <a:cubicBezTo>
                  <a:pt x="130969" y="5321"/>
                  <a:pt x="125648" y="0"/>
                  <a:pt x="119063" y="0"/>
                </a:cubicBezTo>
                <a:cubicBezTo>
                  <a:pt x="112477" y="0"/>
                  <a:pt x="107156" y="5321"/>
                  <a:pt x="107156" y="11906"/>
                </a:cubicBezTo>
                <a:lnTo>
                  <a:pt x="107156" y="23812"/>
                </a:lnTo>
                <a:lnTo>
                  <a:pt x="59531" y="23812"/>
                </a:lnTo>
                <a:lnTo>
                  <a:pt x="59531" y="11906"/>
                </a:lnTo>
                <a:cubicBezTo>
                  <a:pt x="59531" y="5321"/>
                  <a:pt x="54211" y="0"/>
                  <a:pt x="47625" y="0"/>
                </a:cubicBezTo>
                <a:close/>
                <a:moveTo>
                  <a:pt x="0" y="83344"/>
                </a:moveTo>
                <a:lnTo>
                  <a:pt x="0" y="154781"/>
                </a:lnTo>
                <a:cubicBezTo>
                  <a:pt x="0" y="167915"/>
                  <a:pt x="10678" y="178594"/>
                  <a:pt x="23812" y="178594"/>
                </a:cubicBezTo>
                <a:lnTo>
                  <a:pt x="142875" y="178594"/>
                </a:lnTo>
                <a:cubicBezTo>
                  <a:pt x="156009" y="178594"/>
                  <a:pt x="166688" y="167915"/>
                  <a:pt x="166688" y="154781"/>
                </a:cubicBezTo>
                <a:lnTo>
                  <a:pt x="166688" y="83344"/>
                </a:lnTo>
                <a:lnTo>
                  <a:pt x="0" y="83344"/>
                </a:lnTo>
                <a:close/>
              </a:path>
            </a:pathLst>
          </a:custGeom>
          <a:solidFill>
            <a:srgbClr val="C0A062"/>
          </a:solidFill>
          <a:ln/>
        </p:spPr>
      </p:sp>
      <p:sp>
        <p:nvSpPr>
          <p:cNvPr id="11" name="Text 8"/>
          <p:cNvSpPr/>
          <p:nvPr/>
        </p:nvSpPr>
        <p:spPr>
          <a:xfrm>
            <a:off x="2248495" y="4429125"/>
            <a:ext cx="13430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dirty="0">
                <a:solidFill>
                  <a:srgbClr val="A0AEC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February 2026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381000" y="600075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0"/>
                </a:moveTo>
                <a:lnTo>
                  <a:pt x="228600" y="0"/>
                </a:lnTo>
                <a:cubicBezTo>
                  <a:pt x="354768" y="0"/>
                  <a:pt x="457200" y="102432"/>
                  <a:pt x="457200" y="228600"/>
                </a:cubicBezTo>
                <a:lnTo>
                  <a:pt x="457200" y="228600"/>
                </a:lnTo>
                <a:cubicBezTo>
                  <a:pt x="457200" y="354768"/>
                  <a:pt x="354768" y="457200"/>
                  <a:pt x="228600" y="457200"/>
                </a:cubicBezTo>
                <a:lnTo>
                  <a:pt x="228600" y="457200"/>
                </a:lnTo>
                <a:cubicBezTo>
                  <a:pt x="102432" y="457200"/>
                  <a:pt x="0" y="354768"/>
                  <a:pt x="0" y="228600"/>
                </a:cubicBezTo>
                <a:lnTo>
                  <a:pt x="0" y="228600"/>
                </a:lnTo>
                <a:cubicBezTo>
                  <a:pt x="0" y="102432"/>
                  <a:pt x="102432" y="0"/>
                  <a:pt x="228600" y="0"/>
                </a:cubicBezTo>
                <a:close/>
              </a:path>
            </a:pathLst>
          </a:custGeom>
          <a:solidFill>
            <a:srgbClr val="C0A062"/>
          </a:solidFill>
          <a:ln/>
        </p:spPr>
      </p:sp>
      <p:sp>
        <p:nvSpPr>
          <p:cNvPr id="13" name="Shape 10"/>
          <p:cNvSpPr/>
          <p:nvPr/>
        </p:nvSpPr>
        <p:spPr>
          <a:xfrm>
            <a:off x="514350" y="613410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23812" y="23812"/>
                </a:moveTo>
                <a:cubicBezTo>
                  <a:pt x="23812" y="17227"/>
                  <a:pt x="18492" y="11906"/>
                  <a:pt x="11906" y="11906"/>
                </a:cubicBezTo>
                <a:cubicBezTo>
                  <a:pt x="5321" y="11906"/>
                  <a:pt x="0" y="17227"/>
                  <a:pt x="0" y="23812"/>
                </a:cubicBezTo>
                <a:lnTo>
                  <a:pt x="0" y="148828"/>
                </a:lnTo>
                <a:cubicBezTo>
                  <a:pt x="0" y="165274"/>
                  <a:pt x="13320" y="178594"/>
                  <a:pt x="29766" y="178594"/>
                </a:cubicBezTo>
                <a:lnTo>
                  <a:pt x="178594" y="178594"/>
                </a:lnTo>
                <a:cubicBezTo>
                  <a:pt x="185179" y="178594"/>
                  <a:pt x="190500" y="173273"/>
                  <a:pt x="190500" y="166688"/>
                </a:cubicBezTo>
                <a:cubicBezTo>
                  <a:pt x="190500" y="160102"/>
                  <a:pt x="185179" y="154781"/>
                  <a:pt x="178594" y="154781"/>
                </a:cubicBezTo>
                <a:lnTo>
                  <a:pt x="29766" y="154781"/>
                </a:lnTo>
                <a:cubicBezTo>
                  <a:pt x="26491" y="154781"/>
                  <a:pt x="23812" y="152102"/>
                  <a:pt x="23812" y="148828"/>
                </a:cubicBezTo>
                <a:lnTo>
                  <a:pt x="23812" y="23812"/>
                </a:lnTo>
                <a:close/>
                <a:moveTo>
                  <a:pt x="175096" y="56034"/>
                </a:moveTo>
                <a:cubicBezTo>
                  <a:pt x="179747" y="51383"/>
                  <a:pt x="179747" y="43830"/>
                  <a:pt x="175096" y="39179"/>
                </a:cubicBezTo>
                <a:cubicBezTo>
                  <a:pt x="170445" y="34528"/>
                  <a:pt x="162892" y="34528"/>
                  <a:pt x="158242" y="39179"/>
                </a:cubicBezTo>
                <a:lnTo>
                  <a:pt x="119063" y="78395"/>
                </a:lnTo>
                <a:lnTo>
                  <a:pt x="97706" y="57076"/>
                </a:lnTo>
                <a:cubicBezTo>
                  <a:pt x="93055" y="52425"/>
                  <a:pt x="85502" y="52425"/>
                  <a:pt x="80851" y="57076"/>
                </a:cubicBezTo>
                <a:lnTo>
                  <a:pt x="45132" y="92794"/>
                </a:lnTo>
                <a:cubicBezTo>
                  <a:pt x="40481" y="97445"/>
                  <a:pt x="40481" y="104998"/>
                  <a:pt x="45132" y="109649"/>
                </a:cubicBezTo>
                <a:cubicBezTo>
                  <a:pt x="49783" y="114300"/>
                  <a:pt x="57336" y="114300"/>
                  <a:pt x="61987" y="109649"/>
                </a:cubicBezTo>
                <a:lnTo>
                  <a:pt x="89297" y="82339"/>
                </a:lnTo>
                <a:lnTo>
                  <a:pt x="110654" y="103696"/>
                </a:lnTo>
                <a:cubicBezTo>
                  <a:pt x="115305" y="108347"/>
                  <a:pt x="122858" y="108347"/>
                  <a:pt x="127508" y="103696"/>
                </a:cubicBezTo>
                <a:lnTo>
                  <a:pt x="175133" y="56071"/>
                </a:lnTo>
                <a:close/>
              </a:path>
            </a:pathLst>
          </a:custGeom>
          <a:solidFill>
            <a:srgbClr val="2E4057"/>
          </a:solidFill>
          <a:ln/>
        </p:spPr>
      </p:sp>
      <p:sp>
        <p:nvSpPr>
          <p:cNvPr id="14" name="Text 11"/>
          <p:cNvSpPr/>
          <p:nvPr/>
        </p:nvSpPr>
        <p:spPr>
          <a:xfrm>
            <a:off x="990600" y="5981700"/>
            <a:ext cx="14573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F7FAF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Risk Assessment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990600" y="6248400"/>
            <a:ext cx="144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A0AEC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Data-Driven Insights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10163398" y="6000750"/>
            <a:ext cx="16478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30000"/>
              </a:lnSpc>
            </a:pPr>
            <a:r>
              <a:rPr lang="en-US" sz="1200" dirty="0">
                <a:solidFill>
                  <a:srgbClr val="A0AEC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Skye Xi • Jonathan Cain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10163398" y="6229350"/>
            <a:ext cx="16478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30000"/>
              </a:lnSpc>
            </a:pPr>
            <a:r>
              <a:rPr lang="en-US" sz="1200" dirty="0">
                <a:solidFill>
                  <a:srgbClr val="A0AEC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Sab Rajesh • Krishnan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81000"/>
            <a:ext cx="1150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spc="120" kern="0" dirty="0">
                <a:solidFill>
                  <a:srgbClr val="C0A06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Navigation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381000" y="685800"/>
            <a:ext cx="1165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600" b="1" dirty="0">
                <a:solidFill>
                  <a:srgbClr val="2E405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Executive Overview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00050" y="1371600"/>
            <a:ext cx="5619750" cy="914400"/>
          </a:xfrm>
          <a:custGeom>
            <a:avLst/>
            <a:gdLst/>
            <a:ahLst/>
            <a:cxnLst/>
            <a:rect l="l" t="t" r="r" b="b"/>
            <a:pathLst>
              <a:path w="5619750" h="914400">
                <a:moveTo>
                  <a:pt x="38100" y="0"/>
                </a:moveTo>
                <a:lnTo>
                  <a:pt x="5543553" y="0"/>
                </a:lnTo>
                <a:cubicBezTo>
                  <a:pt x="5585635" y="0"/>
                  <a:pt x="5619750" y="34115"/>
                  <a:pt x="5619750" y="76197"/>
                </a:cubicBezTo>
                <a:lnTo>
                  <a:pt x="5619750" y="838203"/>
                </a:lnTo>
                <a:cubicBezTo>
                  <a:pt x="5619750" y="880285"/>
                  <a:pt x="5585635" y="914400"/>
                  <a:pt x="5543553" y="914400"/>
                </a:cubicBezTo>
                <a:lnTo>
                  <a:pt x="38100" y="914400"/>
                </a:lnTo>
                <a:cubicBezTo>
                  <a:pt x="17058" y="914400"/>
                  <a:pt x="0" y="897342"/>
                  <a:pt x="0" y="8763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sx="100000" sy="100000" kx="0" ky="0" algn="bl" rotWithShape="0" blurRad="28575" dist="9525" dir="5400000">
              <a:srgbClr val="000000">
                <a:alpha val="10196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00050" y="1371600"/>
            <a:ext cx="38100" cy="914400"/>
          </a:xfrm>
          <a:custGeom>
            <a:avLst/>
            <a:gdLst/>
            <a:ahLst/>
            <a:cxnLst/>
            <a:rect l="l" t="t" r="r" b="b"/>
            <a:pathLst>
              <a:path w="38100" h="914400">
                <a:moveTo>
                  <a:pt x="38100" y="0"/>
                </a:moveTo>
                <a:lnTo>
                  <a:pt x="38100" y="0"/>
                </a:lnTo>
                <a:lnTo>
                  <a:pt x="38100" y="914400"/>
                </a:lnTo>
                <a:lnTo>
                  <a:pt x="38100" y="914400"/>
                </a:lnTo>
                <a:cubicBezTo>
                  <a:pt x="17072" y="914400"/>
                  <a:pt x="0" y="897328"/>
                  <a:pt x="0" y="8763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C0A062"/>
          </a:solidFill>
          <a:ln/>
        </p:spPr>
      </p:sp>
      <p:sp>
        <p:nvSpPr>
          <p:cNvPr id="6" name="Shape 4"/>
          <p:cNvSpPr/>
          <p:nvPr/>
        </p:nvSpPr>
        <p:spPr>
          <a:xfrm>
            <a:off x="609600" y="156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C0A062"/>
          </a:solidFill>
          <a:ln/>
        </p:spPr>
      </p:sp>
      <p:sp>
        <p:nvSpPr>
          <p:cNvPr id="7" name="Text 5"/>
          <p:cNvSpPr/>
          <p:nvPr/>
        </p:nvSpPr>
        <p:spPr>
          <a:xfrm>
            <a:off x="561975" y="1562100"/>
            <a:ext cx="5524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b="1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19200" y="1562100"/>
            <a:ext cx="32861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2E405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Business Context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19200" y="1866900"/>
            <a:ext cx="32670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2D3748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Dual-risk challenge in consumer finance lending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00050" y="2438400"/>
            <a:ext cx="5619750" cy="914400"/>
          </a:xfrm>
          <a:custGeom>
            <a:avLst/>
            <a:gdLst/>
            <a:ahLst/>
            <a:cxnLst/>
            <a:rect l="l" t="t" r="r" b="b"/>
            <a:pathLst>
              <a:path w="5619750" h="914400">
                <a:moveTo>
                  <a:pt x="38100" y="0"/>
                </a:moveTo>
                <a:lnTo>
                  <a:pt x="5543553" y="0"/>
                </a:lnTo>
                <a:cubicBezTo>
                  <a:pt x="5585635" y="0"/>
                  <a:pt x="5619750" y="34115"/>
                  <a:pt x="5619750" y="76197"/>
                </a:cubicBezTo>
                <a:lnTo>
                  <a:pt x="5619750" y="838203"/>
                </a:lnTo>
                <a:cubicBezTo>
                  <a:pt x="5619750" y="880285"/>
                  <a:pt x="5585635" y="914400"/>
                  <a:pt x="5543553" y="914400"/>
                </a:cubicBezTo>
                <a:lnTo>
                  <a:pt x="38100" y="914400"/>
                </a:lnTo>
                <a:cubicBezTo>
                  <a:pt x="17058" y="914400"/>
                  <a:pt x="0" y="897342"/>
                  <a:pt x="0" y="8763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sx="100000" sy="100000" kx="0" ky="0" algn="bl" rotWithShape="0" blurRad="28575" dist="9525" dir="5400000">
              <a:srgbClr val="000000">
                <a:alpha val="10196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00050" y="2438400"/>
            <a:ext cx="38100" cy="914400"/>
          </a:xfrm>
          <a:custGeom>
            <a:avLst/>
            <a:gdLst/>
            <a:ahLst/>
            <a:cxnLst/>
            <a:rect l="l" t="t" r="r" b="b"/>
            <a:pathLst>
              <a:path w="38100" h="914400">
                <a:moveTo>
                  <a:pt x="38100" y="0"/>
                </a:moveTo>
                <a:lnTo>
                  <a:pt x="38100" y="0"/>
                </a:lnTo>
                <a:lnTo>
                  <a:pt x="38100" y="914400"/>
                </a:lnTo>
                <a:lnTo>
                  <a:pt x="38100" y="914400"/>
                </a:lnTo>
                <a:cubicBezTo>
                  <a:pt x="17072" y="914400"/>
                  <a:pt x="0" y="897328"/>
                  <a:pt x="0" y="8763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2E4057"/>
          </a:solidFill>
          <a:ln/>
        </p:spPr>
      </p:sp>
      <p:sp>
        <p:nvSpPr>
          <p:cNvPr id="12" name="Shape 10"/>
          <p:cNvSpPr/>
          <p:nvPr/>
        </p:nvSpPr>
        <p:spPr>
          <a:xfrm>
            <a:off x="609600" y="26289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2E4057"/>
          </a:solidFill>
          <a:ln/>
        </p:spPr>
      </p:sp>
      <p:sp>
        <p:nvSpPr>
          <p:cNvPr id="13" name="Text 11"/>
          <p:cNvSpPr/>
          <p:nvPr/>
        </p:nvSpPr>
        <p:spPr>
          <a:xfrm>
            <a:off x="561975" y="2628900"/>
            <a:ext cx="5524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b="1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19200" y="2628900"/>
            <a:ext cx="29241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2E405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Data Overview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19200" y="2933700"/>
            <a:ext cx="29051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2D3748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Methodology and key variables framework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00050" y="3505200"/>
            <a:ext cx="5619750" cy="914400"/>
          </a:xfrm>
          <a:custGeom>
            <a:avLst/>
            <a:gdLst/>
            <a:ahLst/>
            <a:cxnLst/>
            <a:rect l="l" t="t" r="r" b="b"/>
            <a:pathLst>
              <a:path w="5619750" h="914400">
                <a:moveTo>
                  <a:pt x="38100" y="0"/>
                </a:moveTo>
                <a:lnTo>
                  <a:pt x="5543553" y="0"/>
                </a:lnTo>
                <a:cubicBezTo>
                  <a:pt x="5585635" y="0"/>
                  <a:pt x="5619750" y="34115"/>
                  <a:pt x="5619750" y="76197"/>
                </a:cubicBezTo>
                <a:lnTo>
                  <a:pt x="5619750" y="838203"/>
                </a:lnTo>
                <a:cubicBezTo>
                  <a:pt x="5619750" y="880285"/>
                  <a:pt x="5585635" y="914400"/>
                  <a:pt x="5543553" y="914400"/>
                </a:cubicBezTo>
                <a:lnTo>
                  <a:pt x="38100" y="914400"/>
                </a:lnTo>
                <a:cubicBezTo>
                  <a:pt x="17058" y="914400"/>
                  <a:pt x="0" y="897342"/>
                  <a:pt x="0" y="8763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sx="100000" sy="100000" kx="0" ky="0" algn="bl" rotWithShape="0" blurRad="28575" dist="9525" dir="5400000">
              <a:srgbClr val="000000">
                <a:alpha val="10196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00050" y="3505200"/>
            <a:ext cx="38100" cy="914400"/>
          </a:xfrm>
          <a:custGeom>
            <a:avLst/>
            <a:gdLst/>
            <a:ahLst/>
            <a:cxnLst/>
            <a:rect l="l" t="t" r="r" b="b"/>
            <a:pathLst>
              <a:path w="38100" h="914400">
                <a:moveTo>
                  <a:pt x="38100" y="0"/>
                </a:moveTo>
                <a:lnTo>
                  <a:pt x="38100" y="0"/>
                </a:lnTo>
                <a:lnTo>
                  <a:pt x="38100" y="914400"/>
                </a:lnTo>
                <a:lnTo>
                  <a:pt x="38100" y="914400"/>
                </a:lnTo>
                <a:cubicBezTo>
                  <a:pt x="17072" y="914400"/>
                  <a:pt x="0" y="897328"/>
                  <a:pt x="0" y="8763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A0AEC0"/>
          </a:solidFill>
          <a:ln/>
        </p:spPr>
      </p:sp>
      <p:sp>
        <p:nvSpPr>
          <p:cNvPr id="18" name="Shape 16"/>
          <p:cNvSpPr/>
          <p:nvPr/>
        </p:nvSpPr>
        <p:spPr>
          <a:xfrm>
            <a:off x="609600" y="36957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A0AEC0"/>
          </a:solidFill>
          <a:ln/>
        </p:spPr>
      </p:sp>
      <p:sp>
        <p:nvSpPr>
          <p:cNvPr id="19" name="Text 17"/>
          <p:cNvSpPr/>
          <p:nvPr/>
        </p:nvSpPr>
        <p:spPr>
          <a:xfrm>
            <a:off x="561975" y="3695700"/>
            <a:ext cx="5524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b="1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219200" y="3695700"/>
            <a:ext cx="31051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2E405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Univariate: Categorical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19200" y="4000500"/>
            <a:ext cx="3086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2D3748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Income, education, and family status analysis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00050" y="4572000"/>
            <a:ext cx="5619750" cy="914400"/>
          </a:xfrm>
          <a:custGeom>
            <a:avLst/>
            <a:gdLst/>
            <a:ahLst/>
            <a:cxnLst/>
            <a:rect l="l" t="t" r="r" b="b"/>
            <a:pathLst>
              <a:path w="5619750" h="914400">
                <a:moveTo>
                  <a:pt x="38100" y="0"/>
                </a:moveTo>
                <a:lnTo>
                  <a:pt x="5543553" y="0"/>
                </a:lnTo>
                <a:cubicBezTo>
                  <a:pt x="5585635" y="0"/>
                  <a:pt x="5619750" y="34115"/>
                  <a:pt x="5619750" y="76197"/>
                </a:cubicBezTo>
                <a:lnTo>
                  <a:pt x="5619750" y="838203"/>
                </a:lnTo>
                <a:cubicBezTo>
                  <a:pt x="5619750" y="880285"/>
                  <a:pt x="5585635" y="914400"/>
                  <a:pt x="5543553" y="914400"/>
                </a:cubicBezTo>
                <a:lnTo>
                  <a:pt x="38100" y="914400"/>
                </a:lnTo>
                <a:cubicBezTo>
                  <a:pt x="17058" y="914400"/>
                  <a:pt x="0" y="897342"/>
                  <a:pt x="0" y="8763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sx="100000" sy="100000" kx="0" ky="0" algn="bl" rotWithShape="0" blurRad="28575" dist="9525" dir="5400000">
              <a:srgbClr val="000000">
                <a:alpha val="10196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00050" y="4572000"/>
            <a:ext cx="38100" cy="914400"/>
          </a:xfrm>
          <a:custGeom>
            <a:avLst/>
            <a:gdLst/>
            <a:ahLst/>
            <a:cxnLst/>
            <a:rect l="l" t="t" r="r" b="b"/>
            <a:pathLst>
              <a:path w="38100" h="914400">
                <a:moveTo>
                  <a:pt x="38100" y="0"/>
                </a:moveTo>
                <a:lnTo>
                  <a:pt x="38100" y="0"/>
                </a:lnTo>
                <a:lnTo>
                  <a:pt x="38100" y="914400"/>
                </a:lnTo>
                <a:lnTo>
                  <a:pt x="38100" y="914400"/>
                </a:lnTo>
                <a:cubicBezTo>
                  <a:pt x="17072" y="914400"/>
                  <a:pt x="0" y="897328"/>
                  <a:pt x="0" y="8763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C0A062"/>
          </a:solidFill>
          <a:ln/>
        </p:spPr>
      </p:sp>
      <p:sp>
        <p:nvSpPr>
          <p:cNvPr id="24" name="Shape 22"/>
          <p:cNvSpPr/>
          <p:nvPr/>
        </p:nvSpPr>
        <p:spPr>
          <a:xfrm>
            <a:off x="609600" y="47625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C0A062"/>
          </a:solidFill>
          <a:ln/>
        </p:spPr>
      </p:sp>
      <p:sp>
        <p:nvSpPr>
          <p:cNvPr id="25" name="Text 23"/>
          <p:cNvSpPr/>
          <p:nvPr/>
        </p:nvSpPr>
        <p:spPr>
          <a:xfrm>
            <a:off x="561975" y="4762500"/>
            <a:ext cx="5524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b="1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04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219200" y="4762500"/>
            <a:ext cx="30861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2E405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Univariate: Numerical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219200" y="5067300"/>
            <a:ext cx="30670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2D3748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Age, credit amount, and goods price patterns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191250" y="1371600"/>
            <a:ext cx="5619750" cy="914400"/>
          </a:xfrm>
          <a:custGeom>
            <a:avLst/>
            <a:gdLst/>
            <a:ahLst/>
            <a:cxnLst/>
            <a:rect l="l" t="t" r="r" b="b"/>
            <a:pathLst>
              <a:path w="5619750" h="914400">
                <a:moveTo>
                  <a:pt x="38100" y="0"/>
                </a:moveTo>
                <a:lnTo>
                  <a:pt x="5543553" y="0"/>
                </a:lnTo>
                <a:cubicBezTo>
                  <a:pt x="5585635" y="0"/>
                  <a:pt x="5619750" y="34115"/>
                  <a:pt x="5619750" y="76197"/>
                </a:cubicBezTo>
                <a:lnTo>
                  <a:pt x="5619750" y="838203"/>
                </a:lnTo>
                <a:cubicBezTo>
                  <a:pt x="5619750" y="880285"/>
                  <a:pt x="5585635" y="914400"/>
                  <a:pt x="5543553" y="914400"/>
                </a:cubicBezTo>
                <a:lnTo>
                  <a:pt x="38100" y="914400"/>
                </a:lnTo>
                <a:cubicBezTo>
                  <a:pt x="17058" y="914400"/>
                  <a:pt x="0" y="897342"/>
                  <a:pt x="0" y="8763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sx="100000" sy="100000" kx="0" ky="0" algn="bl" rotWithShape="0" blurRad="28575" dist="9525" dir="5400000">
              <a:srgbClr val="000000">
                <a:alpha val="10196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191250" y="1371600"/>
            <a:ext cx="38100" cy="914400"/>
          </a:xfrm>
          <a:custGeom>
            <a:avLst/>
            <a:gdLst/>
            <a:ahLst/>
            <a:cxnLst/>
            <a:rect l="l" t="t" r="r" b="b"/>
            <a:pathLst>
              <a:path w="38100" h="914400">
                <a:moveTo>
                  <a:pt x="38100" y="0"/>
                </a:moveTo>
                <a:lnTo>
                  <a:pt x="38100" y="0"/>
                </a:lnTo>
                <a:lnTo>
                  <a:pt x="38100" y="914400"/>
                </a:lnTo>
                <a:lnTo>
                  <a:pt x="38100" y="914400"/>
                </a:lnTo>
                <a:cubicBezTo>
                  <a:pt x="17072" y="914400"/>
                  <a:pt x="0" y="897328"/>
                  <a:pt x="0" y="8763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2E4057"/>
          </a:solidFill>
          <a:ln/>
        </p:spPr>
      </p:sp>
      <p:sp>
        <p:nvSpPr>
          <p:cNvPr id="30" name="Shape 28"/>
          <p:cNvSpPr/>
          <p:nvPr/>
        </p:nvSpPr>
        <p:spPr>
          <a:xfrm>
            <a:off x="6400800" y="15621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2E4057"/>
          </a:solidFill>
          <a:ln/>
        </p:spPr>
      </p:sp>
      <p:sp>
        <p:nvSpPr>
          <p:cNvPr id="31" name="Text 29"/>
          <p:cNvSpPr/>
          <p:nvPr/>
        </p:nvSpPr>
        <p:spPr>
          <a:xfrm>
            <a:off x="6353175" y="1562100"/>
            <a:ext cx="5524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b="1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05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010400" y="1562100"/>
            <a:ext cx="31908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2E405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Correlation Structure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7010400" y="1866900"/>
            <a:ext cx="31718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2D3748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Repayers vs defaulters correlation comparison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191250" y="2438400"/>
            <a:ext cx="5619750" cy="914400"/>
          </a:xfrm>
          <a:custGeom>
            <a:avLst/>
            <a:gdLst/>
            <a:ahLst/>
            <a:cxnLst/>
            <a:rect l="l" t="t" r="r" b="b"/>
            <a:pathLst>
              <a:path w="5619750" h="914400">
                <a:moveTo>
                  <a:pt x="38100" y="0"/>
                </a:moveTo>
                <a:lnTo>
                  <a:pt x="5543553" y="0"/>
                </a:lnTo>
                <a:cubicBezTo>
                  <a:pt x="5585635" y="0"/>
                  <a:pt x="5619750" y="34115"/>
                  <a:pt x="5619750" y="76197"/>
                </a:cubicBezTo>
                <a:lnTo>
                  <a:pt x="5619750" y="838203"/>
                </a:lnTo>
                <a:cubicBezTo>
                  <a:pt x="5619750" y="880285"/>
                  <a:pt x="5585635" y="914400"/>
                  <a:pt x="5543553" y="914400"/>
                </a:cubicBezTo>
                <a:lnTo>
                  <a:pt x="38100" y="914400"/>
                </a:lnTo>
                <a:cubicBezTo>
                  <a:pt x="17058" y="914400"/>
                  <a:pt x="0" y="897342"/>
                  <a:pt x="0" y="8763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sx="100000" sy="100000" kx="0" ky="0" algn="bl" rotWithShape="0" blurRad="28575" dist="9525" dir="5400000">
              <a:srgbClr val="000000">
                <a:alpha val="10196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191250" y="2438400"/>
            <a:ext cx="38100" cy="914400"/>
          </a:xfrm>
          <a:custGeom>
            <a:avLst/>
            <a:gdLst/>
            <a:ahLst/>
            <a:cxnLst/>
            <a:rect l="l" t="t" r="r" b="b"/>
            <a:pathLst>
              <a:path w="38100" h="914400">
                <a:moveTo>
                  <a:pt x="38100" y="0"/>
                </a:moveTo>
                <a:lnTo>
                  <a:pt x="38100" y="0"/>
                </a:lnTo>
                <a:lnTo>
                  <a:pt x="38100" y="914400"/>
                </a:lnTo>
                <a:lnTo>
                  <a:pt x="38100" y="914400"/>
                </a:lnTo>
                <a:cubicBezTo>
                  <a:pt x="17072" y="914400"/>
                  <a:pt x="0" y="897328"/>
                  <a:pt x="0" y="8763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A0AEC0"/>
          </a:solidFill>
          <a:ln/>
        </p:spPr>
      </p:sp>
      <p:sp>
        <p:nvSpPr>
          <p:cNvPr id="36" name="Shape 34"/>
          <p:cNvSpPr/>
          <p:nvPr/>
        </p:nvSpPr>
        <p:spPr>
          <a:xfrm>
            <a:off x="6400800" y="26289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A0AEC0"/>
          </a:solidFill>
          <a:ln/>
        </p:spPr>
      </p:sp>
      <p:sp>
        <p:nvSpPr>
          <p:cNvPr id="37" name="Text 35"/>
          <p:cNvSpPr/>
          <p:nvPr/>
        </p:nvSpPr>
        <p:spPr>
          <a:xfrm>
            <a:off x="6353175" y="2628900"/>
            <a:ext cx="5524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b="1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06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7010400" y="2628900"/>
            <a:ext cx="22955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2E405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Employment &amp; Income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7010400" y="2933700"/>
            <a:ext cx="22764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2D3748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Tenure as stability proxy analysis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191250" y="3505200"/>
            <a:ext cx="5619750" cy="914400"/>
          </a:xfrm>
          <a:custGeom>
            <a:avLst/>
            <a:gdLst/>
            <a:ahLst/>
            <a:cxnLst/>
            <a:rect l="l" t="t" r="r" b="b"/>
            <a:pathLst>
              <a:path w="5619750" h="914400">
                <a:moveTo>
                  <a:pt x="38100" y="0"/>
                </a:moveTo>
                <a:lnTo>
                  <a:pt x="5543553" y="0"/>
                </a:lnTo>
                <a:cubicBezTo>
                  <a:pt x="5585635" y="0"/>
                  <a:pt x="5619750" y="34115"/>
                  <a:pt x="5619750" y="76197"/>
                </a:cubicBezTo>
                <a:lnTo>
                  <a:pt x="5619750" y="838203"/>
                </a:lnTo>
                <a:cubicBezTo>
                  <a:pt x="5619750" y="880285"/>
                  <a:pt x="5585635" y="914400"/>
                  <a:pt x="5543553" y="914400"/>
                </a:cubicBezTo>
                <a:lnTo>
                  <a:pt x="38100" y="914400"/>
                </a:lnTo>
                <a:cubicBezTo>
                  <a:pt x="17058" y="914400"/>
                  <a:pt x="0" y="897342"/>
                  <a:pt x="0" y="8763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sx="100000" sy="100000" kx="0" ky="0" algn="bl" rotWithShape="0" blurRad="28575" dist="9525" dir="5400000">
              <a:srgbClr val="000000">
                <a:alpha val="10196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91250" y="3505200"/>
            <a:ext cx="38100" cy="914400"/>
          </a:xfrm>
          <a:custGeom>
            <a:avLst/>
            <a:gdLst/>
            <a:ahLst/>
            <a:cxnLst/>
            <a:rect l="l" t="t" r="r" b="b"/>
            <a:pathLst>
              <a:path w="38100" h="914400">
                <a:moveTo>
                  <a:pt x="38100" y="0"/>
                </a:moveTo>
                <a:lnTo>
                  <a:pt x="38100" y="0"/>
                </a:lnTo>
                <a:lnTo>
                  <a:pt x="38100" y="914400"/>
                </a:lnTo>
                <a:lnTo>
                  <a:pt x="38100" y="914400"/>
                </a:lnTo>
                <a:cubicBezTo>
                  <a:pt x="17072" y="914400"/>
                  <a:pt x="0" y="897328"/>
                  <a:pt x="0" y="8763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C0A062"/>
          </a:solidFill>
          <a:ln/>
        </p:spPr>
      </p:sp>
      <p:sp>
        <p:nvSpPr>
          <p:cNvPr id="42" name="Shape 40"/>
          <p:cNvSpPr/>
          <p:nvPr/>
        </p:nvSpPr>
        <p:spPr>
          <a:xfrm>
            <a:off x="6400800" y="36957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C0A062"/>
          </a:solidFill>
          <a:ln/>
        </p:spPr>
      </p:sp>
      <p:sp>
        <p:nvSpPr>
          <p:cNvPr id="43" name="Text 41"/>
          <p:cNvSpPr/>
          <p:nvPr/>
        </p:nvSpPr>
        <p:spPr>
          <a:xfrm>
            <a:off x="6353175" y="3695700"/>
            <a:ext cx="5524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b="1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07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7010400" y="3695700"/>
            <a:ext cx="28765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2E405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Socioeconomic Factors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7010400" y="4000500"/>
            <a:ext cx="2857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2D3748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Age, family status, and education impacts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6191250" y="4572000"/>
            <a:ext cx="5619750" cy="914400"/>
          </a:xfrm>
          <a:custGeom>
            <a:avLst/>
            <a:gdLst/>
            <a:ahLst/>
            <a:cxnLst/>
            <a:rect l="l" t="t" r="r" b="b"/>
            <a:pathLst>
              <a:path w="5619750" h="914400">
                <a:moveTo>
                  <a:pt x="38100" y="0"/>
                </a:moveTo>
                <a:lnTo>
                  <a:pt x="5543553" y="0"/>
                </a:lnTo>
                <a:cubicBezTo>
                  <a:pt x="5585635" y="0"/>
                  <a:pt x="5619750" y="34115"/>
                  <a:pt x="5619750" y="76197"/>
                </a:cubicBezTo>
                <a:lnTo>
                  <a:pt x="5619750" y="838203"/>
                </a:lnTo>
                <a:cubicBezTo>
                  <a:pt x="5619750" y="880285"/>
                  <a:pt x="5585635" y="914400"/>
                  <a:pt x="5543553" y="914400"/>
                </a:cubicBezTo>
                <a:lnTo>
                  <a:pt x="38100" y="914400"/>
                </a:lnTo>
                <a:cubicBezTo>
                  <a:pt x="17058" y="914400"/>
                  <a:pt x="0" y="897342"/>
                  <a:pt x="0" y="8763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sx="100000" sy="100000" kx="0" ky="0" algn="bl" rotWithShape="0" blurRad="28575" dist="9525" dir="5400000">
              <a:srgbClr val="000000">
                <a:alpha val="10196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6191250" y="4572000"/>
            <a:ext cx="38100" cy="914400"/>
          </a:xfrm>
          <a:custGeom>
            <a:avLst/>
            <a:gdLst/>
            <a:ahLst/>
            <a:cxnLst/>
            <a:rect l="l" t="t" r="r" b="b"/>
            <a:pathLst>
              <a:path w="38100" h="914400">
                <a:moveTo>
                  <a:pt x="38100" y="0"/>
                </a:moveTo>
                <a:lnTo>
                  <a:pt x="38100" y="0"/>
                </a:lnTo>
                <a:lnTo>
                  <a:pt x="38100" y="914400"/>
                </a:lnTo>
                <a:lnTo>
                  <a:pt x="38100" y="914400"/>
                </a:lnTo>
                <a:cubicBezTo>
                  <a:pt x="17072" y="914400"/>
                  <a:pt x="0" y="897328"/>
                  <a:pt x="0" y="8763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2E4057"/>
          </a:solidFill>
          <a:ln/>
        </p:spPr>
      </p:sp>
      <p:sp>
        <p:nvSpPr>
          <p:cNvPr id="48" name="Shape 46"/>
          <p:cNvSpPr/>
          <p:nvPr/>
        </p:nvSpPr>
        <p:spPr>
          <a:xfrm>
            <a:off x="6400800" y="47625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2E4057"/>
          </a:solidFill>
          <a:ln/>
        </p:spPr>
      </p:sp>
      <p:sp>
        <p:nvSpPr>
          <p:cNvPr id="49" name="Text 47"/>
          <p:cNvSpPr/>
          <p:nvPr/>
        </p:nvSpPr>
        <p:spPr>
          <a:xfrm>
            <a:off x="6353175" y="4762500"/>
            <a:ext cx="5524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b="1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08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7010400" y="4762500"/>
            <a:ext cx="3048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2E405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Business Implications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7010400" y="5067300"/>
            <a:ext cx="30289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2D3748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Actionable recommendations and strategies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81000"/>
            <a:ext cx="1150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spc="120" kern="0" dirty="0">
                <a:solidFill>
                  <a:srgbClr val="C0A06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01 • Business Context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381000" y="647700"/>
            <a:ext cx="116014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2E405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The Dual-Risk Challenge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00050" y="1181100"/>
            <a:ext cx="5057775" cy="1447800"/>
          </a:xfrm>
          <a:custGeom>
            <a:avLst/>
            <a:gdLst/>
            <a:ahLst/>
            <a:cxnLst/>
            <a:rect l="l" t="t" r="r" b="b"/>
            <a:pathLst>
              <a:path w="5057775" h="1447800">
                <a:moveTo>
                  <a:pt x="38100" y="0"/>
                </a:moveTo>
                <a:lnTo>
                  <a:pt x="4981577" y="0"/>
                </a:lnTo>
                <a:cubicBezTo>
                  <a:pt x="5023632" y="0"/>
                  <a:pt x="5057775" y="34143"/>
                  <a:pt x="5057775" y="76198"/>
                </a:cubicBezTo>
                <a:lnTo>
                  <a:pt x="5057775" y="1371602"/>
                </a:lnTo>
                <a:cubicBezTo>
                  <a:pt x="5057775" y="1413657"/>
                  <a:pt x="5023632" y="1447800"/>
                  <a:pt x="4981577" y="1447800"/>
                </a:cubicBezTo>
                <a:lnTo>
                  <a:pt x="38100" y="1447800"/>
                </a:lnTo>
                <a:cubicBezTo>
                  <a:pt x="17072" y="1447800"/>
                  <a:pt x="0" y="1430728"/>
                  <a:pt x="0" y="14097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sx="100000" sy="100000" kx="0" ky="0" algn="bl" rotWithShape="0" blurRad="28575" dist="9525" dir="5400000">
              <a:srgbClr val="000000">
                <a:alpha val="10196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00050" y="1181100"/>
            <a:ext cx="38100" cy="1447800"/>
          </a:xfrm>
          <a:custGeom>
            <a:avLst/>
            <a:gdLst/>
            <a:ahLst/>
            <a:cxnLst/>
            <a:rect l="l" t="t" r="r" b="b"/>
            <a:pathLst>
              <a:path w="38100" h="1447800">
                <a:moveTo>
                  <a:pt x="38100" y="0"/>
                </a:moveTo>
                <a:lnTo>
                  <a:pt x="38100" y="0"/>
                </a:lnTo>
                <a:lnTo>
                  <a:pt x="38100" y="1447800"/>
                </a:lnTo>
                <a:lnTo>
                  <a:pt x="38100" y="1447800"/>
                </a:lnTo>
                <a:cubicBezTo>
                  <a:pt x="17072" y="1447800"/>
                  <a:pt x="0" y="1430728"/>
                  <a:pt x="0" y="14097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C0A062"/>
          </a:solidFill>
          <a:ln/>
        </p:spPr>
      </p:sp>
      <p:sp>
        <p:nvSpPr>
          <p:cNvPr id="6" name="Shape 4"/>
          <p:cNvSpPr/>
          <p:nvPr/>
        </p:nvSpPr>
        <p:spPr>
          <a:xfrm>
            <a:off x="609600" y="13716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0"/>
                </a:moveTo>
                <a:lnTo>
                  <a:pt x="228600" y="0"/>
                </a:lnTo>
                <a:cubicBezTo>
                  <a:pt x="354768" y="0"/>
                  <a:pt x="457200" y="102432"/>
                  <a:pt x="457200" y="228600"/>
                </a:cubicBezTo>
                <a:lnTo>
                  <a:pt x="457200" y="228600"/>
                </a:lnTo>
                <a:cubicBezTo>
                  <a:pt x="457200" y="354768"/>
                  <a:pt x="354768" y="457200"/>
                  <a:pt x="228600" y="457200"/>
                </a:cubicBezTo>
                <a:lnTo>
                  <a:pt x="228600" y="457200"/>
                </a:lnTo>
                <a:cubicBezTo>
                  <a:pt x="102432" y="457200"/>
                  <a:pt x="0" y="354768"/>
                  <a:pt x="0" y="228600"/>
                </a:cubicBezTo>
                <a:lnTo>
                  <a:pt x="0" y="228600"/>
                </a:lnTo>
                <a:cubicBezTo>
                  <a:pt x="0" y="102432"/>
                  <a:pt x="102432" y="0"/>
                  <a:pt x="228600" y="0"/>
                </a:cubicBezTo>
                <a:close/>
              </a:path>
            </a:pathLst>
          </a:custGeom>
          <a:solidFill>
            <a:srgbClr val="C0A062">
              <a:alpha val="10196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42950" y="150495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95250" y="0"/>
                </a:moveTo>
                <a:cubicBezTo>
                  <a:pt x="100719" y="0"/>
                  <a:pt x="105742" y="3014"/>
                  <a:pt x="108347" y="7813"/>
                </a:cubicBezTo>
                <a:lnTo>
                  <a:pt x="188714" y="156642"/>
                </a:lnTo>
                <a:cubicBezTo>
                  <a:pt x="191207" y="161255"/>
                  <a:pt x="191095" y="166836"/>
                  <a:pt x="188416" y="171338"/>
                </a:cubicBezTo>
                <a:cubicBezTo>
                  <a:pt x="185737" y="175840"/>
                  <a:pt x="180863" y="178594"/>
                  <a:pt x="175617" y="178594"/>
                </a:cubicBezTo>
                <a:lnTo>
                  <a:pt x="14883" y="178594"/>
                </a:lnTo>
                <a:cubicBezTo>
                  <a:pt x="9637" y="178594"/>
                  <a:pt x="4800" y="175840"/>
                  <a:pt x="2084" y="171338"/>
                </a:cubicBezTo>
                <a:cubicBezTo>
                  <a:pt x="-633" y="166836"/>
                  <a:pt x="-707" y="161255"/>
                  <a:pt x="1786" y="156642"/>
                </a:cubicBezTo>
                <a:lnTo>
                  <a:pt x="82153" y="7813"/>
                </a:lnTo>
                <a:cubicBezTo>
                  <a:pt x="84758" y="3014"/>
                  <a:pt x="89781" y="0"/>
                  <a:pt x="95250" y="0"/>
                </a:cubicBezTo>
                <a:close/>
                <a:moveTo>
                  <a:pt x="95250" y="62508"/>
                </a:moveTo>
                <a:cubicBezTo>
                  <a:pt x="90301" y="62508"/>
                  <a:pt x="86320" y="66489"/>
                  <a:pt x="86320" y="71438"/>
                </a:cubicBezTo>
                <a:lnTo>
                  <a:pt x="86320" y="113109"/>
                </a:lnTo>
                <a:cubicBezTo>
                  <a:pt x="86320" y="118058"/>
                  <a:pt x="90301" y="122039"/>
                  <a:pt x="95250" y="122039"/>
                </a:cubicBezTo>
                <a:cubicBezTo>
                  <a:pt x="100199" y="122039"/>
                  <a:pt x="104180" y="118058"/>
                  <a:pt x="104180" y="113109"/>
                </a:cubicBezTo>
                <a:lnTo>
                  <a:pt x="104180" y="71438"/>
                </a:lnTo>
                <a:cubicBezTo>
                  <a:pt x="104180" y="66489"/>
                  <a:pt x="100199" y="62508"/>
                  <a:pt x="95250" y="62508"/>
                </a:cubicBezTo>
                <a:close/>
                <a:moveTo>
                  <a:pt x="105184" y="142875"/>
                </a:moveTo>
                <a:cubicBezTo>
                  <a:pt x="105410" y="139188"/>
                  <a:pt x="103571" y="135679"/>
                  <a:pt x="100410" y="133767"/>
                </a:cubicBezTo>
                <a:cubicBezTo>
                  <a:pt x="97249" y="131855"/>
                  <a:pt x="93288" y="131855"/>
                  <a:pt x="90127" y="133767"/>
                </a:cubicBezTo>
                <a:cubicBezTo>
                  <a:pt x="86966" y="135679"/>
                  <a:pt x="85127" y="139188"/>
                  <a:pt x="85353" y="142875"/>
                </a:cubicBezTo>
                <a:cubicBezTo>
                  <a:pt x="85127" y="146562"/>
                  <a:pt x="86966" y="150071"/>
                  <a:pt x="90127" y="151983"/>
                </a:cubicBezTo>
                <a:cubicBezTo>
                  <a:pt x="93288" y="153895"/>
                  <a:pt x="97249" y="153895"/>
                  <a:pt x="100410" y="151983"/>
                </a:cubicBezTo>
                <a:cubicBezTo>
                  <a:pt x="103571" y="150071"/>
                  <a:pt x="105410" y="146562"/>
                  <a:pt x="105184" y="142875"/>
                </a:cubicBezTo>
                <a:close/>
              </a:path>
            </a:pathLst>
          </a:custGeom>
          <a:solidFill>
            <a:srgbClr val="C0A062"/>
          </a:solidFill>
          <a:ln/>
        </p:spPr>
      </p:sp>
      <p:sp>
        <p:nvSpPr>
          <p:cNvPr id="8" name="Text 6"/>
          <p:cNvSpPr/>
          <p:nvPr/>
        </p:nvSpPr>
        <p:spPr>
          <a:xfrm>
            <a:off x="1181100" y="1466850"/>
            <a:ext cx="2095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2E405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Risk 1: Opportunity Loss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09600" y="1943100"/>
            <a:ext cx="4733925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b="1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Rejecting a reliable applicant</a:t>
            </a:r>
            <a:pPr>
              <a:lnSpc>
                <a:spcPct val="140000"/>
              </a:lnSpc>
            </a:pPr>
            <a:r>
              <a:rPr lang="en-US" sz="12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leads to missed revenue opportunities and potential customer attrition to competitors.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00050" y="2781300"/>
            <a:ext cx="5057775" cy="1447800"/>
          </a:xfrm>
          <a:custGeom>
            <a:avLst/>
            <a:gdLst/>
            <a:ahLst/>
            <a:cxnLst/>
            <a:rect l="l" t="t" r="r" b="b"/>
            <a:pathLst>
              <a:path w="5057775" h="1447800">
                <a:moveTo>
                  <a:pt x="38100" y="0"/>
                </a:moveTo>
                <a:lnTo>
                  <a:pt x="4981577" y="0"/>
                </a:lnTo>
                <a:cubicBezTo>
                  <a:pt x="5023632" y="0"/>
                  <a:pt x="5057775" y="34143"/>
                  <a:pt x="5057775" y="76198"/>
                </a:cubicBezTo>
                <a:lnTo>
                  <a:pt x="5057775" y="1371602"/>
                </a:lnTo>
                <a:cubicBezTo>
                  <a:pt x="5057775" y="1413657"/>
                  <a:pt x="5023632" y="1447800"/>
                  <a:pt x="4981577" y="1447800"/>
                </a:cubicBezTo>
                <a:lnTo>
                  <a:pt x="38100" y="1447800"/>
                </a:lnTo>
                <a:cubicBezTo>
                  <a:pt x="17072" y="1447800"/>
                  <a:pt x="0" y="1430728"/>
                  <a:pt x="0" y="14097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sx="100000" sy="100000" kx="0" ky="0" algn="bl" rotWithShape="0" blurRad="28575" dist="9525" dir="5400000">
              <a:srgbClr val="000000">
                <a:alpha val="10196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00050" y="2781300"/>
            <a:ext cx="38100" cy="1447800"/>
          </a:xfrm>
          <a:custGeom>
            <a:avLst/>
            <a:gdLst/>
            <a:ahLst/>
            <a:cxnLst/>
            <a:rect l="l" t="t" r="r" b="b"/>
            <a:pathLst>
              <a:path w="38100" h="1447800">
                <a:moveTo>
                  <a:pt x="38100" y="0"/>
                </a:moveTo>
                <a:lnTo>
                  <a:pt x="38100" y="0"/>
                </a:lnTo>
                <a:lnTo>
                  <a:pt x="38100" y="1447800"/>
                </a:lnTo>
                <a:lnTo>
                  <a:pt x="38100" y="1447800"/>
                </a:lnTo>
                <a:cubicBezTo>
                  <a:pt x="17072" y="1447800"/>
                  <a:pt x="0" y="1430728"/>
                  <a:pt x="0" y="14097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2E4057"/>
          </a:solidFill>
          <a:ln/>
        </p:spPr>
      </p:sp>
      <p:sp>
        <p:nvSpPr>
          <p:cNvPr id="12" name="Shape 10"/>
          <p:cNvSpPr/>
          <p:nvPr/>
        </p:nvSpPr>
        <p:spPr>
          <a:xfrm>
            <a:off x="609600" y="29718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0"/>
                </a:moveTo>
                <a:lnTo>
                  <a:pt x="228600" y="0"/>
                </a:lnTo>
                <a:cubicBezTo>
                  <a:pt x="354768" y="0"/>
                  <a:pt x="457200" y="102432"/>
                  <a:pt x="457200" y="228600"/>
                </a:cubicBezTo>
                <a:lnTo>
                  <a:pt x="457200" y="228600"/>
                </a:lnTo>
                <a:cubicBezTo>
                  <a:pt x="457200" y="354768"/>
                  <a:pt x="354768" y="457200"/>
                  <a:pt x="228600" y="457200"/>
                </a:cubicBezTo>
                <a:lnTo>
                  <a:pt x="228600" y="457200"/>
                </a:lnTo>
                <a:cubicBezTo>
                  <a:pt x="102432" y="457200"/>
                  <a:pt x="0" y="354768"/>
                  <a:pt x="0" y="228600"/>
                </a:cubicBezTo>
                <a:lnTo>
                  <a:pt x="0" y="228600"/>
                </a:lnTo>
                <a:cubicBezTo>
                  <a:pt x="0" y="102432"/>
                  <a:pt x="102432" y="0"/>
                  <a:pt x="228600" y="0"/>
                </a:cubicBezTo>
                <a:close/>
              </a:path>
            </a:pathLst>
          </a:custGeom>
          <a:solidFill>
            <a:srgbClr val="2E4057">
              <a:alpha val="10196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742950" y="310515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0" y="156121"/>
                </a:moveTo>
                <a:lnTo>
                  <a:pt x="0" y="40742"/>
                </a:lnTo>
                <a:cubicBezTo>
                  <a:pt x="0" y="32110"/>
                  <a:pt x="8967" y="26380"/>
                  <a:pt x="17227" y="28835"/>
                </a:cubicBezTo>
                <a:cubicBezTo>
                  <a:pt x="49857" y="38584"/>
                  <a:pt x="72926" y="30882"/>
                  <a:pt x="96143" y="23143"/>
                </a:cubicBezTo>
                <a:cubicBezTo>
                  <a:pt x="120142" y="15143"/>
                  <a:pt x="144289" y="7107"/>
                  <a:pt x="179226" y="18269"/>
                </a:cubicBezTo>
                <a:cubicBezTo>
                  <a:pt x="186110" y="20464"/>
                  <a:pt x="190500" y="27124"/>
                  <a:pt x="190500" y="34379"/>
                </a:cubicBezTo>
                <a:lnTo>
                  <a:pt x="190500" y="149758"/>
                </a:lnTo>
                <a:cubicBezTo>
                  <a:pt x="190500" y="158390"/>
                  <a:pt x="181533" y="164120"/>
                  <a:pt x="173310" y="161665"/>
                </a:cubicBezTo>
                <a:cubicBezTo>
                  <a:pt x="140680" y="151916"/>
                  <a:pt x="117574" y="159618"/>
                  <a:pt x="94394" y="167357"/>
                </a:cubicBezTo>
                <a:cubicBezTo>
                  <a:pt x="70396" y="175357"/>
                  <a:pt x="46248" y="183393"/>
                  <a:pt x="11311" y="172231"/>
                </a:cubicBezTo>
                <a:cubicBezTo>
                  <a:pt x="4428" y="170036"/>
                  <a:pt x="37" y="163376"/>
                  <a:pt x="37" y="156121"/>
                </a:cubicBezTo>
                <a:close/>
                <a:moveTo>
                  <a:pt x="125016" y="95250"/>
                </a:moveTo>
                <a:cubicBezTo>
                  <a:pt x="125016" y="75530"/>
                  <a:pt x="111696" y="59531"/>
                  <a:pt x="95250" y="59531"/>
                </a:cubicBezTo>
                <a:cubicBezTo>
                  <a:pt x="78804" y="59531"/>
                  <a:pt x="65484" y="75530"/>
                  <a:pt x="65484" y="95250"/>
                </a:cubicBezTo>
                <a:cubicBezTo>
                  <a:pt x="65484" y="114970"/>
                  <a:pt x="78804" y="130969"/>
                  <a:pt x="95250" y="130969"/>
                </a:cubicBezTo>
                <a:cubicBezTo>
                  <a:pt x="111696" y="130969"/>
                  <a:pt x="125016" y="114970"/>
                  <a:pt x="125016" y="95250"/>
                </a:cubicBezTo>
                <a:close/>
                <a:moveTo>
                  <a:pt x="44648" y="153888"/>
                </a:moveTo>
                <a:cubicBezTo>
                  <a:pt x="46286" y="153888"/>
                  <a:pt x="47588" y="152474"/>
                  <a:pt x="47327" y="150875"/>
                </a:cubicBezTo>
                <a:cubicBezTo>
                  <a:pt x="45616" y="140531"/>
                  <a:pt x="37281" y="132457"/>
                  <a:pt x="26789" y="131155"/>
                </a:cubicBezTo>
                <a:cubicBezTo>
                  <a:pt x="25152" y="130969"/>
                  <a:pt x="23812" y="132308"/>
                  <a:pt x="23812" y="133945"/>
                </a:cubicBezTo>
                <a:lnTo>
                  <a:pt x="23812" y="148791"/>
                </a:lnTo>
                <a:cubicBezTo>
                  <a:pt x="23812" y="150130"/>
                  <a:pt x="24705" y="151321"/>
                  <a:pt x="26045" y="151656"/>
                </a:cubicBezTo>
                <a:cubicBezTo>
                  <a:pt x="32705" y="153219"/>
                  <a:pt x="38807" y="153925"/>
                  <a:pt x="44648" y="153925"/>
                </a:cubicBezTo>
                <a:close/>
                <a:moveTo>
                  <a:pt x="163153" y="134875"/>
                </a:moveTo>
                <a:cubicBezTo>
                  <a:pt x="165013" y="135173"/>
                  <a:pt x="166688" y="133759"/>
                  <a:pt x="166688" y="131899"/>
                </a:cubicBezTo>
                <a:lnTo>
                  <a:pt x="166688" y="116049"/>
                </a:lnTo>
                <a:cubicBezTo>
                  <a:pt x="166688" y="114412"/>
                  <a:pt x="165348" y="113035"/>
                  <a:pt x="163711" y="113258"/>
                </a:cubicBezTo>
                <a:cubicBezTo>
                  <a:pt x="154335" y="114412"/>
                  <a:pt x="146633" y="121034"/>
                  <a:pt x="143917" y="129853"/>
                </a:cubicBezTo>
                <a:cubicBezTo>
                  <a:pt x="143396" y="131601"/>
                  <a:pt x="144773" y="133238"/>
                  <a:pt x="146596" y="133276"/>
                </a:cubicBezTo>
                <a:cubicBezTo>
                  <a:pt x="151879" y="133424"/>
                  <a:pt x="157386" y="133908"/>
                  <a:pt x="163116" y="134875"/>
                </a:cubicBezTo>
                <a:close/>
                <a:moveTo>
                  <a:pt x="166688" y="56555"/>
                </a:moveTo>
                <a:lnTo>
                  <a:pt x="166688" y="41709"/>
                </a:lnTo>
                <a:cubicBezTo>
                  <a:pt x="166688" y="40370"/>
                  <a:pt x="165757" y="39179"/>
                  <a:pt x="164455" y="38844"/>
                </a:cubicBezTo>
                <a:cubicBezTo>
                  <a:pt x="157795" y="37281"/>
                  <a:pt x="151693" y="36575"/>
                  <a:pt x="145852" y="36575"/>
                </a:cubicBezTo>
                <a:cubicBezTo>
                  <a:pt x="144214" y="36575"/>
                  <a:pt x="142912" y="37988"/>
                  <a:pt x="143173" y="39588"/>
                </a:cubicBezTo>
                <a:cubicBezTo>
                  <a:pt x="144884" y="49932"/>
                  <a:pt x="153219" y="58006"/>
                  <a:pt x="163711" y="59308"/>
                </a:cubicBezTo>
                <a:cubicBezTo>
                  <a:pt x="165348" y="59494"/>
                  <a:pt x="166688" y="58155"/>
                  <a:pt x="166688" y="56517"/>
                </a:cubicBezTo>
                <a:close/>
                <a:moveTo>
                  <a:pt x="46583" y="60610"/>
                </a:moveTo>
                <a:cubicBezTo>
                  <a:pt x="47104" y="58862"/>
                  <a:pt x="45727" y="57224"/>
                  <a:pt x="43904" y="57187"/>
                </a:cubicBezTo>
                <a:cubicBezTo>
                  <a:pt x="38621" y="57038"/>
                  <a:pt x="33114" y="56555"/>
                  <a:pt x="27384" y="55587"/>
                </a:cubicBezTo>
                <a:cubicBezTo>
                  <a:pt x="25524" y="55290"/>
                  <a:pt x="23850" y="56704"/>
                  <a:pt x="23850" y="58564"/>
                </a:cubicBezTo>
                <a:lnTo>
                  <a:pt x="23812" y="74414"/>
                </a:lnTo>
                <a:cubicBezTo>
                  <a:pt x="23812" y="76051"/>
                  <a:pt x="25152" y="77428"/>
                  <a:pt x="26789" y="77205"/>
                </a:cubicBezTo>
                <a:cubicBezTo>
                  <a:pt x="36165" y="76051"/>
                  <a:pt x="43867" y="69428"/>
                  <a:pt x="46583" y="60610"/>
                </a:cubicBezTo>
                <a:close/>
              </a:path>
            </a:pathLst>
          </a:custGeom>
          <a:solidFill>
            <a:srgbClr val="2E4057"/>
          </a:solidFill>
          <a:ln/>
        </p:spPr>
      </p:sp>
      <p:sp>
        <p:nvSpPr>
          <p:cNvPr id="14" name="Text 12"/>
          <p:cNvSpPr/>
          <p:nvPr/>
        </p:nvSpPr>
        <p:spPr>
          <a:xfrm>
            <a:off x="1181100" y="3067050"/>
            <a:ext cx="18288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2E405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Risk 2: Credit Losses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09600" y="3543300"/>
            <a:ext cx="4733925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b="1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Approving a risky applicant</a:t>
            </a:r>
            <a:pPr>
              <a:lnSpc>
                <a:spcPct val="140000"/>
              </a:lnSpc>
            </a:pPr>
            <a:r>
              <a:rPr lang="en-US" sz="12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increases expected credit losses and deteriorates portfolio quality.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381000" y="4381500"/>
            <a:ext cx="5076825" cy="2095500"/>
          </a:xfrm>
          <a:custGeom>
            <a:avLst/>
            <a:gdLst/>
            <a:ahLst/>
            <a:cxnLst/>
            <a:rect l="l" t="t" r="r" b="b"/>
            <a:pathLst>
              <a:path w="5076825" h="2095500">
                <a:moveTo>
                  <a:pt x="76192" y="0"/>
                </a:moveTo>
                <a:lnTo>
                  <a:pt x="5000633" y="0"/>
                </a:lnTo>
                <a:cubicBezTo>
                  <a:pt x="5042713" y="0"/>
                  <a:pt x="5076825" y="34112"/>
                  <a:pt x="5076825" y="76192"/>
                </a:cubicBezTo>
                <a:lnTo>
                  <a:pt x="5076825" y="2019308"/>
                </a:lnTo>
                <a:cubicBezTo>
                  <a:pt x="5076825" y="2061388"/>
                  <a:pt x="5042713" y="2095500"/>
                  <a:pt x="5000633" y="2095500"/>
                </a:cubicBezTo>
                <a:lnTo>
                  <a:pt x="76192" y="2095500"/>
                </a:lnTo>
                <a:cubicBezTo>
                  <a:pt x="34112" y="2095500"/>
                  <a:pt x="0" y="2061388"/>
                  <a:pt x="0" y="2019308"/>
                </a:cubicBezTo>
                <a:lnTo>
                  <a:pt x="0" y="76192"/>
                </a:lnTo>
                <a:cubicBezTo>
                  <a:pt x="0" y="34141"/>
                  <a:pt x="34141" y="0"/>
                  <a:pt x="76192" y="0"/>
                </a:cubicBezTo>
                <a:close/>
              </a:path>
            </a:pathLst>
          </a:custGeom>
          <a:solidFill>
            <a:srgbClr val="2E4057"/>
          </a:solidFill>
          <a:ln/>
        </p:spPr>
      </p:sp>
      <p:sp>
        <p:nvSpPr>
          <p:cNvPr id="17" name="Shape 15"/>
          <p:cNvSpPr/>
          <p:nvPr/>
        </p:nvSpPr>
        <p:spPr>
          <a:xfrm>
            <a:off x="600075" y="501015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00025" y="114300"/>
                </a:moveTo>
                <a:cubicBezTo>
                  <a:pt x="200025" y="66987"/>
                  <a:pt x="161613" y="28575"/>
                  <a:pt x="114300" y="28575"/>
                </a:cubicBezTo>
                <a:cubicBezTo>
                  <a:pt x="66987" y="28575"/>
                  <a:pt x="28575" y="66987"/>
                  <a:pt x="28575" y="114300"/>
                </a:cubicBezTo>
                <a:cubicBezTo>
                  <a:pt x="28575" y="161613"/>
                  <a:pt x="66987" y="200025"/>
                  <a:pt x="114300" y="200025"/>
                </a:cubicBezTo>
                <a:cubicBezTo>
                  <a:pt x="161613" y="200025"/>
                  <a:pt x="200025" y="161613"/>
                  <a:pt x="200025" y="114300"/>
                </a:cubicBezTo>
                <a:close/>
                <a:moveTo>
                  <a:pt x="0" y="114300"/>
                </a:moveTo>
                <a:cubicBezTo>
                  <a:pt x="0" y="51216"/>
                  <a:pt x="51216" y="0"/>
                  <a:pt x="114300" y="0"/>
                </a:cubicBezTo>
                <a:cubicBezTo>
                  <a:pt x="177384" y="0"/>
                  <a:pt x="228600" y="51216"/>
                  <a:pt x="228600" y="114300"/>
                </a:cubicBezTo>
                <a:cubicBezTo>
                  <a:pt x="228600" y="177384"/>
                  <a:pt x="177384" y="228600"/>
                  <a:pt x="114300" y="228600"/>
                </a:cubicBezTo>
                <a:cubicBezTo>
                  <a:pt x="51216" y="228600"/>
                  <a:pt x="0" y="177384"/>
                  <a:pt x="0" y="114300"/>
                </a:cubicBezTo>
                <a:close/>
                <a:moveTo>
                  <a:pt x="114300" y="150019"/>
                </a:moveTo>
                <a:cubicBezTo>
                  <a:pt x="134014" y="150019"/>
                  <a:pt x="150019" y="134014"/>
                  <a:pt x="150019" y="114300"/>
                </a:cubicBezTo>
                <a:cubicBezTo>
                  <a:pt x="150019" y="94586"/>
                  <a:pt x="134014" y="78581"/>
                  <a:pt x="114300" y="78581"/>
                </a:cubicBezTo>
                <a:cubicBezTo>
                  <a:pt x="94586" y="78581"/>
                  <a:pt x="78581" y="94586"/>
                  <a:pt x="78581" y="114300"/>
                </a:cubicBezTo>
                <a:cubicBezTo>
                  <a:pt x="78581" y="134014"/>
                  <a:pt x="94586" y="150019"/>
                  <a:pt x="114300" y="150019"/>
                </a:cubicBezTo>
                <a:close/>
                <a:moveTo>
                  <a:pt x="114300" y="50006"/>
                </a:moveTo>
                <a:cubicBezTo>
                  <a:pt x="149785" y="50006"/>
                  <a:pt x="178594" y="78815"/>
                  <a:pt x="178594" y="114300"/>
                </a:cubicBezTo>
                <a:cubicBezTo>
                  <a:pt x="178594" y="149785"/>
                  <a:pt x="149785" y="178594"/>
                  <a:pt x="114300" y="178594"/>
                </a:cubicBezTo>
                <a:cubicBezTo>
                  <a:pt x="78815" y="178594"/>
                  <a:pt x="50006" y="149785"/>
                  <a:pt x="50006" y="114300"/>
                </a:cubicBezTo>
                <a:cubicBezTo>
                  <a:pt x="50006" y="78815"/>
                  <a:pt x="78815" y="50006"/>
                  <a:pt x="114300" y="50006"/>
                </a:cubicBezTo>
                <a:close/>
                <a:moveTo>
                  <a:pt x="100013" y="114300"/>
                </a:moveTo>
                <a:cubicBezTo>
                  <a:pt x="100013" y="106415"/>
                  <a:pt x="106415" y="100013"/>
                  <a:pt x="114300" y="100013"/>
                </a:cubicBezTo>
                <a:cubicBezTo>
                  <a:pt x="122185" y="100013"/>
                  <a:pt x="128588" y="106415"/>
                  <a:pt x="128588" y="114300"/>
                </a:cubicBezTo>
                <a:cubicBezTo>
                  <a:pt x="128588" y="122185"/>
                  <a:pt x="122185" y="128588"/>
                  <a:pt x="114300" y="128588"/>
                </a:cubicBezTo>
                <a:cubicBezTo>
                  <a:pt x="106415" y="128588"/>
                  <a:pt x="100013" y="122185"/>
                  <a:pt x="100013" y="114300"/>
                </a:cubicBezTo>
                <a:close/>
              </a:path>
            </a:pathLst>
          </a:custGeom>
          <a:solidFill>
            <a:srgbClr val="C0A062"/>
          </a:solidFill>
          <a:ln/>
        </p:spPr>
      </p:sp>
      <p:sp>
        <p:nvSpPr>
          <p:cNvPr id="18" name="Text 16"/>
          <p:cNvSpPr/>
          <p:nvPr/>
        </p:nvSpPr>
        <p:spPr>
          <a:xfrm>
            <a:off x="971550" y="4991100"/>
            <a:ext cx="13049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EDA Objective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71500" y="5372100"/>
            <a:ext cx="4772025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Identify </a:t>
            </a:r>
            <a:pPr>
              <a:lnSpc>
                <a:spcPct val="140000"/>
              </a:lnSpc>
            </a:pPr>
            <a:r>
              <a:rPr lang="en-US" sz="1200" dirty="0">
                <a:solidFill>
                  <a:srgbClr val="FFFFFF"/>
                </a:solidFill>
                <a:highlight>
                  <a:srgbClr val="C0A062">
                    <a:alpha val="30000"/>
                  </a:srgbClr>
                </a:highlight>
                <a:latin typeface="Liter" pitchFamily="34" charset="0"/>
                <a:ea typeface="Liter" pitchFamily="34" charset="-122"/>
                <a:cs typeface="Liter" pitchFamily="34" charset="-120"/>
              </a:rPr>
              <a:t>variables and segments </a:t>
            </a:r>
            <a:pPr>
              <a:lnSpc>
                <a:spcPct val="140000"/>
              </a:lnSpc>
            </a:pPr>
            <a:r>
              <a:rPr lang="en-US" sz="1200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associated with repayment difficulties and decision outcomes to optimize approval decisions.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608290" y="1181100"/>
            <a:ext cx="6200775" cy="4343400"/>
          </a:xfrm>
          <a:custGeom>
            <a:avLst/>
            <a:gdLst/>
            <a:ahLst/>
            <a:cxnLst/>
            <a:rect l="l" t="t" r="r" b="b"/>
            <a:pathLst>
              <a:path w="6200775" h="4343400">
                <a:moveTo>
                  <a:pt x="76183" y="0"/>
                </a:moveTo>
                <a:lnTo>
                  <a:pt x="6124592" y="0"/>
                </a:lnTo>
                <a:cubicBezTo>
                  <a:pt x="6166667" y="0"/>
                  <a:pt x="6200775" y="34108"/>
                  <a:pt x="6200775" y="76183"/>
                </a:cubicBezTo>
                <a:lnTo>
                  <a:pt x="6200775" y="4267217"/>
                </a:lnTo>
                <a:cubicBezTo>
                  <a:pt x="6200775" y="4309292"/>
                  <a:pt x="6166667" y="4343400"/>
                  <a:pt x="6124592" y="4343400"/>
                </a:cubicBezTo>
                <a:lnTo>
                  <a:pt x="76183" y="4343400"/>
                </a:lnTo>
                <a:cubicBezTo>
                  <a:pt x="34108" y="4343400"/>
                  <a:pt x="0" y="4309292"/>
                  <a:pt x="0" y="4267217"/>
                </a:cubicBezTo>
                <a:lnTo>
                  <a:pt x="0" y="76183"/>
                </a:lnTo>
                <a:cubicBezTo>
                  <a:pt x="0" y="34137"/>
                  <a:pt x="34137" y="0"/>
                  <a:pt x="76183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sx="100000" sy="100000" kx="0" ky="0" algn="bl" rotWithShape="0" blurRad="28575" dist="9525" dir="5400000">
              <a:srgbClr val="000000">
                <a:alpha val="10196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798790" y="1371600"/>
            <a:ext cx="5905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2E405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Risk Balance Framework</a:t>
            </a:r>
            <a:endParaRPr lang="en-US" sz="1600" dirty="0"/>
          </a:p>
        </p:txBody>
      </p:sp>
      <p:pic>
        <p:nvPicPr>
          <p:cNvPr id="22" name="Image 0" descr="https://kimi-img.moonshot.cn/pub/slides/26-02-28-10:53:51-d6h5hfreqfpdbv4q6h0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798790" y="1752600"/>
            <a:ext cx="5819775" cy="3581400"/>
          </a:xfrm>
          <a:prstGeom prst="roundRect">
            <a:avLst>
              <a:gd name="adj" fmla="val 0"/>
            </a:avLst>
          </a:prstGeom>
        </p:spPr>
      </p:pic>
      <p:sp>
        <p:nvSpPr>
          <p:cNvPr id="23" name="Shape 20"/>
          <p:cNvSpPr/>
          <p:nvPr/>
        </p:nvSpPr>
        <p:spPr>
          <a:xfrm>
            <a:off x="5608290" y="5676900"/>
            <a:ext cx="1990725" cy="800100"/>
          </a:xfrm>
          <a:custGeom>
            <a:avLst/>
            <a:gdLst/>
            <a:ahLst/>
            <a:cxnLst/>
            <a:rect l="l" t="t" r="r" b="b"/>
            <a:pathLst>
              <a:path w="1990725" h="800100">
                <a:moveTo>
                  <a:pt x="76202" y="0"/>
                </a:moveTo>
                <a:lnTo>
                  <a:pt x="1914523" y="0"/>
                </a:lnTo>
                <a:cubicBezTo>
                  <a:pt x="1956608" y="0"/>
                  <a:pt x="1990725" y="34117"/>
                  <a:pt x="1990725" y="76202"/>
                </a:cubicBezTo>
                <a:lnTo>
                  <a:pt x="1990725" y="723898"/>
                </a:lnTo>
                <a:cubicBezTo>
                  <a:pt x="1990725" y="765983"/>
                  <a:pt x="1956608" y="800100"/>
                  <a:pt x="1914523" y="800100"/>
                </a:cubicBezTo>
                <a:lnTo>
                  <a:pt x="76202" y="800100"/>
                </a:lnTo>
                <a:cubicBezTo>
                  <a:pt x="34117" y="800100"/>
                  <a:pt x="0" y="765983"/>
                  <a:pt x="0" y="7238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C0A062">
              <a:alpha val="10196"/>
            </a:srgbClr>
          </a:solidFill>
          <a:ln/>
        </p:spPr>
      </p:sp>
      <p:sp>
        <p:nvSpPr>
          <p:cNvPr id="24" name="Text 21"/>
          <p:cNvSpPr/>
          <p:nvPr/>
        </p:nvSpPr>
        <p:spPr>
          <a:xfrm>
            <a:off x="5651153" y="5791200"/>
            <a:ext cx="190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50" b="1" dirty="0">
                <a:solidFill>
                  <a:srgbClr val="C0A06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689253" y="6172200"/>
            <a:ext cx="1828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Competing Risks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7713911" y="5676900"/>
            <a:ext cx="1990725" cy="800100"/>
          </a:xfrm>
          <a:custGeom>
            <a:avLst/>
            <a:gdLst/>
            <a:ahLst/>
            <a:cxnLst/>
            <a:rect l="l" t="t" r="r" b="b"/>
            <a:pathLst>
              <a:path w="1990725" h="800100">
                <a:moveTo>
                  <a:pt x="76202" y="0"/>
                </a:moveTo>
                <a:lnTo>
                  <a:pt x="1914523" y="0"/>
                </a:lnTo>
                <a:cubicBezTo>
                  <a:pt x="1956608" y="0"/>
                  <a:pt x="1990725" y="34117"/>
                  <a:pt x="1990725" y="76202"/>
                </a:cubicBezTo>
                <a:lnTo>
                  <a:pt x="1990725" y="723898"/>
                </a:lnTo>
                <a:cubicBezTo>
                  <a:pt x="1990725" y="765983"/>
                  <a:pt x="1956608" y="800100"/>
                  <a:pt x="1914523" y="800100"/>
                </a:cubicBezTo>
                <a:lnTo>
                  <a:pt x="76202" y="800100"/>
                </a:lnTo>
                <a:cubicBezTo>
                  <a:pt x="34117" y="800100"/>
                  <a:pt x="0" y="765983"/>
                  <a:pt x="0" y="7238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2E4057">
              <a:alpha val="10196"/>
            </a:srgbClr>
          </a:solidFill>
          <a:ln/>
        </p:spPr>
      </p:sp>
      <p:sp>
        <p:nvSpPr>
          <p:cNvPr id="27" name="Text 24"/>
          <p:cNvSpPr/>
          <p:nvPr/>
        </p:nvSpPr>
        <p:spPr>
          <a:xfrm>
            <a:off x="7756773" y="5791200"/>
            <a:ext cx="190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50" b="1" dirty="0">
                <a:solidFill>
                  <a:srgbClr val="2E405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7794873" y="6172200"/>
            <a:ext cx="1828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Core Objective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9819605" y="5676900"/>
            <a:ext cx="1990725" cy="800100"/>
          </a:xfrm>
          <a:custGeom>
            <a:avLst/>
            <a:gdLst/>
            <a:ahLst/>
            <a:cxnLst/>
            <a:rect l="l" t="t" r="r" b="b"/>
            <a:pathLst>
              <a:path w="1990725" h="800100">
                <a:moveTo>
                  <a:pt x="76202" y="0"/>
                </a:moveTo>
                <a:lnTo>
                  <a:pt x="1914523" y="0"/>
                </a:lnTo>
                <a:cubicBezTo>
                  <a:pt x="1956608" y="0"/>
                  <a:pt x="1990725" y="34117"/>
                  <a:pt x="1990725" y="76202"/>
                </a:cubicBezTo>
                <a:lnTo>
                  <a:pt x="1990725" y="723898"/>
                </a:lnTo>
                <a:cubicBezTo>
                  <a:pt x="1990725" y="765983"/>
                  <a:pt x="1956608" y="800100"/>
                  <a:pt x="1914523" y="800100"/>
                </a:cubicBezTo>
                <a:lnTo>
                  <a:pt x="76202" y="800100"/>
                </a:lnTo>
                <a:cubicBezTo>
                  <a:pt x="34117" y="800100"/>
                  <a:pt x="0" y="765983"/>
                  <a:pt x="0" y="7238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A0AEC0">
              <a:alpha val="10196"/>
            </a:srgbClr>
          </a:solidFill>
          <a:ln/>
        </p:spPr>
      </p:sp>
      <p:sp>
        <p:nvSpPr>
          <p:cNvPr id="30" name="Text 27"/>
          <p:cNvSpPr/>
          <p:nvPr/>
        </p:nvSpPr>
        <p:spPr>
          <a:xfrm>
            <a:off x="9862468" y="5791200"/>
            <a:ext cx="190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50" b="1" dirty="0">
                <a:solidFill>
                  <a:srgbClr val="A0AEC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∞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9900568" y="6172200"/>
            <a:ext cx="1828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Data Insights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81000"/>
            <a:ext cx="1150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spc="120" kern="0" dirty="0">
                <a:solidFill>
                  <a:srgbClr val="C0A06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02 • Data Overview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381000" y="647700"/>
            <a:ext cx="116014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2E405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Methodology &amp; Data Sources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00050" y="1181100"/>
            <a:ext cx="5619750" cy="1600200"/>
          </a:xfrm>
          <a:custGeom>
            <a:avLst/>
            <a:gdLst/>
            <a:ahLst/>
            <a:cxnLst/>
            <a:rect l="l" t="t" r="r" b="b"/>
            <a:pathLst>
              <a:path w="5619750" h="1600200">
                <a:moveTo>
                  <a:pt x="38100" y="0"/>
                </a:moveTo>
                <a:lnTo>
                  <a:pt x="5543548" y="0"/>
                </a:lnTo>
                <a:cubicBezTo>
                  <a:pt x="5585633" y="0"/>
                  <a:pt x="5619750" y="34117"/>
                  <a:pt x="5619750" y="76202"/>
                </a:cubicBezTo>
                <a:lnTo>
                  <a:pt x="5619750" y="1523998"/>
                </a:lnTo>
                <a:cubicBezTo>
                  <a:pt x="5619750" y="1566083"/>
                  <a:pt x="5585633" y="1600200"/>
                  <a:pt x="5543548" y="1600200"/>
                </a:cubicBezTo>
                <a:lnTo>
                  <a:pt x="38100" y="1600200"/>
                </a:lnTo>
                <a:cubicBezTo>
                  <a:pt x="17072" y="1600200"/>
                  <a:pt x="0" y="1583128"/>
                  <a:pt x="0" y="1562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sx="100000" sy="100000" kx="0" ky="0" algn="bl" rotWithShape="0" blurRad="28575" dist="9525" dir="5400000">
              <a:srgbClr val="000000">
                <a:alpha val="10196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00050" y="1181100"/>
            <a:ext cx="38100" cy="1600200"/>
          </a:xfrm>
          <a:custGeom>
            <a:avLst/>
            <a:gdLst/>
            <a:ahLst/>
            <a:cxnLst/>
            <a:rect l="l" t="t" r="r" b="b"/>
            <a:pathLst>
              <a:path w="38100" h="1600200">
                <a:moveTo>
                  <a:pt x="38100" y="0"/>
                </a:moveTo>
                <a:lnTo>
                  <a:pt x="38100" y="0"/>
                </a:lnTo>
                <a:lnTo>
                  <a:pt x="38100" y="1600200"/>
                </a:lnTo>
                <a:lnTo>
                  <a:pt x="38100" y="1600200"/>
                </a:lnTo>
                <a:cubicBezTo>
                  <a:pt x="17072" y="1600200"/>
                  <a:pt x="0" y="1583128"/>
                  <a:pt x="0" y="1562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2E4057"/>
          </a:solidFill>
          <a:ln/>
        </p:spPr>
      </p:sp>
      <p:sp>
        <p:nvSpPr>
          <p:cNvPr id="6" name="Shape 4"/>
          <p:cNvSpPr/>
          <p:nvPr/>
        </p:nvSpPr>
        <p:spPr>
          <a:xfrm>
            <a:off x="645319" y="1409700"/>
            <a:ext cx="166688" cy="190500"/>
          </a:xfrm>
          <a:custGeom>
            <a:avLst/>
            <a:gdLst/>
            <a:ahLst/>
            <a:cxnLst/>
            <a:rect l="l" t="t" r="r" b="b"/>
            <a:pathLst>
              <a:path w="166688" h="190500">
                <a:moveTo>
                  <a:pt x="166688" y="76572"/>
                </a:moveTo>
                <a:cubicBezTo>
                  <a:pt x="161181" y="80218"/>
                  <a:pt x="154856" y="83158"/>
                  <a:pt x="148270" y="85502"/>
                </a:cubicBezTo>
                <a:cubicBezTo>
                  <a:pt x="130783" y="91753"/>
                  <a:pt x="107826" y="95250"/>
                  <a:pt x="83344" y="95250"/>
                </a:cubicBezTo>
                <a:cubicBezTo>
                  <a:pt x="58862" y="95250"/>
                  <a:pt x="35868" y="91715"/>
                  <a:pt x="18417" y="85502"/>
                </a:cubicBezTo>
                <a:cubicBezTo>
                  <a:pt x="11869" y="83158"/>
                  <a:pt x="5507" y="80218"/>
                  <a:pt x="0" y="76572"/>
                </a:cubicBezTo>
                <a:lnTo>
                  <a:pt x="0" y="107156"/>
                </a:lnTo>
                <a:cubicBezTo>
                  <a:pt x="0" y="123602"/>
                  <a:pt x="37319" y="136922"/>
                  <a:pt x="83344" y="136922"/>
                </a:cubicBezTo>
                <a:cubicBezTo>
                  <a:pt x="129369" y="136922"/>
                  <a:pt x="166688" y="123602"/>
                  <a:pt x="166688" y="107156"/>
                </a:cubicBezTo>
                <a:lnTo>
                  <a:pt x="166688" y="76572"/>
                </a:lnTo>
                <a:close/>
                <a:moveTo>
                  <a:pt x="166688" y="47625"/>
                </a:moveTo>
                <a:lnTo>
                  <a:pt x="166688" y="29766"/>
                </a:lnTo>
                <a:cubicBezTo>
                  <a:pt x="166688" y="13320"/>
                  <a:pt x="129369" y="0"/>
                  <a:pt x="83344" y="0"/>
                </a:cubicBezTo>
                <a:cubicBezTo>
                  <a:pt x="37319" y="0"/>
                  <a:pt x="0" y="13320"/>
                  <a:pt x="0" y="29766"/>
                </a:cubicBezTo>
                <a:lnTo>
                  <a:pt x="0" y="47625"/>
                </a:lnTo>
                <a:cubicBezTo>
                  <a:pt x="0" y="64071"/>
                  <a:pt x="37319" y="77391"/>
                  <a:pt x="83344" y="77391"/>
                </a:cubicBezTo>
                <a:cubicBezTo>
                  <a:pt x="129369" y="77391"/>
                  <a:pt x="166688" y="64071"/>
                  <a:pt x="166688" y="47625"/>
                </a:cubicBezTo>
                <a:close/>
                <a:moveTo>
                  <a:pt x="148270" y="145033"/>
                </a:moveTo>
                <a:cubicBezTo>
                  <a:pt x="130820" y="151247"/>
                  <a:pt x="107863" y="154781"/>
                  <a:pt x="83344" y="154781"/>
                </a:cubicBezTo>
                <a:cubicBezTo>
                  <a:pt x="58824" y="154781"/>
                  <a:pt x="35868" y="151247"/>
                  <a:pt x="18417" y="145033"/>
                </a:cubicBezTo>
                <a:cubicBezTo>
                  <a:pt x="11869" y="142689"/>
                  <a:pt x="5507" y="139750"/>
                  <a:pt x="0" y="136103"/>
                </a:cubicBezTo>
                <a:lnTo>
                  <a:pt x="0" y="160734"/>
                </a:lnTo>
                <a:cubicBezTo>
                  <a:pt x="0" y="177180"/>
                  <a:pt x="37319" y="190500"/>
                  <a:pt x="83344" y="190500"/>
                </a:cubicBezTo>
                <a:cubicBezTo>
                  <a:pt x="129369" y="190500"/>
                  <a:pt x="166688" y="177180"/>
                  <a:pt x="166688" y="160734"/>
                </a:cubicBezTo>
                <a:lnTo>
                  <a:pt x="166688" y="136103"/>
                </a:lnTo>
                <a:cubicBezTo>
                  <a:pt x="161181" y="139750"/>
                  <a:pt x="154856" y="142689"/>
                  <a:pt x="148270" y="145033"/>
                </a:cubicBezTo>
                <a:close/>
              </a:path>
            </a:pathLst>
          </a:custGeom>
          <a:solidFill>
            <a:srgbClr val="2E4057"/>
          </a:solidFill>
          <a:ln/>
        </p:spPr>
      </p:sp>
      <p:sp>
        <p:nvSpPr>
          <p:cNvPr id="7" name="Text 5"/>
          <p:cNvSpPr/>
          <p:nvPr/>
        </p:nvSpPr>
        <p:spPr>
          <a:xfrm>
            <a:off x="962025" y="1371600"/>
            <a:ext cx="10953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2E405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Data Sources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09600" y="18288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38100" y="0"/>
                </a:moveTo>
                <a:lnTo>
                  <a:pt x="38100" y="0"/>
                </a:lnTo>
                <a:cubicBezTo>
                  <a:pt x="59128" y="0"/>
                  <a:pt x="76200" y="17072"/>
                  <a:pt x="76200" y="38100"/>
                </a:cubicBezTo>
                <a:lnTo>
                  <a:pt x="76200" y="38100"/>
                </a:lnTo>
                <a:cubicBezTo>
                  <a:pt x="76200" y="59128"/>
                  <a:pt x="59128" y="76200"/>
                  <a:pt x="38100" y="76200"/>
                </a:cubicBezTo>
                <a:lnTo>
                  <a:pt x="38100" y="76200"/>
                </a:lnTo>
                <a:cubicBezTo>
                  <a:pt x="17072" y="76200"/>
                  <a:pt x="0" y="59128"/>
                  <a:pt x="0" y="38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C0A062"/>
          </a:solidFill>
          <a:ln/>
        </p:spPr>
      </p:sp>
      <p:sp>
        <p:nvSpPr>
          <p:cNvPr id="9" name="Text 7"/>
          <p:cNvSpPr/>
          <p:nvPr/>
        </p:nvSpPr>
        <p:spPr>
          <a:xfrm>
            <a:off x="762000" y="1752600"/>
            <a:ext cx="40290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Application Data:</a:t>
            </a:r>
            <a:pPr>
              <a:lnSpc>
                <a:spcPct val="130000"/>
              </a:lnSpc>
            </a:pPr>
            <a:r>
              <a:rPr lang="en-US" sz="12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Records with repayment labels (TARGET)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09600" y="21336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38100" y="0"/>
                </a:moveTo>
                <a:lnTo>
                  <a:pt x="38100" y="0"/>
                </a:lnTo>
                <a:cubicBezTo>
                  <a:pt x="59128" y="0"/>
                  <a:pt x="76200" y="17072"/>
                  <a:pt x="76200" y="38100"/>
                </a:cubicBezTo>
                <a:lnTo>
                  <a:pt x="76200" y="38100"/>
                </a:lnTo>
                <a:cubicBezTo>
                  <a:pt x="76200" y="59128"/>
                  <a:pt x="59128" y="76200"/>
                  <a:pt x="38100" y="76200"/>
                </a:cubicBezTo>
                <a:lnTo>
                  <a:pt x="38100" y="76200"/>
                </a:lnTo>
                <a:cubicBezTo>
                  <a:pt x="17072" y="76200"/>
                  <a:pt x="0" y="59128"/>
                  <a:pt x="0" y="38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C0A062"/>
          </a:solidFill>
          <a:ln/>
        </p:spPr>
      </p:sp>
      <p:sp>
        <p:nvSpPr>
          <p:cNvPr id="11" name="Text 9"/>
          <p:cNvSpPr/>
          <p:nvPr/>
        </p:nvSpPr>
        <p:spPr>
          <a:xfrm>
            <a:off x="762000" y="2057400"/>
            <a:ext cx="5067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Previous Applications:</a:t>
            </a:r>
            <a:pPr>
              <a:lnSpc>
                <a:spcPct val="130000"/>
              </a:lnSpc>
            </a:pPr>
            <a:r>
              <a:rPr lang="en-US" sz="12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Historical outcomes (NAME_CONTRACT_STATUS)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09600" y="24384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38100" y="0"/>
                </a:moveTo>
                <a:lnTo>
                  <a:pt x="38100" y="0"/>
                </a:lnTo>
                <a:cubicBezTo>
                  <a:pt x="59128" y="0"/>
                  <a:pt x="76200" y="17072"/>
                  <a:pt x="76200" y="38100"/>
                </a:cubicBezTo>
                <a:lnTo>
                  <a:pt x="76200" y="38100"/>
                </a:lnTo>
                <a:cubicBezTo>
                  <a:pt x="76200" y="59128"/>
                  <a:pt x="59128" y="76200"/>
                  <a:pt x="38100" y="76200"/>
                </a:cubicBezTo>
                <a:lnTo>
                  <a:pt x="38100" y="76200"/>
                </a:lnTo>
                <a:cubicBezTo>
                  <a:pt x="17072" y="76200"/>
                  <a:pt x="0" y="59128"/>
                  <a:pt x="0" y="38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C0A062"/>
          </a:solidFill>
          <a:ln/>
        </p:spPr>
      </p:sp>
      <p:sp>
        <p:nvSpPr>
          <p:cNvPr id="13" name="Text 11"/>
          <p:cNvSpPr/>
          <p:nvPr/>
        </p:nvSpPr>
        <p:spPr>
          <a:xfrm>
            <a:off x="762000" y="2362200"/>
            <a:ext cx="3581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Data Dictionary:</a:t>
            </a:r>
            <a:pPr>
              <a:lnSpc>
                <a:spcPct val="130000"/>
              </a:lnSpc>
            </a:pPr>
            <a:r>
              <a:rPr lang="en-US" sz="12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Column descriptions and definitions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00050" y="2895600"/>
            <a:ext cx="5619750" cy="3581400"/>
          </a:xfrm>
          <a:custGeom>
            <a:avLst/>
            <a:gdLst/>
            <a:ahLst/>
            <a:cxnLst/>
            <a:rect l="l" t="t" r="r" b="b"/>
            <a:pathLst>
              <a:path w="5619750" h="3581400">
                <a:moveTo>
                  <a:pt x="38100" y="0"/>
                </a:moveTo>
                <a:lnTo>
                  <a:pt x="5543538" y="0"/>
                </a:lnTo>
                <a:cubicBezTo>
                  <a:pt x="5585629" y="0"/>
                  <a:pt x="5619750" y="34121"/>
                  <a:pt x="5619750" y="76212"/>
                </a:cubicBezTo>
                <a:lnTo>
                  <a:pt x="5619750" y="3505188"/>
                </a:lnTo>
                <a:cubicBezTo>
                  <a:pt x="5619750" y="3547279"/>
                  <a:pt x="5585629" y="3581400"/>
                  <a:pt x="5543538" y="3581400"/>
                </a:cubicBezTo>
                <a:lnTo>
                  <a:pt x="38100" y="3581400"/>
                </a:lnTo>
                <a:cubicBezTo>
                  <a:pt x="17058" y="3581400"/>
                  <a:pt x="0" y="3564342"/>
                  <a:pt x="0" y="35433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sx="100000" sy="100000" kx="0" ky="0" algn="bl" rotWithShape="0" blurRad="28575" dist="9525" dir="5400000">
              <a:srgbClr val="000000">
                <a:alpha val="10196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00050" y="2895600"/>
            <a:ext cx="38100" cy="3581400"/>
          </a:xfrm>
          <a:custGeom>
            <a:avLst/>
            <a:gdLst/>
            <a:ahLst/>
            <a:cxnLst/>
            <a:rect l="l" t="t" r="r" b="b"/>
            <a:pathLst>
              <a:path w="38100" h="3581400">
                <a:moveTo>
                  <a:pt x="38100" y="0"/>
                </a:moveTo>
                <a:lnTo>
                  <a:pt x="38100" y="0"/>
                </a:lnTo>
                <a:lnTo>
                  <a:pt x="38100" y="3581400"/>
                </a:lnTo>
                <a:lnTo>
                  <a:pt x="38100" y="3581400"/>
                </a:lnTo>
                <a:cubicBezTo>
                  <a:pt x="17072" y="3581400"/>
                  <a:pt x="0" y="3564328"/>
                  <a:pt x="0" y="35433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C0A062"/>
          </a:solidFill>
          <a:ln/>
        </p:spPr>
      </p:sp>
      <p:sp>
        <p:nvSpPr>
          <p:cNvPr id="16" name="Shape 14"/>
          <p:cNvSpPr/>
          <p:nvPr/>
        </p:nvSpPr>
        <p:spPr>
          <a:xfrm>
            <a:off x="621506" y="3124200"/>
            <a:ext cx="214313" cy="190500"/>
          </a:xfrm>
          <a:custGeom>
            <a:avLst/>
            <a:gdLst/>
            <a:ahLst/>
            <a:cxnLst/>
            <a:rect l="l" t="t" r="r" b="b"/>
            <a:pathLst>
              <a:path w="214313" h="190500">
                <a:moveTo>
                  <a:pt x="210815" y="20315"/>
                </a:moveTo>
                <a:cubicBezTo>
                  <a:pt x="215466" y="15664"/>
                  <a:pt x="215466" y="8111"/>
                  <a:pt x="210815" y="3460"/>
                </a:cubicBezTo>
                <a:cubicBezTo>
                  <a:pt x="206164" y="-1191"/>
                  <a:pt x="198611" y="-1191"/>
                  <a:pt x="193960" y="3460"/>
                </a:cubicBezTo>
                <a:lnTo>
                  <a:pt x="122523" y="74898"/>
                </a:lnTo>
                <a:lnTo>
                  <a:pt x="109612" y="61987"/>
                </a:lnTo>
                <a:cubicBezTo>
                  <a:pt x="108049" y="60424"/>
                  <a:pt x="105891" y="59531"/>
                  <a:pt x="103659" y="59531"/>
                </a:cubicBezTo>
                <a:cubicBezTo>
                  <a:pt x="99008" y="59531"/>
                  <a:pt x="95250" y="63289"/>
                  <a:pt x="95250" y="67940"/>
                </a:cubicBezTo>
                <a:lnTo>
                  <a:pt x="95250" y="78767"/>
                </a:lnTo>
                <a:lnTo>
                  <a:pt x="135545" y="119063"/>
                </a:lnTo>
                <a:lnTo>
                  <a:pt x="146372" y="119063"/>
                </a:lnTo>
                <a:cubicBezTo>
                  <a:pt x="151023" y="119063"/>
                  <a:pt x="154781" y="115305"/>
                  <a:pt x="154781" y="110654"/>
                </a:cubicBezTo>
                <a:cubicBezTo>
                  <a:pt x="154781" y="108421"/>
                  <a:pt x="153888" y="106263"/>
                  <a:pt x="152326" y="104701"/>
                </a:cubicBezTo>
                <a:lnTo>
                  <a:pt x="139415" y="91790"/>
                </a:lnTo>
                <a:lnTo>
                  <a:pt x="210852" y="20352"/>
                </a:lnTo>
                <a:close/>
                <a:moveTo>
                  <a:pt x="126913" y="131490"/>
                </a:moveTo>
                <a:lnTo>
                  <a:pt x="82823" y="87399"/>
                </a:lnTo>
                <a:cubicBezTo>
                  <a:pt x="66935" y="86023"/>
                  <a:pt x="51122" y="91753"/>
                  <a:pt x="39737" y="103138"/>
                </a:cubicBezTo>
                <a:lnTo>
                  <a:pt x="36761" y="106114"/>
                </a:lnTo>
                <a:cubicBezTo>
                  <a:pt x="28463" y="114412"/>
                  <a:pt x="23812" y="125648"/>
                  <a:pt x="23812" y="137368"/>
                </a:cubicBezTo>
                <a:cubicBezTo>
                  <a:pt x="23812" y="139898"/>
                  <a:pt x="26454" y="141536"/>
                  <a:pt x="28724" y="140419"/>
                </a:cubicBezTo>
                <a:lnTo>
                  <a:pt x="47737" y="130932"/>
                </a:lnTo>
                <a:cubicBezTo>
                  <a:pt x="49597" y="130001"/>
                  <a:pt x="51271" y="132457"/>
                  <a:pt x="49746" y="133871"/>
                </a:cubicBezTo>
                <a:lnTo>
                  <a:pt x="2716" y="176138"/>
                </a:lnTo>
                <a:cubicBezTo>
                  <a:pt x="1005" y="177701"/>
                  <a:pt x="0" y="179933"/>
                  <a:pt x="0" y="182277"/>
                </a:cubicBezTo>
                <a:cubicBezTo>
                  <a:pt x="0" y="186817"/>
                  <a:pt x="3683" y="190500"/>
                  <a:pt x="8223" y="190500"/>
                </a:cubicBezTo>
                <a:lnTo>
                  <a:pt x="72703" y="190500"/>
                </a:lnTo>
                <a:cubicBezTo>
                  <a:pt x="87139" y="190500"/>
                  <a:pt x="100943" y="184770"/>
                  <a:pt x="111175" y="174575"/>
                </a:cubicBezTo>
                <a:cubicBezTo>
                  <a:pt x="122560" y="163190"/>
                  <a:pt x="128253" y="147377"/>
                  <a:pt x="126913" y="131490"/>
                </a:cubicBezTo>
                <a:close/>
              </a:path>
            </a:pathLst>
          </a:custGeom>
          <a:solidFill>
            <a:srgbClr val="C0A062"/>
          </a:solidFill>
          <a:ln/>
        </p:spPr>
      </p:sp>
      <p:sp>
        <p:nvSpPr>
          <p:cNvPr id="17" name="Text 15"/>
          <p:cNvSpPr/>
          <p:nvPr/>
        </p:nvSpPr>
        <p:spPr>
          <a:xfrm>
            <a:off x="962025" y="3086100"/>
            <a:ext cx="16097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2E405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Data Cleaning Steps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09600" y="3644875"/>
            <a:ext cx="5219700" cy="685800"/>
          </a:xfrm>
          <a:custGeom>
            <a:avLst/>
            <a:gdLst/>
            <a:ahLst/>
            <a:cxnLst/>
            <a:rect l="l" t="t" r="r" b="b"/>
            <a:pathLst>
              <a:path w="5219700" h="685800">
                <a:moveTo>
                  <a:pt x="38103" y="0"/>
                </a:moveTo>
                <a:lnTo>
                  <a:pt x="5181597" y="0"/>
                </a:lnTo>
                <a:cubicBezTo>
                  <a:pt x="5202641" y="0"/>
                  <a:pt x="5219700" y="17059"/>
                  <a:pt x="5219700" y="38103"/>
                </a:cubicBezTo>
                <a:lnTo>
                  <a:pt x="5219700" y="647697"/>
                </a:lnTo>
                <a:cubicBezTo>
                  <a:pt x="5219700" y="668741"/>
                  <a:pt x="5202641" y="685800"/>
                  <a:pt x="5181597" y="685800"/>
                </a:cubicBezTo>
                <a:lnTo>
                  <a:pt x="38103" y="685800"/>
                </a:lnTo>
                <a:cubicBezTo>
                  <a:pt x="17059" y="685800"/>
                  <a:pt x="0" y="668741"/>
                  <a:pt x="0" y="647697"/>
                </a:cubicBezTo>
                <a:lnTo>
                  <a:pt x="0" y="38103"/>
                </a:lnTo>
                <a:cubicBezTo>
                  <a:pt x="0" y="17073"/>
                  <a:pt x="17073" y="0"/>
                  <a:pt x="38103" y="0"/>
                </a:cubicBezTo>
                <a:close/>
              </a:path>
            </a:pathLst>
          </a:custGeom>
          <a:solidFill>
            <a:srgbClr val="F7F7F7"/>
          </a:solidFill>
          <a:ln/>
        </p:spPr>
      </p:sp>
      <p:sp>
        <p:nvSpPr>
          <p:cNvPr id="19" name="Text 17"/>
          <p:cNvSpPr/>
          <p:nvPr/>
        </p:nvSpPr>
        <p:spPr>
          <a:xfrm>
            <a:off x="723900" y="3759175"/>
            <a:ext cx="5067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1. Anomalous Code Replacement:</a:t>
            </a:r>
            <a:pPr>
              <a:lnSpc>
                <a:spcPct val="130000"/>
              </a:lnSpc>
            </a:pPr>
            <a:r>
              <a:rPr lang="en-US" sz="12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DAYS_EMPLOYED = 365243 → missing values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09600" y="4762500"/>
            <a:ext cx="5219700" cy="457200"/>
          </a:xfrm>
          <a:custGeom>
            <a:avLst/>
            <a:gdLst/>
            <a:ahLst/>
            <a:cxnLst/>
            <a:rect l="l" t="t" r="r" b="b"/>
            <a:pathLst>
              <a:path w="5219700" h="457200">
                <a:moveTo>
                  <a:pt x="38098" y="0"/>
                </a:moveTo>
                <a:lnTo>
                  <a:pt x="5181602" y="0"/>
                </a:lnTo>
                <a:cubicBezTo>
                  <a:pt x="5202643" y="0"/>
                  <a:pt x="5219700" y="17057"/>
                  <a:pt x="5219700" y="38098"/>
                </a:cubicBezTo>
                <a:lnTo>
                  <a:pt x="5219700" y="419102"/>
                </a:lnTo>
                <a:cubicBezTo>
                  <a:pt x="5219700" y="440143"/>
                  <a:pt x="5202643" y="457200"/>
                  <a:pt x="5181602" y="457200"/>
                </a:cubicBezTo>
                <a:lnTo>
                  <a:pt x="38098" y="457200"/>
                </a:lnTo>
                <a:cubicBezTo>
                  <a:pt x="17057" y="457200"/>
                  <a:pt x="0" y="440143"/>
                  <a:pt x="0" y="419102"/>
                </a:cubicBezTo>
                <a:lnTo>
                  <a:pt x="0" y="38098"/>
                </a:lnTo>
                <a:cubicBezTo>
                  <a:pt x="0" y="17071"/>
                  <a:pt x="17071" y="0"/>
                  <a:pt x="38098" y="0"/>
                </a:cubicBezTo>
                <a:close/>
              </a:path>
            </a:pathLst>
          </a:custGeom>
          <a:solidFill>
            <a:srgbClr val="F7F7F7"/>
          </a:solidFill>
          <a:ln/>
        </p:spPr>
      </p:sp>
      <p:sp>
        <p:nvSpPr>
          <p:cNvPr id="21" name="Text 19"/>
          <p:cNvSpPr/>
          <p:nvPr/>
        </p:nvSpPr>
        <p:spPr>
          <a:xfrm>
            <a:off x="723900" y="4876800"/>
            <a:ext cx="5067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2. Variable Conversion:</a:t>
            </a:r>
            <a:pPr>
              <a:lnSpc>
                <a:spcPct val="130000"/>
              </a:lnSpc>
            </a:pPr>
            <a:r>
              <a:rPr lang="en-US" sz="12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Negative day variables → positive measures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09600" y="5651450"/>
            <a:ext cx="5219700" cy="457200"/>
          </a:xfrm>
          <a:custGeom>
            <a:avLst/>
            <a:gdLst/>
            <a:ahLst/>
            <a:cxnLst/>
            <a:rect l="l" t="t" r="r" b="b"/>
            <a:pathLst>
              <a:path w="5219700" h="457200">
                <a:moveTo>
                  <a:pt x="38098" y="0"/>
                </a:moveTo>
                <a:lnTo>
                  <a:pt x="5181602" y="0"/>
                </a:lnTo>
                <a:cubicBezTo>
                  <a:pt x="5202643" y="0"/>
                  <a:pt x="5219700" y="17057"/>
                  <a:pt x="5219700" y="38098"/>
                </a:cubicBezTo>
                <a:lnTo>
                  <a:pt x="5219700" y="419102"/>
                </a:lnTo>
                <a:cubicBezTo>
                  <a:pt x="5219700" y="440143"/>
                  <a:pt x="5202643" y="457200"/>
                  <a:pt x="5181602" y="457200"/>
                </a:cubicBezTo>
                <a:lnTo>
                  <a:pt x="38098" y="457200"/>
                </a:lnTo>
                <a:cubicBezTo>
                  <a:pt x="17057" y="457200"/>
                  <a:pt x="0" y="440143"/>
                  <a:pt x="0" y="419102"/>
                </a:cubicBezTo>
                <a:lnTo>
                  <a:pt x="0" y="38098"/>
                </a:lnTo>
                <a:cubicBezTo>
                  <a:pt x="0" y="17071"/>
                  <a:pt x="17071" y="0"/>
                  <a:pt x="38098" y="0"/>
                </a:cubicBezTo>
                <a:close/>
              </a:path>
            </a:pathLst>
          </a:custGeom>
          <a:solidFill>
            <a:srgbClr val="F7F7F7"/>
          </a:solidFill>
          <a:ln/>
        </p:spPr>
      </p:sp>
      <p:sp>
        <p:nvSpPr>
          <p:cNvPr id="23" name="Text 21"/>
          <p:cNvSpPr/>
          <p:nvPr/>
        </p:nvSpPr>
        <p:spPr>
          <a:xfrm>
            <a:off x="723900" y="5765750"/>
            <a:ext cx="5067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3. Outlier Treatment:</a:t>
            </a:r>
            <a:pPr>
              <a:lnSpc>
                <a:spcPct val="130000"/>
              </a:lnSpc>
            </a:pPr>
            <a:r>
              <a:rPr lang="en-US" sz="12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High-percentile capping for visualization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172200" y="1181100"/>
            <a:ext cx="5638800" cy="4152900"/>
          </a:xfrm>
          <a:custGeom>
            <a:avLst/>
            <a:gdLst/>
            <a:ahLst/>
            <a:cxnLst/>
            <a:rect l="l" t="t" r="r" b="b"/>
            <a:pathLst>
              <a:path w="5638800" h="4152900">
                <a:moveTo>
                  <a:pt x="76206" y="0"/>
                </a:moveTo>
                <a:lnTo>
                  <a:pt x="5562594" y="0"/>
                </a:lnTo>
                <a:cubicBezTo>
                  <a:pt x="5604653" y="0"/>
                  <a:pt x="5638800" y="34147"/>
                  <a:pt x="5638800" y="76206"/>
                </a:cubicBezTo>
                <a:lnTo>
                  <a:pt x="5638800" y="4076694"/>
                </a:lnTo>
                <a:cubicBezTo>
                  <a:pt x="5638800" y="4118782"/>
                  <a:pt x="5604682" y="4152900"/>
                  <a:pt x="5562594" y="4152900"/>
                </a:cubicBezTo>
                <a:lnTo>
                  <a:pt x="76206" y="4152900"/>
                </a:lnTo>
                <a:cubicBezTo>
                  <a:pt x="34118" y="4152900"/>
                  <a:pt x="0" y="4118782"/>
                  <a:pt x="0" y="4076694"/>
                </a:cubicBezTo>
                <a:lnTo>
                  <a:pt x="0" y="76206"/>
                </a:lnTo>
                <a:cubicBezTo>
                  <a:pt x="0" y="34147"/>
                  <a:pt x="34147" y="0"/>
                  <a:pt x="76206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sx="100000" sy="100000" kx="0" ky="0" algn="bl" rotWithShape="0" blurRad="28575" dist="9525" dir="5400000">
              <a:srgbClr val="000000">
                <a:alpha val="10196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362700" y="1371600"/>
            <a:ext cx="53435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2E405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Distribution Characteristics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362700" y="1714500"/>
            <a:ext cx="533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numeric variables exhibit </a:t>
            </a:r>
            <a:pPr>
              <a:lnSpc>
                <a:spcPct val="130000"/>
              </a:lnSpc>
            </a:pPr>
            <a:r>
              <a:rPr lang="en-US" sz="1200" b="1" dirty="0">
                <a:solidFill>
                  <a:srgbClr val="2D3748"/>
                </a:solidFill>
                <a:highlight>
                  <a:srgbClr val="C0A062">
                    <a:alpha val="20000"/>
                  </a:srgbClr>
                </a:highlight>
                <a:latin typeface="Liter" pitchFamily="34" charset="0"/>
                <a:ea typeface="Liter" pitchFamily="34" charset="-122"/>
                <a:cs typeface="Liter" pitchFamily="34" charset="-120"/>
              </a:rPr>
              <a:t>right-skewness </a:t>
            </a:r>
            <a:pPr>
              <a:lnSpc>
                <a:spcPct val="130000"/>
              </a:lnSpc>
            </a:pPr>
            <a:r>
              <a:rPr lang="en-US" sz="12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and </a:t>
            </a:r>
            <a:pPr>
              <a:lnSpc>
                <a:spcPct val="130000"/>
              </a:lnSpc>
            </a:pPr>
            <a:r>
              <a:rPr lang="en-US" sz="1200" b="1" dirty="0">
                <a:solidFill>
                  <a:srgbClr val="2D3748"/>
                </a:solidFill>
                <a:highlight>
                  <a:srgbClr val="C0A062">
                    <a:alpha val="20000"/>
                  </a:srgbClr>
                </a:highlight>
                <a:latin typeface="Liter" pitchFamily="34" charset="0"/>
                <a:ea typeface="Liter" pitchFamily="34" charset="-122"/>
                <a:cs typeface="Liter" pitchFamily="34" charset="-120"/>
              </a:rPr>
              <a:t>heavy tails</a:t>
            </a:r>
            <a:endParaRPr lang="en-US" sz="1600" dirty="0"/>
          </a:p>
        </p:txBody>
      </p:sp>
      <p:pic>
        <p:nvPicPr>
          <p:cNvPr id="27" name="Image 0" descr="https://kimi-img.moonshot.cn/pub/slides/26-02-28-10:53:51-d6h5hfpg4pnuptrm1bi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62700" y="2057400"/>
            <a:ext cx="5257800" cy="3086100"/>
          </a:xfrm>
          <a:prstGeom prst="roundRect">
            <a:avLst>
              <a:gd name="adj" fmla="val 0"/>
            </a:avLst>
          </a:prstGeom>
        </p:spPr>
      </p:pic>
      <p:sp>
        <p:nvSpPr>
          <p:cNvPr id="28" name="Shape 25"/>
          <p:cNvSpPr/>
          <p:nvPr/>
        </p:nvSpPr>
        <p:spPr>
          <a:xfrm>
            <a:off x="6172200" y="5448300"/>
            <a:ext cx="2762250" cy="1028700"/>
          </a:xfrm>
          <a:custGeom>
            <a:avLst/>
            <a:gdLst/>
            <a:ahLst/>
            <a:cxnLst/>
            <a:rect l="l" t="t" r="r" b="b"/>
            <a:pathLst>
              <a:path w="2762250" h="1028700">
                <a:moveTo>
                  <a:pt x="76196" y="0"/>
                </a:moveTo>
                <a:lnTo>
                  <a:pt x="2686054" y="0"/>
                </a:lnTo>
                <a:cubicBezTo>
                  <a:pt x="2728136" y="0"/>
                  <a:pt x="2762250" y="34114"/>
                  <a:pt x="2762250" y="76196"/>
                </a:cubicBezTo>
                <a:lnTo>
                  <a:pt x="2762250" y="952504"/>
                </a:lnTo>
                <a:cubicBezTo>
                  <a:pt x="2762250" y="994586"/>
                  <a:pt x="2728136" y="1028700"/>
                  <a:pt x="2686054" y="1028700"/>
                </a:cubicBezTo>
                <a:lnTo>
                  <a:pt x="76196" y="1028700"/>
                </a:lnTo>
                <a:cubicBezTo>
                  <a:pt x="34114" y="1028700"/>
                  <a:pt x="0" y="994586"/>
                  <a:pt x="0" y="952504"/>
                </a:cubicBezTo>
                <a:lnTo>
                  <a:pt x="0" y="76196"/>
                </a:lnTo>
                <a:cubicBezTo>
                  <a:pt x="0" y="34142"/>
                  <a:pt x="34142" y="0"/>
                  <a:pt x="76196" y="0"/>
                </a:cubicBezTo>
                <a:close/>
              </a:path>
            </a:pathLst>
          </a:custGeom>
          <a:solidFill>
            <a:srgbClr val="2E4057"/>
          </a:solidFill>
          <a:ln/>
        </p:spPr>
      </p:sp>
      <p:sp>
        <p:nvSpPr>
          <p:cNvPr id="29" name="Shape 26"/>
          <p:cNvSpPr/>
          <p:nvPr/>
        </p:nvSpPr>
        <p:spPr>
          <a:xfrm>
            <a:off x="7439025" y="56007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8575" y="28575"/>
                </a:moveTo>
                <a:cubicBezTo>
                  <a:pt x="28575" y="20672"/>
                  <a:pt x="22190" y="14288"/>
                  <a:pt x="14288" y="14288"/>
                </a:cubicBezTo>
                <a:cubicBezTo>
                  <a:pt x="6385" y="14288"/>
                  <a:pt x="0" y="20672"/>
                  <a:pt x="0" y="28575"/>
                </a:cubicBezTo>
                <a:lnTo>
                  <a:pt x="0" y="178594"/>
                </a:lnTo>
                <a:cubicBezTo>
                  <a:pt x="0" y="198328"/>
                  <a:pt x="15984" y="214313"/>
                  <a:pt x="35719" y="214313"/>
                </a:cubicBezTo>
                <a:lnTo>
                  <a:pt x="214313" y="214313"/>
                </a:lnTo>
                <a:cubicBezTo>
                  <a:pt x="222215" y="214313"/>
                  <a:pt x="228600" y="207928"/>
                  <a:pt x="228600" y="200025"/>
                </a:cubicBezTo>
                <a:cubicBezTo>
                  <a:pt x="228600" y="192122"/>
                  <a:pt x="222215" y="185738"/>
                  <a:pt x="214313" y="185738"/>
                </a:cubicBezTo>
                <a:lnTo>
                  <a:pt x="35719" y="185738"/>
                </a:lnTo>
                <a:cubicBezTo>
                  <a:pt x="31790" y="185738"/>
                  <a:pt x="28575" y="182523"/>
                  <a:pt x="28575" y="178594"/>
                </a:cubicBezTo>
                <a:lnTo>
                  <a:pt x="28575" y="28575"/>
                </a:lnTo>
                <a:close/>
                <a:moveTo>
                  <a:pt x="210116" y="67241"/>
                </a:moveTo>
                <a:cubicBezTo>
                  <a:pt x="215697" y="61659"/>
                  <a:pt x="215697" y="52596"/>
                  <a:pt x="210116" y="47015"/>
                </a:cubicBezTo>
                <a:cubicBezTo>
                  <a:pt x="204534" y="41434"/>
                  <a:pt x="195471" y="41434"/>
                  <a:pt x="189890" y="47015"/>
                </a:cubicBezTo>
                <a:lnTo>
                  <a:pt x="142875" y="94074"/>
                </a:lnTo>
                <a:lnTo>
                  <a:pt x="117247" y="68491"/>
                </a:lnTo>
                <a:cubicBezTo>
                  <a:pt x="111666" y="62910"/>
                  <a:pt x="102602" y="62910"/>
                  <a:pt x="97021" y="68491"/>
                </a:cubicBezTo>
                <a:lnTo>
                  <a:pt x="54159" y="111353"/>
                </a:lnTo>
                <a:cubicBezTo>
                  <a:pt x="48578" y="116934"/>
                  <a:pt x="48578" y="125998"/>
                  <a:pt x="54159" y="131579"/>
                </a:cubicBezTo>
                <a:cubicBezTo>
                  <a:pt x="59740" y="137160"/>
                  <a:pt x="68803" y="137160"/>
                  <a:pt x="74384" y="131579"/>
                </a:cubicBezTo>
                <a:lnTo>
                  <a:pt x="107156" y="98807"/>
                </a:lnTo>
                <a:lnTo>
                  <a:pt x="132784" y="124435"/>
                </a:lnTo>
                <a:cubicBezTo>
                  <a:pt x="138366" y="130016"/>
                  <a:pt x="147429" y="130016"/>
                  <a:pt x="153010" y="124435"/>
                </a:cubicBezTo>
                <a:lnTo>
                  <a:pt x="210160" y="67285"/>
                </a:lnTo>
                <a:close/>
              </a:path>
            </a:pathLst>
          </a:custGeom>
          <a:solidFill>
            <a:srgbClr val="C0A062"/>
          </a:solidFill>
          <a:ln/>
        </p:spPr>
      </p:sp>
      <p:sp>
        <p:nvSpPr>
          <p:cNvPr id="30" name="Text 27"/>
          <p:cNvSpPr/>
          <p:nvPr/>
        </p:nvSpPr>
        <p:spPr>
          <a:xfrm>
            <a:off x="6286500" y="5905500"/>
            <a:ext cx="2533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b="1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Log Scaling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6291263" y="6134100"/>
            <a:ext cx="25241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FFFFFF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Applied for visualization</a:t>
            </a:r>
            <a:endParaRPr lang="en-US" sz="1600" dirty="0"/>
          </a:p>
        </p:txBody>
      </p:sp>
      <p:sp>
        <p:nvSpPr>
          <p:cNvPr id="32" name="Shape 29"/>
          <p:cNvSpPr/>
          <p:nvPr/>
        </p:nvSpPr>
        <p:spPr>
          <a:xfrm>
            <a:off x="9048750" y="5448300"/>
            <a:ext cx="2762250" cy="1028700"/>
          </a:xfrm>
          <a:custGeom>
            <a:avLst/>
            <a:gdLst/>
            <a:ahLst/>
            <a:cxnLst/>
            <a:rect l="l" t="t" r="r" b="b"/>
            <a:pathLst>
              <a:path w="2762250" h="1028700">
                <a:moveTo>
                  <a:pt x="76196" y="0"/>
                </a:moveTo>
                <a:lnTo>
                  <a:pt x="2686054" y="0"/>
                </a:lnTo>
                <a:cubicBezTo>
                  <a:pt x="2728136" y="0"/>
                  <a:pt x="2762250" y="34114"/>
                  <a:pt x="2762250" y="76196"/>
                </a:cubicBezTo>
                <a:lnTo>
                  <a:pt x="2762250" y="952504"/>
                </a:lnTo>
                <a:cubicBezTo>
                  <a:pt x="2762250" y="994586"/>
                  <a:pt x="2728136" y="1028700"/>
                  <a:pt x="2686054" y="1028700"/>
                </a:cubicBezTo>
                <a:lnTo>
                  <a:pt x="76196" y="1028700"/>
                </a:lnTo>
                <a:cubicBezTo>
                  <a:pt x="34114" y="1028700"/>
                  <a:pt x="0" y="994586"/>
                  <a:pt x="0" y="952504"/>
                </a:cubicBezTo>
                <a:lnTo>
                  <a:pt x="0" y="76196"/>
                </a:lnTo>
                <a:cubicBezTo>
                  <a:pt x="0" y="34142"/>
                  <a:pt x="34142" y="0"/>
                  <a:pt x="76196" y="0"/>
                </a:cubicBezTo>
                <a:close/>
              </a:path>
            </a:pathLst>
          </a:custGeom>
          <a:solidFill>
            <a:srgbClr val="C0A062"/>
          </a:solidFill>
          <a:ln/>
        </p:spPr>
      </p:sp>
      <p:sp>
        <p:nvSpPr>
          <p:cNvPr id="33" name="Shape 30"/>
          <p:cNvSpPr/>
          <p:nvPr/>
        </p:nvSpPr>
        <p:spPr>
          <a:xfrm>
            <a:off x="10329863" y="5600700"/>
            <a:ext cx="200025" cy="228600"/>
          </a:xfrm>
          <a:custGeom>
            <a:avLst/>
            <a:gdLst/>
            <a:ahLst/>
            <a:cxnLst/>
            <a:rect l="l" t="t" r="r" b="b"/>
            <a:pathLst>
              <a:path w="200025" h="228600">
                <a:moveTo>
                  <a:pt x="85725" y="57150"/>
                </a:moveTo>
                <a:cubicBezTo>
                  <a:pt x="85725" y="33494"/>
                  <a:pt x="66519" y="14288"/>
                  <a:pt x="42863" y="14288"/>
                </a:cubicBezTo>
                <a:cubicBezTo>
                  <a:pt x="19206" y="14288"/>
                  <a:pt x="0" y="33494"/>
                  <a:pt x="0" y="57150"/>
                </a:cubicBezTo>
                <a:cubicBezTo>
                  <a:pt x="0" y="80806"/>
                  <a:pt x="19206" y="100013"/>
                  <a:pt x="42862" y="100013"/>
                </a:cubicBezTo>
                <a:cubicBezTo>
                  <a:pt x="66519" y="100013"/>
                  <a:pt x="85725" y="80806"/>
                  <a:pt x="85725" y="57150"/>
                </a:cubicBezTo>
                <a:close/>
                <a:moveTo>
                  <a:pt x="200025" y="171450"/>
                </a:moveTo>
                <a:cubicBezTo>
                  <a:pt x="200025" y="147794"/>
                  <a:pt x="180819" y="128588"/>
                  <a:pt x="157163" y="128588"/>
                </a:cubicBezTo>
                <a:cubicBezTo>
                  <a:pt x="133506" y="128588"/>
                  <a:pt x="114300" y="147794"/>
                  <a:pt x="114300" y="171450"/>
                </a:cubicBezTo>
                <a:cubicBezTo>
                  <a:pt x="114300" y="195106"/>
                  <a:pt x="133506" y="214313"/>
                  <a:pt x="157163" y="214313"/>
                </a:cubicBezTo>
                <a:cubicBezTo>
                  <a:pt x="180819" y="214313"/>
                  <a:pt x="200025" y="195106"/>
                  <a:pt x="200025" y="171450"/>
                </a:cubicBezTo>
                <a:close/>
                <a:moveTo>
                  <a:pt x="195828" y="38666"/>
                </a:moveTo>
                <a:cubicBezTo>
                  <a:pt x="201409" y="33084"/>
                  <a:pt x="201409" y="24021"/>
                  <a:pt x="195828" y="18440"/>
                </a:cubicBezTo>
                <a:cubicBezTo>
                  <a:pt x="190247" y="12859"/>
                  <a:pt x="181183" y="12859"/>
                  <a:pt x="175602" y="18440"/>
                </a:cubicBezTo>
                <a:lnTo>
                  <a:pt x="4152" y="189890"/>
                </a:lnTo>
                <a:cubicBezTo>
                  <a:pt x="-1429" y="195471"/>
                  <a:pt x="-1429" y="204534"/>
                  <a:pt x="4152" y="210116"/>
                </a:cubicBezTo>
                <a:cubicBezTo>
                  <a:pt x="9733" y="215697"/>
                  <a:pt x="18797" y="215697"/>
                  <a:pt x="24378" y="210116"/>
                </a:cubicBezTo>
                <a:lnTo>
                  <a:pt x="195828" y="38666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4" name="Text 31"/>
          <p:cNvSpPr/>
          <p:nvPr/>
        </p:nvSpPr>
        <p:spPr>
          <a:xfrm>
            <a:off x="9163050" y="5905500"/>
            <a:ext cx="2533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b="1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Percentile Capping</a:t>
            </a:r>
            <a:endParaRPr lang="en-US" sz="1600" dirty="0"/>
          </a:p>
        </p:txBody>
      </p:sp>
      <p:sp>
        <p:nvSpPr>
          <p:cNvPr id="35" name="Text 32"/>
          <p:cNvSpPr/>
          <p:nvPr/>
        </p:nvSpPr>
        <p:spPr>
          <a:xfrm>
            <a:off x="9167813" y="6134100"/>
            <a:ext cx="25241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FFFFFF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Extreme outliers handled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81000"/>
            <a:ext cx="1150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spc="120" kern="0" dirty="0">
                <a:solidFill>
                  <a:srgbClr val="C0A06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02 • Key Variables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381000" y="647700"/>
            <a:ext cx="116014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2E405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Risk Assessment Framework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00050" y="1181100"/>
            <a:ext cx="6181725" cy="1485900"/>
          </a:xfrm>
          <a:custGeom>
            <a:avLst/>
            <a:gdLst/>
            <a:ahLst/>
            <a:cxnLst/>
            <a:rect l="l" t="t" r="r" b="b"/>
            <a:pathLst>
              <a:path w="6181725" h="1485900">
                <a:moveTo>
                  <a:pt x="38100" y="0"/>
                </a:moveTo>
                <a:lnTo>
                  <a:pt x="6105528" y="0"/>
                </a:lnTo>
                <a:cubicBezTo>
                  <a:pt x="6147610" y="0"/>
                  <a:pt x="6181725" y="34115"/>
                  <a:pt x="6181725" y="76197"/>
                </a:cubicBezTo>
                <a:lnTo>
                  <a:pt x="6181725" y="1409703"/>
                </a:lnTo>
                <a:cubicBezTo>
                  <a:pt x="6181725" y="1451785"/>
                  <a:pt x="6147610" y="1485900"/>
                  <a:pt x="6105528" y="1485900"/>
                </a:cubicBezTo>
                <a:lnTo>
                  <a:pt x="38100" y="1485900"/>
                </a:lnTo>
                <a:cubicBezTo>
                  <a:pt x="17072" y="1485900"/>
                  <a:pt x="0" y="1468828"/>
                  <a:pt x="0" y="14478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sx="100000" sy="100000" kx="0" ky="0" algn="bl" rotWithShape="0" blurRad="28575" dist="9525" dir="5400000">
              <a:srgbClr val="000000">
                <a:alpha val="10196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00050" y="1181100"/>
            <a:ext cx="38100" cy="1485900"/>
          </a:xfrm>
          <a:custGeom>
            <a:avLst/>
            <a:gdLst/>
            <a:ahLst/>
            <a:cxnLst/>
            <a:rect l="l" t="t" r="r" b="b"/>
            <a:pathLst>
              <a:path w="38100" h="1485900">
                <a:moveTo>
                  <a:pt x="38100" y="0"/>
                </a:moveTo>
                <a:lnTo>
                  <a:pt x="38100" y="0"/>
                </a:lnTo>
                <a:lnTo>
                  <a:pt x="38100" y="1485900"/>
                </a:lnTo>
                <a:lnTo>
                  <a:pt x="38100" y="1485900"/>
                </a:lnTo>
                <a:cubicBezTo>
                  <a:pt x="17072" y="1485900"/>
                  <a:pt x="0" y="1468828"/>
                  <a:pt x="0" y="14478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C0A062"/>
          </a:solidFill>
          <a:ln/>
        </p:spPr>
      </p:sp>
      <p:sp>
        <p:nvSpPr>
          <p:cNvPr id="6" name="Shape 4"/>
          <p:cNvSpPr/>
          <p:nvPr/>
        </p:nvSpPr>
        <p:spPr>
          <a:xfrm>
            <a:off x="571500" y="137160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190500" y="0"/>
                </a:moveTo>
                <a:lnTo>
                  <a:pt x="190500" y="0"/>
                </a:lnTo>
                <a:cubicBezTo>
                  <a:pt x="295640" y="0"/>
                  <a:pt x="381000" y="85360"/>
                  <a:pt x="381000" y="190500"/>
                </a:cubicBezTo>
                <a:lnTo>
                  <a:pt x="381000" y="190500"/>
                </a:lnTo>
                <a:cubicBezTo>
                  <a:pt x="381000" y="295640"/>
                  <a:pt x="295640" y="381000"/>
                  <a:pt x="190500" y="381000"/>
                </a:cubicBezTo>
                <a:lnTo>
                  <a:pt x="190500" y="381000"/>
                </a:lnTo>
                <a:cubicBezTo>
                  <a:pt x="85360" y="381000"/>
                  <a:pt x="0" y="295640"/>
                  <a:pt x="0" y="190500"/>
                </a:cubicBezTo>
                <a:lnTo>
                  <a:pt x="0" y="190500"/>
                </a:lnTo>
                <a:cubicBezTo>
                  <a:pt x="0" y="85360"/>
                  <a:pt x="85360" y="0"/>
                  <a:pt x="190500" y="0"/>
                </a:cubicBezTo>
                <a:close/>
              </a:path>
            </a:pathLst>
          </a:custGeom>
          <a:solidFill>
            <a:srgbClr val="C0A062"/>
          </a:solidFill>
          <a:ln/>
        </p:spPr>
      </p:sp>
      <p:sp>
        <p:nvSpPr>
          <p:cNvPr id="7" name="Text 5"/>
          <p:cNvSpPr/>
          <p:nvPr/>
        </p:nvSpPr>
        <p:spPr>
          <a:xfrm>
            <a:off x="533400" y="1371600"/>
            <a:ext cx="457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b="1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66800" y="1333500"/>
            <a:ext cx="16192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2E405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TARGET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66800" y="1600200"/>
            <a:ext cx="1600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A0AEC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Primary Outcome Variable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71500" y="1866900"/>
            <a:ext cx="2876550" cy="647700"/>
          </a:xfrm>
          <a:custGeom>
            <a:avLst/>
            <a:gdLst/>
            <a:ahLst/>
            <a:cxnLst/>
            <a:rect l="l" t="t" r="r" b="b"/>
            <a:pathLst>
              <a:path w="2876550" h="647700">
                <a:moveTo>
                  <a:pt x="38098" y="0"/>
                </a:moveTo>
                <a:lnTo>
                  <a:pt x="2838452" y="0"/>
                </a:lnTo>
                <a:cubicBezTo>
                  <a:pt x="2859479" y="0"/>
                  <a:pt x="2876550" y="17071"/>
                  <a:pt x="2876550" y="38098"/>
                </a:cubicBezTo>
                <a:lnTo>
                  <a:pt x="2876550" y="609602"/>
                </a:lnTo>
                <a:cubicBezTo>
                  <a:pt x="2876550" y="630643"/>
                  <a:pt x="2859493" y="647700"/>
                  <a:pt x="2838452" y="647700"/>
                </a:cubicBezTo>
                <a:lnTo>
                  <a:pt x="38098" y="647700"/>
                </a:lnTo>
                <a:cubicBezTo>
                  <a:pt x="17071" y="647700"/>
                  <a:pt x="0" y="630629"/>
                  <a:pt x="0" y="609602"/>
                </a:cubicBezTo>
                <a:lnTo>
                  <a:pt x="0" y="38098"/>
                </a:lnTo>
                <a:cubicBezTo>
                  <a:pt x="0" y="17071"/>
                  <a:pt x="17071" y="0"/>
                  <a:pt x="38098" y="0"/>
                </a:cubicBezTo>
                <a:close/>
              </a:path>
            </a:pathLst>
          </a:custGeom>
          <a:solidFill>
            <a:srgbClr val="2E4057">
              <a:alpha val="10196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590550" y="1943100"/>
            <a:ext cx="28384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800" b="1" dirty="0">
                <a:solidFill>
                  <a:srgbClr val="2E405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14363" y="2247900"/>
            <a:ext cx="27908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On-time Payments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3558555" y="1866900"/>
            <a:ext cx="2876550" cy="647700"/>
          </a:xfrm>
          <a:custGeom>
            <a:avLst/>
            <a:gdLst/>
            <a:ahLst/>
            <a:cxnLst/>
            <a:rect l="l" t="t" r="r" b="b"/>
            <a:pathLst>
              <a:path w="2876550" h="647700">
                <a:moveTo>
                  <a:pt x="38098" y="0"/>
                </a:moveTo>
                <a:lnTo>
                  <a:pt x="2838452" y="0"/>
                </a:lnTo>
                <a:cubicBezTo>
                  <a:pt x="2859479" y="0"/>
                  <a:pt x="2876550" y="17071"/>
                  <a:pt x="2876550" y="38098"/>
                </a:cubicBezTo>
                <a:lnTo>
                  <a:pt x="2876550" y="609602"/>
                </a:lnTo>
                <a:cubicBezTo>
                  <a:pt x="2876550" y="630643"/>
                  <a:pt x="2859493" y="647700"/>
                  <a:pt x="2838452" y="647700"/>
                </a:cubicBezTo>
                <a:lnTo>
                  <a:pt x="38098" y="647700"/>
                </a:lnTo>
                <a:cubicBezTo>
                  <a:pt x="17071" y="647700"/>
                  <a:pt x="0" y="630629"/>
                  <a:pt x="0" y="609602"/>
                </a:cubicBezTo>
                <a:lnTo>
                  <a:pt x="0" y="38098"/>
                </a:lnTo>
                <a:cubicBezTo>
                  <a:pt x="0" y="17071"/>
                  <a:pt x="17071" y="0"/>
                  <a:pt x="38098" y="0"/>
                </a:cubicBezTo>
                <a:close/>
              </a:path>
            </a:pathLst>
          </a:custGeom>
          <a:solidFill>
            <a:srgbClr val="C0A062">
              <a:alpha val="10196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3577605" y="1943100"/>
            <a:ext cx="28384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800" b="1" dirty="0">
                <a:solidFill>
                  <a:srgbClr val="C0A06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601417" y="2247900"/>
            <a:ext cx="27908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Payment Difficulties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381000" y="2781300"/>
            <a:ext cx="6200775" cy="3695700"/>
          </a:xfrm>
          <a:custGeom>
            <a:avLst/>
            <a:gdLst/>
            <a:ahLst/>
            <a:cxnLst/>
            <a:rect l="l" t="t" r="r" b="b"/>
            <a:pathLst>
              <a:path w="6200775" h="3695700">
                <a:moveTo>
                  <a:pt x="76205" y="0"/>
                </a:moveTo>
                <a:lnTo>
                  <a:pt x="6124570" y="0"/>
                </a:lnTo>
                <a:cubicBezTo>
                  <a:pt x="6166657" y="0"/>
                  <a:pt x="6200775" y="34118"/>
                  <a:pt x="6200775" y="76205"/>
                </a:cubicBezTo>
                <a:lnTo>
                  <a:pt x="6200775" y="3619495"/>
                </a:lnTo>
                <a:cubicBezTo>
                  <a:pt x="6200775" y="3661582"/>
                  <a:pt x="6166657" y="3695700"/>
                  <a:pt x="6124570" y="3695700"/>
                </a:cubicBezTo>
                <a:lnTo>
                  <a:pt x="76205" y="3695700"/>
                </a:lnTo>
                <a:cubicBezTo>
                  <a:pt x="34118" y="3695700"/>
                  <a:pt x="0" y="3661582"/>
                  <a:pt x="0" y="3619495"/>
                </a:cubicBezTo>
                <a:lnTo>
                  <a:pt x="0" y="76205"/>
                </a:lnTo>
                <a:cubicBezTo>
                  <a:pt x="0" y="34146"/>
                  <a:pt x="34146" y="0"/>
                  <a:pt x="76205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sx="100000" sy="100000" kx="0" ky="0" algn="bl" rotWithShape="0" blurRad="28575" dist="9525" dir="5400000">
              <a:srgbClr val="000000">
                <a:alpha val="10196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33400" y="2933700"/>
            <a:ext cx="5981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2E405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Variable Categories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33400" y="3276600"/>
            <a:ext cx="2914650" cy="847725"/>
          </a:xfrm>
          <a:custGeom>
            <a:avLst/>
            <a:gdLst/>
            <a:ahLst/>
            <a:cxnLst/>
            <a:rect l="l" t="t" r="r" b="b"/>
            <a:pathLst>
              <a:path w="2914650" h="847725">
                <a:moveTo>
                  <a:pt x="38097" y="0"/>
                </a:moveTo>
                <a:lnTo>
                  <a:pt x="2876553" y="0"/>
                </a:lnTo>
                <a:cubicBezTo>
                  <a:pt x="2897593" y="0"/>
                  <a:pt x="2914650" y="17057"/>
                  <a:pt x="2914650" y="38097"/>
                </a:cubicBezTo>
                <a:lnTo>
                  <a:pt x="2914650" y="809628"/>
                </a:lnTo>
                <a:cubicBezTo>
                  <a:pt x="2914650" y="830668"/>
                  <a:pt x="2897593" y="847725"/>
                  <a:pt x="2876553" y="847725"/>
                </a:cubicBezTo>
                <a:lnTo>
                  <a:pt x="38097" y="847725"/>
                </a:lnTo>
                <a:cubicBezTo>
                  <a:pt x="17057" y="847725"/>
                  <a:pt x="0" y="830668"/>
                  <a:pt x="0" y="809628"/>
                </a:cubicBezTo>
                <a:lnTo>
                  <a:pt x="0" y="38097"/>
                </a:lnTo>
                <a:cubicBezTo>
                  <a:pt x="0" y="17057"/>
                  <a:pt x="17057" y="0"/>
                  <a:pt x="38097" y="0"/>
                </a:cubicBezTo>
                <a:close/>
              </a:path>
            </a:pathLst>
          </a:custGeom>
          <a:solidFill>
            <a:srgbClr val="F7F7F7"/>
          </a:solidFill>
          <a:ln/>
        </p:spPr>
      </p:sp>
      <p:sp>
        <p:nvSpPr>
          <p:cNvPr id="19" name="Shape 17"/>
          <p:cNvSpPr/>
          <p:nvPr/>
        </p:nvSpPr>
        <p:spPr>
          <a:xfrm>
            <a:off x="666750" y="3506763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59531" y="14288"/>
                </a:moveTo>
                <a:lnTo>
                  <a:pt x="92869" y="14288"/>
                </a:lnTo>
                <a:cubicBezTo>
                  <a:pt x="94178" y="14288"/>
                  <a:pt x="95250" y="15359"/>
                  <a:pt x="95250" y="16669"/>
                </a:cubicBezTo>
                <a:lnTo>
                  <a:pt x="95250" y="28575"/>
                </a:lnTo>
                <a:lnTo>
                  <a:pt x="57150" y="28575"/>
                </a:lnTo>
                <a:lnTo>
                  <a:pt x="57150" y="16669"/>
                </a:lnTo>
                <a:cubicBezTo>
                  <a:pt x="57150" y="15359"/>
                  <a:pt x="58222" y="14288"/>
                  <a:pt x="59531" y="14288"/>
                </a:cubicBezTo>
                <a:close/>
                <a:moveTo>
                  <a:pt x="42863" y="16669"/>
                </a:moveTo>
                <a:lnTo>
                  <a:pt x="42863" y="28575"/>
                </a:lnTo>
                <a:lnTo>
                  <a:pt x="19050" y="28575"/>
                </a:lnTo>
                <a:cubicBezTo>
                  <a:pt x="8543" y="28575"/>
                  <a:pt x="0" y="37118"/>
                  <a:pt x="0" y="47625"/>
                </a:cubicBezTo>
                <a:lnTo>
                  <a:pt x="0" y="76200"/>
                </a:lnTo>
                <a:lnTo>
                  <a:pt x="152400" y="76200"/>
                </a:lnTo>
                <a:lnTo>
                  <a:pt x="152400" y="47625"/>
                </a:lnTo>
                <a:cubicBezTo>
                  <a:pt x="152400" y="37118"/>
                  <a:pt x="143857" y="28575"/>
                  <a:pt x="133350" y="28575"/>
                </a:cubicBezTo>
                <a:lnTo>
                  <a:pt x="109537" y="28575"/>
                </a:lnTo>
                <a:lnTo>
                  <a:pt x="109537" y="16669"/>
                </a:lnTo>
                <a:cubicBezTo>
                  <a:pt x="109537" y="7471"/>
                  <a:pt x="102066" y="0"/>
                  <a:pt x="92869" y="0"/>
                </a:cubicBezTo>
                <a:lnTo>
                  <a:pt x="59531" y="0"/>
                </a:lnTo>
                <a:cubicBezTo>
                  <a:pt x="50334" y="0"/>
                  <a:pt x="42863" y="7471"/>
                  <a:pt x="42863" y="16669"/>
                </a:cubicBezTo>
                <a:close/>
                <a:moveTo>
                  <a:pt x="152400" y="90488"/>
                </a:moveTo>
                <a:lnTo>
                  <a:pt x="95250" y="90488"/>
                </a:lnTo>
                <a:lnTo>
                  <a:pt x="95250" y="95250"/>
                </a:lnTo>
                <a:cubicBezTo>
                  <a:pt x="95250" y="100519"/>
                  <a:pt x="90994" y="104775"/>
                  <a:pt x="85725" y="104775"/>
                </a:cubicBezTo>
                <a:lnTo>
                  <a:pt x="66675" y="104775"/>
                </a:lnTo>
                <a:cubicBezTo>
                  <a:pt x="61406" y="104775"/>
                  <a:pt x="57150" y="100519"/>
                  <a:pt x="57150" y="95250"/>
                </a:cubicBezTo>
                <a:lnTo>
                  <a:pt x="57150" y="90488"/>
                </a:lnTo>
                <a:lnTo>
                  <a:pt x="0" y="90488"/>
                </a:lnTo>
                <a:lnTo>
                  <a:pt x="0" y="123825"/>
                </a:lnTo>
                <a:cubicBezTo>
                  <a:pt x="0" y="134332"/>
                  <a:pt x="8543" y="142875"/>
                  <a:pt x="19050" y="142875"/>
                </a:cubicBezTo>
                <a:lnTo>
                  <a:pt x="133350" y="142875"/>
                </a:lnTo>
                <a:cubicBezTo>
                  <a:pt x="143857" y="142875"/>
                  <a:pt x="152400" y="134332"/>
                  <a:pt x="152400" y="123825"/>
                </a:cubicBezTo>
                <a:lnTo>
                  <a:pt x="152400" y="90488"/>
                </a:lnTo>
                <a:close/>
              </a:path>
            </a:pathLst>
          </a:custGeom>
          <a:solidFill>
            <a:srgbClr val="C0A062"/>
          </a:solidFill>
          <a:ln/>
        </p:spPr>
      </p:sp>
      <p:sp>
        <p:nvSpPr>
          <p:cNvPr id="20" name="Text 18"/>
          <p:cNvSpPr/>
          <p:nvPr/>
        </p:nvSpPr>
        <p:spPr>
          <a:xfrm>
            <a:off x="895350" y="3473425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2E405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Employment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47700" y="3740125"/>
            <a:ext cx="27527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DAYS_EMPLOYED, AMT_INCOME_TOTAL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3520455" y="3276600"/>
            <a:ext cx="2914650" cy="847725"/>
          </a:xfrm>
          <a:custGeom>
            <a:avLst/>
            <a:gdLst/>
            <a:ahLst/>
            <a:cxnLst/>
            <a:rect l="l" t="t" r="r" b="b"/>
            <a:pathLst>
              <a:path w="2914650" h="847725">
                <a:moveTo>
                  <a:pt x="38097" y="0"/>
                </a:moveTo>
                <a:lnTo>
                  <a:pt x="2876553" y="0"/>
                </a:lnTo>
                <a:cubicBezTo>
                  <a:pt x="2897593" y="0"/>
                  <a:pt x="2914650" y="17057"/>
                  <a:pt x="2914650" y="38097"/>
                </a:cubicBezTo>
                <a:lnTo>
                  <a:pt x="2914650" y="809628"/>
                </a:lnTo>
                <a:cubicBezTo>
                  <a:pt x="2914650" y="830668"/>
                  <a:pt x="2897593" y="847725"/>
                  <a:pt x="2876553" y="847725"/>
                </a:cubicBezTo>
                <a:lnTo>
                  <a:pt x="38097" y="847725"/>
                </a:lnTo>
                <a:cubicBezTo>
                  <a:pt x="17057" y="847725"/>
                  <a:pt x="0" y="830668"/>
                  <a:pt x="0" y="809628"/>
                </a:cubicBezTo>
                <a:lnTo>
                  <a:pt x="0" y="38097"/>
                </a:lnTo>
                <a:cubicBezTo>
                  <a:pt x="0" y="17057"/>
                  <a:pt x="17057" y="0"/>
                  <a:pt x="38097" y="0"/>
                </a:cubicBezTo>
                <a:close/>
              </a:path>
            </a:pathLst>
          </a:custGeom>
          <a:solidFill>
            <a:srgbClr val="F7F7F7"/>
          </a:solidFill>
          <a:ln/>
        </p:spPr>
      </p:sp>
      <p:sp>
        <p:nvSpPr>
          <p:cNvPr id="23" name="Shape 21"/>
          <p:cNvSpPr/>
          <p:nvPr/>
        </p:nvSpPr>
        <p:spPr>
          <a:xfrm>
            <a:off x="3663330" y="3506763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66675" y="73819"/>
                </a:moveTo>
                <a:cubicBezTo>
                  <a:pt x="86389" y="73819"/>
                  <a:pt x="102394" y="57814"/>
                  <a:pt x="102394" y="38100"/>
                </a:cubicBezTo>
                <a:cubicBezTo>
                  <a:pt x="102394" y="18386"/>
                  <a:pt x="86389" y="2381"/>
                  <a:pt x="66675" y="2381"/>
                </a:cubicBezTo>
                <a:cubicBezTo>
                  <a:pt x="46961" y="2381"/>
                  <a:pt x="30956" y="18386"/>
                  <a:pt x="30956" y="38100"/>
                </a:cubicBezTo>
                <a:cubicBezTo>
                  <a:pt x="30956" y="57814"/>
                  <a:pt x="46961" y="73819"/>
                  <a:pt x="66675" y="73819"/>
                </a:cubicBezTo>
                <a:close/>
                <a:moveTo>
                  <a:pt x="57835" y="90488"/>
                </a:moveTo>
                <a:cubicBezTo>
                  <a:pt x="28515" y="90488"/>
                  <a:pt x="4763" y="114240"/>
                  <a:pt x="4763" y="143560"/>
                </a:cubicBezTo>
                <a:cubicBezTo>
                  <a:pt x="4763" y="148441"/>
                  <a:pt x="8721" y="152400"/>
                  <a:pt x="13603" y="152400"/>
                </a:cubicBezTo>
                <a:lnTo>
                  <a:pt x="119747" y="152400"/>
                </a:lnTo>
                <a:cubicBezTo>
                  <a:pt x="124629" y="152400"/>
                  <a:pt x="128588" y="148441"/>
                  <a:pt x="128588" y="143560"/>
                </a:cubicBezTo>
                <a:cubicBezTo>
                  <a:pt x="128588" y="114240"/>
                  <a:pt x="104835" y="90488"/>
                  <a:pt x="75515" y="90488"/>
                </a:cubicBezTo>
                <a:lnTo>
                  <a:pt x="57835" y="90488"/>
                </a:lnTo>
                <a:close/>
              </a:path>
            </a:pathLst>
          </a:custGeom>
          <a:solidFill>
            <a:srgbClr val="C0A062"/>
          </a:solidFill>
          <a:ln/>
        </p:spPr>
      </p:sp>
      <p:sp>
        <p:nvSpPr>
          <p:cNvPr id="24" name="Text 22"/>
          <p:cNvSpPr/>
          <p:nvPr/>
        </p:nvSpPr>
        <p:spPr>
          <a:xfrm>
            <a:off x="3882405" y="3473425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2E405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Demographics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3634755" y="3740125"/>
            <a:ext cx="27527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YEARS_BIRTH_CATEGORY, CODE_GENDER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533400" y="4203650"/>
            <a:ext cx="2914650" cy="1038225"/>
          </a:xfrm>
          <a:custGeom>
            <a:avLst/>
            <a:gdLst/>
            <a:ahLst/>
            <a:cxnLst/>
            <a:rect l="l" t="t" r="r" b="b"/>
            <a:pathLst>
              <a:path w="2914650" h="1038225">
                <a:moveTo>
                  <a:pt x="38103" y="0"/>
                </a:moveTo>
                <a:lnTo>
                  <a:pt x="2876547" y="0"/>
                </a:lnTo>
                <a:cubicBezTo>
                  <a:pt x="2897577" y="0"/>
                  <a:pt x="2914650" y="17073"/>
                  <a:pt x="2914650" y="38103"/>
                </a:cubicBezTo>
                <a:lnTo>
                  <a:pt x="2914650" y="1000122"/>
                </a:lnTo>
                <a:cubicBezTo>
                  <a:pt x="2914650" y="1021166"/>
                  <a:pt x="2897591" y="1038225"/>
                  <a:pt x="2876547" y="1038225"/>
                </a:cubicBezTo>
                <a:lnTo>
                  <a:pt x="38103" y="1038225"/>
                </a:lnTo>
                <a:cubicBezTo>
                  <a:pt x="17059" y="1038225"/>
                  <a:pt x="0" y="1021166"/>
                  <a:pt x="0" y="1000122"/>
                </a:cubicBezTo>
                <a:lnTo>
                  <a:pt x="0" y="38103"/>
                </a:lnTo>
                <a:cubicBezTo>
                  <a:pt x="0" y="17073"/>
                  <a:pt x="17073" y="0"/>
                  <a:pt x="38103" y="0"/>
                </a:cubicBezTo>
                <a:close/>
              </a:path>
            </a:pathLst>
          </a:custGeom>
          <a:solidFill>
            <a:srgbClr val="F7F7F7"/>
          </a:solidFill>
          <a:ln/>
        </p:spPr>
      </p:sp>
      <p:sp>
        <p:nvSpPr>
          <p:cNvPr id="27" name="Shape 25"/>
          <p:cNvSpPr/>
          <p:nvPr/>
        </p:nvSpPr>
        <p:spPr>
          <a:xfrm>
            <a:off x="657225" y="4433813"/>
            <a:ext cx="171450" cy="152400"/>
          </a:xfrm>
          <a:custGeom>
            <a:avLst/>
            <a:gdLst/>
            <a:ahLst/>
            <a:cxnLst/>
            <a:rect l="l" t="t" r="r" b="b"/>
            <a:pathLst>
              <a:path w="171450" h="152400">
                <a:moveTo>
                  <a:pt x="14288" y="58281"/>
                </a:moveTo>
                <a:lnTo>
                  <a:pt x="76557" y="83909"/>
                </a:lnTo>
                <a:cubicBezTo>
                  <a:pt x="79474" y="85100"/>
                  <a:pt x="82570" y="85725"/>
                  <a:pt x="85725" y="85725"/>
                </a:cubicBezTo>
                <a:cubicBezTo>
                  <a:pt x="88880" y="85725"/>
                  <a:pt x="91976" y="85100"/>
                  <a:pt x="94893" y="83909"/>
                </a:cubicBezTo>
                <a:lnTo>
                  <a:pt x="167045" y="54203"/>
                </a:lnTo>
                <a:cubicBezTo>
                  <a:pt x="169724" y="53102"/>
                  <a:pt x="171450" y="50512"/>
                  <a:pt x="171450" y="47625"/>
                </a:cubicBezTo>
                <a:cubicBezTo>
                  <a:pt x="171450" y="44738"/>
                  <a:pt x="169724" y="42148"/>
                  <a:pt x="167045" y="41047"/>
                </a:cubicBezTo>
                <a:lnTo>
                  <a:pt x="94893" y="11341"/>
                </a:lnTo>
                <a:cubicBezTo>
                  <a:pt x="91976" y="10150"/>
                  <a:pt x="88880" y="9525"/>
                  <a:pt x="85725" y="9525"/>
                </a:cubicBezTo>
                <a:cubicBezTo>
                  <a:pt x="82570" y="9525"/>
                  <a:pt x="79474" y="10150"/>
                  <a:pt x="76557" y="11341"/>
                </a:cubicBezTo>
                <a:lnTo>
                  <a:pt x="4405" y="41047"/>
                </a:lnTo>
                <a:cubicBezTo>
                  <a:pt x="1726" y="42148"/>
                  <a:pt x="0" y="44738"/>
                  <a:pt x="0" y="47625"/>
                </a:cubicBezTo>
                <a:lnTo>
                  <a:pt x="0" y="135731"/>
                </a:lnTo>
                <a:cubicBezTo>
                  <a:pt x="0" y="139690"/>
                  <a:pt x="3185" y="142875"/>
                  <a:pt x="7144" y="142875"/>
                </a:cubicBezTo>
                <a:cubicBezTo>
                  <a:pt x="11103" y="142875"/>
                  <a:pt x="14288" y="139690"/>
                  <a:pt x="14288" y="135731"/>
                </a:cubicBezTo>
                <a:lnTo>
                  <a:pt x="14288" y="58281"/>
                </a:lnTo>
                <a:close/>
                <a:moveTo>
                  <a:pt x="28575" y="79623"/>
                </a:moveTo>
                <a:lnTo>
                  <a:pt x="28575" y="114300"/>
                </a:lnTo>
                <a:cubicBezTo>
                  <a:pt x="28575" y="130076"/>
                  <a:pt x="54173" y="142875"/>
                  <a:pt x="85725" y="142875"/>
                </a:cubicBezTo>
                <a:cubicBezTo>
                  <a:pt x="117277" y="142875"/>
                  <a:pt x="142875" y="130076"/>
                  <a:pt x="142875" y="114300"/>
                </a:cubicBezTo>
                <a:lnTo>
                  <a:pt x="142875" y="79593"/>
                </a:lnTo>
                <a:lnTo>
                  <a:pt x="100340" y="97125"/>
                </a:lnTo>
                <a:cubicBezTo>
                  <a:pt x="95696" y="99030"/>
                  <a:pt x="90755" y="100012"/>
                  <a:pt x="85725" y="100012"/>
                </a:cubicBezTo>
                <a:cubicBezTo>
                  <a:pt x="80695" y="100012"/>
                  <a:pt x="75754" y="99030"/>
                  <a:pt x="71110" y="97125"/>
                </a:cubicBezTo>
                <a:lnTo>
                  <a:pt x="28575" y="79593"/>
                </a:lnTo>
                <a:close/>
              </a:path>
            </a:pathLst>
          </a:custGeom>
          <a:solidFill>
            <a:srgbClr val="C0A062"/>
          </a:solidFill>
          <a:ln/>
        </p:spPr>
      </p:sp>
      <p:sp>
        <p:nvSpPr>
          <p:cNvPr id="28" name="Text 26"/>
          <p:cNvSpPr/>
          <p:nvPr/>
        </p:nvSpPr>
        <p:spPr>
          <a:xfrm>
            <a:off x="895350" y="4400476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2E405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Socioeconomic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47700" y="4667176"/>
            <a:ext cx="27527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NAME_EDUCATION_TYPE, NAME_INCOME_TYPE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3520455" y="4203650"/>
            <a:ext cx="2914650" cy="1038225"/>
          </a:xfrm>
          <a:custGeom>
            <a:avLst/>
            <a:gdLst/>
            <a:ahLst/>
            <a:cxnLst/>
            <a:rect l="l" t="t" r="r" b="b"/>
            <a:pathLst>
              <a:path w="2914650" h="1038225">
                <a:moveTo>
                  <a:pt x="38103" y="0"/>
                </a:moveTo>
                <a:lnTo>
                  <a:pt x="2876547" y="0"/>
                </a:lnTo>
                <a:cubicBezTo>
                  <a:pt x="2897577" y="0"/>
                  <a:pt x="2914650" y="17073"/>
                  <a:pt x="2914650" y="38103"/>
                </a:cubicBezTo>
                <a:lnTo>
                  <a:pt x="2914650" y="1000122"/>
                </a:lnTo>
                <a:cubicBezTo>
                  <a:pt x="2914650" y="1021166"/>
                  <a:pt x="2897591" y="1038225"/>
                  <a:pt x="2876547" y="1038225"/>
                </a:cubicBezTo>
                <a:lnTo>
                  <a:pt x="38103" y="1038225"/>
                </a:lnTo>
                <a:cubicBezTo>
                  <a:pt x="17059" y="1038225"/>
                  <a:pt x="0" y="1021166"/>
                  <a:pt x="0" y="1000122"/>
                </a:cubicBezTo>
                <a:lnTo>
                  <a:pt x="0" y="38103"/>
                </a:lnTo>
                <a:cubicBezTo>
                  <a:pt x="0" y="17073"/>
                  <a:pt x="17073" y="0"/>
                  <a:pt x="38103" y="0"/>
                </a:cubicBezTo>
                <a:close/>
              </a:path>
            </a:pathLst>
          </a:custGeom>
          <a:solidFill>
            <a:srgbClr val="F7F7F7"/>
          </a:solidFill>
          <a:ln/>
        </p:spPr>
      </p:sp>
      <p:sp>
        <p:nvSpPr>
          <p:cNvPr id="31" name="Shape 29"/>
          <p:cNvSpPr/>
          <p:nvPr/>
        </p:nvSpPr>
        <p:spPr>
          <a:xfrm>
            <a:off x="3653805" y="4529063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82689" y="2560"/>
                </a:moveTo>
                <a:cubicBezTo>
                  <a:pt x="79028" y="-833"/>
                  <a:pt x="73372" y="-833"/>
                  <a:pt x="69741" y="2560"/>
                </a:cubicBezTo>
                <a:lnTo>
                  <a:pt x="3066" y="64472"/>
                </a:lnTo>
                <a:cubicBezTo>
                  <a:pt x="208" y="67151"/>
                  <a:pt x="-744" y="71289"/>
                  <a:pt x="685" y="74920"/>
                </a:cubicBezTo>
                <a:cubicBezTo>
                  <a:pt x="2113" y="78551"/>
                  <a:pt x="5596" y="80962"/>
                  <a:pt x="9525" y="80962"/>
                </a:cubicBezTo>
                <a:lnTo>
                  <a:pt x="14288" y="80962"/>
                </a:lnTo>
                <a:lnTo>
                  <a:pt x="14288" y="133350"/>
                </a:lnTo>
                <a:cubicBezTo>
                  <a:pt x="14288" y="143857"/>
                  <a:pt x="22830" y="152400"/>
                  <a:pt x="33338" y="152400"/>
                </a:cubicBezTo>
                <a:lnTo>
                  <a:pt x="119062" y="152400"/>
                </a:lnTo>
                <a:cubicBezTo>
                  <a:pt x="129570" y="152400"/>
                  <a:pt x="138113" y="143857"/>
                  <a:pt x="138113" y="133350"/>
                </a:cubicBezTo>
                <a:lnTo>
                  <a:pt x="138113" y="80962"/>
                </a:lnTo>
                <a:lnTo>
                  <a:pt x="142875" y="80962"/>
                </a:lnTo>
                <a:cubicBezTo>
                  <a:pt x="146804" y="80962"/>
                  <a:pt x="150316" y="78551"/>
                  <a:pt x="151745" y="74920"/>
                </a:cubicBezTo>
                <a:cubicBezTo>
                  <a:pt x="153174" y="71289"/>
                  <a:pt x="152221" y="67121"/>
                  <a:pt x="149364" y="64472"/>
                </a:cubicBezTo>
                <a:lnTo>
                  <a:pt x="82689" y="2560"/>
                </a:lnTo>
                <a:close/>
                <a:moveTo>
                  <a:pt x="71438" y="95250"/>
                </a:moveTo>
                <a:lnTo>
                  <a:pt x="80962" y="95250"/>
                </a:lnTo>
                <a:cubicBezTo>
                  <a:pt x="88850" y="95250"/>
                  <a:pt x="95250" y="101650"/>
                  <a:pt x="95250" y="109537"/>
                </a:cubicBezTo>
                <a:lnTo>
                  <a:pt x="95250" y="138113"/>
                </a:lnTo>
                <a:lnTo>
                  <a:pt x="57150" y="138113"/>
                </a:lnTo>
                <a:lnTo>
                  <a:pt x="57150" y="109537"/>
                </a:lnTo>
                <a:cubicBezTo>
                  <a:pt x="57150" y="101650"/>
                  <a:pt x="63550" y="95250"/>
                  <a:pt x="71438" y="95250"/>
                </a:cubicBezTo>
                <a:close/>
              </a:path>
            </a:pathLst>
          </a:custGeom>
          <a:solidFill>
            <a:srgbClr val="C0A062"/>
          </a:solidFill>
          <a:ln/>
        </p:spPr>
      </p:sp>
      <p:sp>
        <p:nvSpPr>
          <p:cNvPr id="32" name="Text 30"/>
          <p:cNvSpPr/>
          <p:nvPr/>
        </p:nvSpPr>
        <p:spPr>
          <a:xfrm>
            <a:off x="3882405" y="4495726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2E405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Family Status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634755" y="4762426"/>
            <a:ext cx="27527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NAME_FAMILY_STATUS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33400" y="5321275"/>
            <a:ext cx="2914650" cy="1038225"/>
          </a:xfrm>
          <a:custGeom>
            <a:avLst/>
            <a:gdLst/>
            <a:ahLst/>
            <a:cxnLst/>
            <a:rect l="l" t="t" r="r" b="b"/>
            <a:pathLst>
              <a:path w="2914650" h="1038225">
                <a:moveTo>
                  <a:pt x="38103" y="0"/>
                </a:moveTo>
                <a:lnTo>
                  <a:pt x="2876547" y="0"/>
                </a:lnTo>
                <a:cubicBezTo>
                  <a:pt x="2897577" y="0"/>
                  <a:pt x="2914650" y="17073"/>
                  <a:pt x="2914650" y="38103"/>
                </a:cubicBezTo>
                <a:lnTo>
                  <a:pt x="2914650" y="1000122"/>
                </a:lnTo>
                <a:cubicBezTo>
                  <a:pt x="2914650" y="1021166"/>
                  <a:pt x="2897591" y="1038225"/>
                  <a:pt x="2876547" y="1038225"/>
                </a:cubicBezTo>
                <a:lnTo>
                  <a:pt x="38103" y="1038225"/>
                </a:lnTo>
                <a:cubicBezTo>
                  <a:pt x="17059" y="1038225"/>
                  <a:pt x="0" y="1021166"/>
                  <a:pt x="0" y="1000122"/>
                </a:cubicBezTo>
                <a:lnTo>
                  <a:pt x="0" y="38103"/>
                </a:lnTo>
                <a:cubicBezTo>
                  <a:pt x="0" y="17073"/>
                  <a:pt x="17073" y="0"/>
                  <a:pt x="38103" y="0"/>
                </a:cubicBezTo>
                <a:close/>
              </a:path>
            </a:pathLst>
          </a:custGeom>
          <a:solidFill>
            <a:srgbClr val="F7F7F7"/>
          </a:solidFill>
          <a:ln/>
        </p:spPr>
      </p:sp>
      <p:sp>
        <p:nvSpPr>
          <p:cNvPr id="35" name="Shape 33"/>
          <p:cNvSpPr/>
          <p:nvPr/>
        </p:nvSpPr>
        <p:spPr>
          <a:xfrm>
            <a:off x="695325" y="5646688"/>
            <a:ext cx="95250" cy="152400"/>
          </a:xfrm>
          <a:custGeom>
            <a:avLst/>
            <a:gdLst/>
            <a:ahLst/>
            <a:cxnLst/>
            <a:rect l="l" t="t" r="r" b="b"/>
            <a:pathLst>
              <a:path w="95250" h="152400">
                <a:moveTo>
                  <a:pt x="40481" y="7144"/>
                </a:moveTo>
                <a:cubicBezTo>
                  <a:pt x="40481" y="3185"/>
                  <a:pt x="43666" y="0"/>
                  <a:pt x="47625" y="0"/>
                </a:cubicBezTo>
                <a:cubicBezTo>
                  <a:pt x="51584" y="0"/>
                  <a:pt x="54769" y="3185"/>
                  <a:pt x="54769" y="7144"/>
                </a:cubicBezTo>
                <a:lnTo>
                  <a:pt x="54769" y="19050"/>
                </a:lnTo>
                <a:lnTo>
                  <a:pt x="71438" y="19050"/>
                </a:lnTo>
                <a:cubicBezTo>
                  <a:pt x="76706" y="19050"/>
                  <a:pt x="80962" y="23306"/>
                  <a:pt x="80962" y="28575"/>
                </a:cubicBezTo>
                <a:cubicBezTo>
                  <a:pt x="80962" y="33844"/>
                  <a:pt x="76706" y="38100"/>
                  <a:pt x="71438" y="38100"/>
                </a:cubicBezTo>
                <a:lnTo>
                  <a:pt x="37237" y="38100"/>
                </a:lnTo>
                <a:cubicBezTo>
                  <a:pt x="29825" y="38100"/>
                  <a:pt x="23813" y="44113"/>
                  <a:pt x="23813" y="51524"/>
                </a:cubicBezTo>
                <a:cubicBezTo>
                  <a:pt x="23813" y="58222"/>
                  <a:pt x="28724" y="63877"/>
                  <a:pt x="35332" y="64830"/>
                </a:cubicBezTo>
                <a:lnTo>
                  <a:pt x="62597" y="68729"/>
                </a:lnTo>
                <a:cubicBezTo>
                  <a:pt x="78611" y="71021"/>
                  <a:pt x="90488" y="84713"/>
                  <a:pt x="90488" y="100876"/>
                </a:cubicBezTo>
                <a:cubicBezTo>
                  <a:pt x="90488" y="118824"/>
                  <a:pt x="75932" y="133350"/>
                  <a:pt x="58013" y="133350"/>
                </a:cubicBezTo>
                <a:lnTo>
                  <a:pt x="54769" y="133350"/>
                </a:lnTo>
                <a:lnTo>
                  <a:pt x="54769" y="145256"/>
                </a:lnTo>
                <a:cubicBezTo>
                  <a:pt x="54769" y="149215"/>
                  <a:pt x="51584" y="152400"/>
                  <a:pt x="47625" y="152400"/>
                </a:cubicBezTo>
                <a:cubicBezTo>
                  <a:pt x="43666" y="152400"/>
                  <a:pt x="40481" y="149215"/>
                  <a:pt x="40481" y="145256"/>
                </a:cubicBezTo>
                <a:lnTo>
                  <a:pt x="40481" y="133350"/>
                </a:lnTo>
                <a:lnTo>
                  <a:pt x="19050" y="133350"/>
                </a:lnTo>
                <a:cubicBezTo>
                  <a:pt x="13781" y="133350"/>
                  <a:pt x="9525" y="129094"/>
                  <a:pt x="9525" y="123825"/>
                </a:cubicBezTo>
                <a:cubicBezTo>
                  <a:pt x="9525" y="118556"/>
                  <a:pt x="13781" y="114300"/>
                  <a:pt x="19050" y="114300"/>
                </a:cubicBezTo>
                <a:lnTo>
                  <a:pt x="58013" y="114300"/>
                </a:lnTo>
                <a:cubicBezTo>
                  <a:pt x="65425" y="114300"/>
                  <a:pt x="71438" y="108287"/>
                  <a:pt x="71438" y="100876"/>
                </a:cubicBezTo>
                <a:cubicBezTo>
                  <a:pt x="71438" y="94178"/>
                  <a:pt x="66526" y="88523"/>
                  <a:pt x="59918" y="87570"/>
                </a:cubicBezTo>
                <a:lnTo>
                  <a:pt x="32653" y="83671"/>
                </a:lnTo>
                <a:cubicBezTo>
                  <a:pt x="16639" y="81409"/>
                  <a:pt x="4763" y="67687"/>
                  <a:pt x="4763" y="51524"/>
                </a:cubicBezTo>
                <a:cubicBezTo>
                  <a:pt x="4763" y="33605"/>
                  <a:pt x="19318" y="19050"/>
                  <a:pt x="37237" y="19050"/>
                </a:cubicBezTo>
                <a:lnTo>
                  <a:pt x="40481" y="19050"/>
                </a:lnTo>
                <a:lnTo>
                  <a:pt x="40481" y="7144"/>
                </a:lnTo>
                <a:close/>
              </a:path>
            </a:pathLst>
          </a:custGeom>
          <a:solidFill>
            <a:srgbClr val="C0A062"/>
          </a:solidFill>
          <a:ln/>
        </p:spPr>
      </p:sp>
      <p:sp>
        <p:nvSpPr>
          <p:cNvPr id="36" name="Text 34"/>
          <p:cNvSpPr/>
          <p:nvPr/>
        </p:nvSpPr>
        <p:spPr>
          <a:xfrm>
            <a:off x="895350" y="5613350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2E405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Financial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47700" y="5880050"/>
            <a:ext cx="27527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AMT_CREDIT, AMT_GOODS_PRICE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3520455" y="5321275"/>
            <a:ext cx="2914650" cy="1038225"/>
          </a:xfrm>
          <a:custGeom>
            <a:avLst/>
            <a:gdLst/>
            <a:ahLst/>
            <a:cxnLst/>
            <a:rect l="l" t="t" r="r" b="b"/>
            <a:pathLst>
              <a:path w="2914650" h="1038225">
                <a:moveTo>
                  <a:pt x="38103" y="0"/>
                </a:moveTo>
                <a:lnTo>
                  <a:pt x="2876547" y="0"/>
                </a:lnTo>
                <a:cubicBezTo>
                  <a:pt x="2897577" y="0"/>
                  <a:pt x="2914650" y="17073"/>
                  <a:pt x="2914650" y="38103"/>
                </a:cubicBezTo>
                <a:lnTo>
                  <a:pt x="2914650" y="1000122"/>
                </a:lnTo>
                <a:cubicBezTo>
                  <a:pt x="2914650" y="1021166"/>
                  <a:pt x="2897591" y="1038225"/>
                  <a:pt x="2876547" y="1038225"/>
                </a:cubicBezTo>
                <a:lnTo>
                  <a:pt x="38103" y="1038225"/>
                </a:lnTo>
                <a:cubicBezTo>
                  <a:pt x="17059" y="1038225"/>
                  <a:pt x="0" y="1021166"/>
                  <a:pt x="0" y="1000122"/>
                </a:cubicBezTo>
                <a:lnTo>
                  <a:pt x="0" y="38103"/>
                </a:lnTo>
                <a:cubicBezTo>
                  <a:pt x="0" y="17073"/>
                  <a:pt x="17073" y="0"/>
                  <a:pt x="38103" y="0"/>
                </a:cubicBezTo>
                <a:close/>
              </a:path>
            </a:pathLst>
          </a:custGeom>
          <a:solidFill>
            <a:srgbClr val="F7F7F7"/>
          </a:solidFill>
          <a:ln/>
        </p:spPr>
      </p:sp>
      <p:sp>
        <p:nvSpPr>
          <p:cNvPr id="39" name="Shape 37"/>
          <p:cNvSpPr/>
          <p:nvPr/>
        </p:nvSpPr>
        <p:spPr>
          <a:xfrm>
            <a:off x="3644280" y="5551438"/>
            <a:ext cx="171450" cy="152400"/>
          </a:xfrm>
          <a:custGeom>
            <a:avLst/>
            <a:gdLst/>
            <a:ahLst/>
            <a:cxnLst/>
            <a:rect l="l" t="t" r="r" b="b"/>
            <a:pathLst>
              <a:path w="171450" h="152400">
                <a:moveTo>
                  <a:pt x="85725" y="19050"/>
                </a:moveTo>
                <a:cubicBezTo>
                  <a:pt x="117277" y="19050"/>
                  <a:pt x="142875" y="44648"/>
                  <a:pt x="142875" y="76200"/>
                </a:cubicBezTo>
                <a:cubicBezTo>
                  <a:pt x="142875" y="107752"/>
                  <a:pt x="117277" y="133350"/>
                  <a:pt x="85725" y="133350"/>
                </a:cubicBezTo>
                <a:cubicBezTo>
                  <a:pt x="66318" y="133350"/>
                  <a:pt x="49143" y="123676"/>
                  <a:pt x="38814" y="108853"/>
                </a:cubicBezTo>
                <a:cubicBezTo>
                  <a:pt x="35808" y="104537"/>
                  <a:pt x="29855" y="103495"/>
                  <a:pt x="25539" y="106501"/>
                </a:cubicBezTo>
                <a:cubicBezTo>
                  <a:pt x="21223" y="109508"/>
                  <a:pt x="20181" y="115461"/>
                  <a:pt x="23187" y="119777"/>
                </a:cubicBezTo>
                <a:cubicBezTo>
                  <a:pt x="36939" y="139482"/>
                  <a:pt x="59829" y="152400"/>
                  <a:pt x="85725" y="152400"/>
                </a:cubicBezTo>
                <a:cubicBezTo>
                  <a:pt x="127814" y="152400"/>
                  <a:pt x="161925" y="118289"/>
                  <a:pt x="161925" y="76200"/>
                </a:cubicBezTo>
                <a:cubicBezTo>
                  <a:pt x="161925" y="34111"/>
                  <a:pt x="127814" y="0"/>
                  <a:pt x="85725" y="0"/>
                </a:cubicBezTo>
                <a:cubicBezTo>
                  <a:pt x="60216" y="0"/>
                  <a:pt x="37654" y="12531"/>
                  <a:pt x="23813" y="31760"/>
                </a:cubicBezTo>
                <a:lnTo>
                  <a:pt x="23813" y="23813"/>
                </a:lnTo>
                <a:cubicBezTo>
                  <a:pt x="23813" y="18544"/>
                  <a:pt x="19556" y="14288"/>
                  <a:pt x="14288" y="14288"/>
                </a:cubicBezTo>
                <a:cubicBezTo>
                  <a:pt x="9019" y="14288"/>
                  <a:pt x="4763" y="18544"/>
                  <a:pt x="4763" y="23813"/>
                </a:cubicBezTo>
                <a:lnTo>
                  <a:pt x="4763" y="57150"/>
                </a:lnTo>
                <a:cubicBezTo>
                  <a:pt x="4763" y="62419"/>
                  <a:pt x="9019" y="66675"/>
                  <a:pt x="14288" y="66675"/>
                </a:cubicBezTo>
                <a:lnTo>
                  <a:pt x="21610" y="66675"/>
                </a:lnTo>
                <a:cubicBezTo>
                  <a:pt x="21759" y="66675"/>
                  <a:pt x="21908" y="66675"/>
                  <a:pt x="22056" y="66675"/>
                </a:cubicBezTo>
                <a:lnTo>
                  <a:pt x="47655" y="66675"/>
                </a:lnTo>
                <a:cubicBezTo>
                  <a:pt x="52923" y="66675"/>
                  <a:pt x="57180" y="62419"/>
                  <a:pt x="57180" y="57150"/>
                </a:cubicBezTo>
                <a:cubicBezTo>
                  <a:pt x="57180" y="51881"/>
                  <a:pt x="52923" y="47625"/>
                  <a:pt x="47655" y="47625"/>
                </a:cubicBezTo>
                <a:lnTo>
                  <a:pt x="36255" y="47625"/>
                </a:lnTo>
                <a:cubicBezTo>
                  <a:pt x="46107" y="30540"/>
                  <a:pt x="64591" y="19050"/>
                  <a:pt x="85725" y="19050"/>
                </a:cubicBezTo>
                <a:close/>
                <a:moveTo>
                  <a:pt x="92869" y="45244"/>
                </a:moveTo>
                <a:cubicBezTo>
                  <a:pt x="92869" y="41285"/>
                  <a:pt x="89684" y="38100"/>
                  <a:pt x="85725" y="38100"/>
                </a:cubicBezTo>
                <a:cubicBezTo>
                  <a:pt x="81766" y="38100"/>
                  <a:pt x="78581" y="41285"/>
                  <a:pt x="78581" y="45244"/>
                </a:cubicBezTo>
                <a:lnTo>
                  <a:pt x="78581" y="76200"/>
                </a:lnTo>
                <a:cubicBezTo>
                  <a:pt x="78581" y="78105"/>
                  <a:pt x="79325" y="79921"/>
                  <a:pt x="80665" y="81260"/>
                </a:cubicBezTo>
                <a:lnTo>
                  <a:pt x="102096" y="102691"/>
                </a:lnTo>
                <a:cubicBezTo>
                  <a:pt x="104894" y="105489"/>
                  <a:pt x="109418" y="105489"/>
                  <a:pt x="112187" y="102691"/>
                </a:cubicBezTo>
                <a:cubicBezTo>
                  <a:pt x="114955" y="99893"/>
                  <a:pt x="114985" y="95369"/>
                  <a:pt x="112187" y="92601"/>
                </a:cubicBezTo>
                <a:lnTo>
                  <a:pt x="92839" y="73253"/>
                </a:lnTo>
                <a:lnTo>
                  <a:pt x="92839" y="45244"/>
                </a:lnTo>
                <a:close/>
              </a:path>
            </a:pathLst>
          </a:custGeom>
          <a:solidFill>
            <a:srgbClr val="C0A062"/>
          </a:solidFill>
          <a:ln/>
        </p:spPr>
      </p:sp>
      <p:sp>
        <p:nvSpPr>
          <p:cNvPr id="40" name="Text 38"/>
          <p:cNvSpPr/>
          <p:nvPr/>
        </p:nvSpPr>
        <p:spPr>
          <a:xfrm>
            <a:off x="3882405" y="5518100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2E405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Historical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3634755" y="5784800"/>
            <a:ext cx="27527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NAME_CLIENT_TYPE, NAME_CONTRACT_STATUS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736110" y="1181100"/>
            <a:ext cx="5076825" cy="4076700"/>
          </a:xfrm>
          <a:custGeom>
            <a:avLst/>
            <a:gdLst/>
            <a:ahLst/>
            <a:cxnLst/>
            <a:rect l="l" t="t" r="r" b="b"/>
            <a:pathLst>
              <a:path w="5076825" h="4076700">
                <a:moveTo>
                  <a:pt x="76194" y="0"/>
                </a:moveTo>
                <a:lnTo>
                  <a:pt x="5000631" y="0"/>
                </a:lnTo>
                <a:cubicBezTo>
                  <a:pt x="5042712" y="0"/>
                  <a:pt x="5076825" y="34113"/>
                  <a:pt x="5076825" y="76194"/>
                </a:cubicBezTo>
                <a:lnTo>
                  <a:pt x="5076825" y="4000506"/>
                </a:lnTo>
                <a:cubicBezTo>
                  <a:pt x="5076825" y="4042587"/>
                  <a:pt x="5042712" y="4076700"/>
                  <a:pt x="5000631" y="4076700"/>
                </a:cubicBezTo>
                <a:lnTo>
                  <a:pt x="76194" y="4076700"/>
                </a:lnTo>
                <a:cubicBezTo>
                  <a:pt x="34113" y="4076700"/>
                  <a:pt x="0" y="4042587"/>
                  <a:pt x="0" y="4000506"/>
                </a:cubicBezTo>
                <a:lnTo>
                  <a:pt x="0" y="76194"/>
                </a:lnTo>
                <a:cubicBezTo>
                  <a:pt x="0" y="34113"/>
                  <a:pt x="34113" y="0"/>
                  <a:pt x="76194" y="0"/>
                </a:cubicBezTo>
                <a:close/>
              </a:path>
            </a:pathLst>
          </a:custGeom>
          <a:solidFill>
            <a:srgbClr val="2E4057"/>
          </a:solidFill>
          <a:ln/>
        </p:spPr>
      </p:sp>
      <p:sp>
        <p:nvSpPr>
          <p:cNvPr id="43" name="Text 41"/>
          <p:cNvSpPr/>
          <p:nvPr/>
        </p:nvSpPr>
        <p:spPr>
          <a:xfrm>
            <a:off x="6926610" y="1371600"/>
            <a:ext cx="47910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Risk Factor Hierarchy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6926610" y="2009775"/>
            <a:ext cx="13239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Structural Stability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10802838" y="2009775"/>
            <a:ext cx="8953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C0A06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High Impact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6926610" y="2276475"/>
            <a:ext cx="4695825" cy="95250"/>
          </a:xfrm>
          <a:custGeom>
            <a:avLst/>
            <a:gdLst/>
            <a:ahLst/>
            <a:cxnLst/>
            <a:rect l="l" t="t" r="r" b="b"/>
            <a:pathLst>
              <a:path w="4695825" h="95250">
                <a:moveTo>
                  <a:pt x="47625" y="0"/>
                </a:moveTo>
                <a:lnTo>
                  <a:pt x="4648200" y="0"/>
                </a:lnTo>
                <a:cubicBezTo>
                  <a:pt x="4674485" y="0"/>
                  <a:pt x="4695825" y="21340"/>
                  <a:pt x="4695825" y="47625"/>
                </a:cubicBezTo>
                <a:lnTo>
                  <a:pt x="4695825" y="47625"/>
                </a:lnTo>
                <a:cubicBezTo>
                  <a:pt x="4695825" y="73910"/>
                  <a:pt x="4674485" y="95250"/>
                  <a:pt x="4648200" y="95250"/>
                </a:cubicBezTo>
                <a:lnTo>
                  <a:pt x="47625" y="95250"/>
                </a:lnTo>
                <a:cubicBezTo>
                  <a:pt x="21340" y="95250"/>
                  <a:pt x="0" y="73910"/>
                  <a:pt x="0" y="47625"/>
                </a:cubicBezTo>
                <a:lnTo>
                  <a:pt x="0" y="47625"/>
                </a:lnTo>
                <a:cubicBezTo>
                  <a:pt x="0" y="21340"/>
                  <a:pt x="21340" y="0"/>
                  <a:pt x="47625" y="0"/>
                </a:cubicBezTo>
                <a:close/>
              </a:path>
            </a:pathLst>
          </a:custGeom>
          <a:solidFill>
            <a:srgbClr val="FFFFFF">
              <a:alpha val="20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926610" y="2276475"/>
            <a:ext cx="3990975" cy="95250"/>
          </a:xfrm>
          <a:custGeom>
            <a:avLst/>
            <a:gdLst/>
            <a:ahLst/>
            <a:cxnLst/>
            <a:rect l="l" t="t" r="r" b="b"/>
            <a:pathLst>
              <a:path w="3990975" h="95250">
                <a:moveTo>
                  <a:pt x="47625" y="0"/>
                </a:moveTo>
                <a:lnTo>
                  <a:pt x="3943350" y="0"/>
                </a:lnTo>
                <a:cubicBezTo>
                  <a:pt x="3969635" y="0"/>
                  <a:pt x="3990975" y="21340"/>
                  <a:pt x="3990975" y="47625"/>
                </a:cubicBezTo>
                <a:lnTo>
                  <a:pt x="3990975" y="47625"/>
                </a:lnTo>
                <a:cubicBezTo>
                  <a:pt x="3990975" y="73910"/>
                  <a:pt x="3969635" y="95250"/>
                  <a:pt x="3943350" y="95250"/>
                </a:cubicBezTo>
                <a:lnTo>
                  <a:pt x="47625" y="95250"/>
                </a:lnTo>
                <a:cubicBezTo>
                  <a:pt x="21340" y="95250"/>
                  <a:pt x="0" y="73910"/>
                  <a:pt x="0" y="47625"/>
                </a:cubicBezTo>
                <a:lnTo>
                  <a:pt x="0" y="47625"/>
                </a:lnTo>
                <a:cubicBezTo>
                  <a:pt x="0" y="21340"/>
                  <a:pt x="21340" y="0"/>
                  <a:pt x="47625" y="0"/>
                </a:cubicBezTo>
                <a:close/>
              </a:path>
            </a:pathLst>
          </a:custGeom>
          <a:solidFill>
            <a:srgbClr val="C0A062"/>
          </a:solidFill>
          <a:ln/>
        </p:spPr>
      </p:sp>
      <p:sp>
        <p:nvSpPr>
          <p:cNvPr id="48" name="Text 46"/>
          <p:cNvSpPr/>
          <p:nvPr/>
        </p:nvSpPr>
        <p:spPr>
          <a:xfrm>
            <a:off x="6926610" y="2409825"/>
            <a:ext cx="4762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FFFFFF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Employment tenure, education level, age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6926610" y="3114675"/>
            <a:ext cx="15049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Financial Magnitudes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10567839" y="3114675"/>
            <a:ext cx="11334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A0AEC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Medium Impact</a:t>
            </a:r>
            <a:endParaRPr lang="en-US" sz="1600" dirty="0"/>
          </a:p>
        </p:txBody>
      </p:sp>
      <p:sp>
        <p:nvSpPr>
          <p:cNvPr id="51" name="Shape 49"/>
          <p:cNvSpPr/>
          <p:nvPr/>
        </p:nvSpPr>
        <p:spPr>
          <a:xfrm>
            <a:off x="6926610" y="3381375"/>
            <a:ext cx="4695825" cy="95250"/>
          </a:xfrm>
          <a:custGeom>
            <a:avLst/>
            <a:gdLst/>
            <a:ahLst/>
            <a:cxnLst/>
            <a:rect l="l" t="t" r="r" b="b"/>
            <a:pathLst>
              <a:path w="4695825" h="95250">
                <a:moveTo>
                  <a:pt x="47625" y="0"/>
                </a:moveTo>
                <a:lnTo>
                  <a:pt x="4648200" y="0"/>
                </a:lnTo>
                <a:cubicBezTo>
                  <a:pt x="4674485" y="0"/>
                  <a:pt x="4695825" y="21340"/>
                  <a:pt x="4695825" y="47625"/>
                </a:cubicBezTo>
                <a:lnTo>
                  <a:pt x="4695825" y="47625"/>
                </a:lnTo>
                <a:cubicBezTo>
                  <a:pt x="4695825" y="73910"/>
                  <a:pt x="4674485" y="95250"/>
                  <a:pt x="4648200" y="95250"/>
                </a:cubicBezTo>
                <a:lnTo>
                  <a:pt x="47625" y="95250"/>
                </a:lnTo>
                <a:cubicBezTo>
                  <a:pt x="21340" y="95250"/>
                  <a:pt x="0" y="73910"/>
                  <a:pt x="0" y="47625"/>
                </a:cubicBezTo>
                <a:lnTo>
                  <a:pt x="0" y="47625"/>
                </a:lnTo>
                <a:cubicBezTo>
                  <a:pt x="0" y="21340"/>
                  <a:pt x="21340" y="0"/>
                  <a:pt x="47625" y="0"/>
                </a:cubicBezTo>
                <a:close/>
              </a:path>
            </a:pathLst>
          </a:custGeom>
          <a:solidFill>
            <a:srgbClr val="FFFFFF">
              <a:alpha val="20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6926610" y="3381375"/>
            <a:ext cx="2819400" cy="95250"/>
          </a:xfrm>
          <a:custGeom>
            <a:avLst/>
            <a:gdLst/>
            <a:ahLst/>
            <a:cxnLst/>
            <a:rect l="l" t="t" r="r" b="b"/>
            <a:pathLst>
              <a:path w="2819400" h="95250">
                <a:moveTo>
                  <a:pt x="47625" y="0"/>
                </a:moveTo>
                <a:lnTo>
                  <a:pt x="2771775" y="0"/>
                </a:lnTo>
                <a:cubicBezTo>
                  <a:pt x="2798060" y="0"/>
                  <a:pt x="2819400" y="21340"/>
                  <a:pt x="2819400" y="47625"/>
                </a:cubicBezTo>
                <a:lnTo>
                  <a:pt x="2819400" y="47625"/>
                </a:lnTo>
                <a:cubicBezTo>
                  <a:pt x="2819400" y="73910"/>
                  <a:pt x="2798060" y="95250"/>
                  <a:pt x="2771775" y="95250"/>
                </a:cubicBezTo>
                <a:lnTo>
                  <a:pt x="47625" y="95250"/>
                </a:lnTo>
                <a:cubicBezTo>
                  <a:pt x="21340" y="95250"/>
                  <a:pt x="0" y="73910"/>
                  <a:pt x="0" y="47625"/>
                </a:cubicBezTo>
                <a:lnTo>
                  <a:pt x="0" y="47625"/>
                </a:lnTo>
                <a:cubicBezTo>
                  <a:pt x="0" y="21340"/>
                  <a:pt x="21340" y="0"/>
                  <a:pt x="47625" y="0"/>
                </a:cubicBezTo>
                <a:close/>
              </a:path>
            </a:pathLst>
          </a:custGeom>
          <a:solidFill>
            <a:srgbClr val="A0AEC0"/>
          </a:solidFill>
          <a:ln/>
        </p:spPr>
      </p:sp>
      <p:sp>
        <p:nvSpPr>
          <p:cNvPr id="53" name="Text 51"/>
          <p:cNvSpPr/>
          <p:nvPr/>
        </p:nvSpPr>
        <p:spPr>
          <a:xfrm>
            <a:off x="6926610" y="3514725"/>
            <a:ext cx="4762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FFFFFF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Credit amount, goods price, income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6926610" y="4219575"/>
            <a:ext cx="13144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Interaction Effects</a:t>
            </a:r>
            <a:endParaRPr lang="en-US" sz="1600" dirty="0"/>
          </a:p>
        </p:txBody>
      </p:sp>
      <p:sp>
        <p:nvSpPr>
          <p:cNvPr id="55" name="Text 53"/>
          <p:cNvSpPr/>
          <p:nvPr/>
        </p:nvSpPr>
        <p:spPr>
          <a:xfrm>
            <a:off x="10802838" y="4219575"/>
            <a:ext cx="8953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C0A06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High Impact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6926610" y="4486275"/>
            <a:ext cx="4695825" cy="95250"/>
          </a:xfrm>
          <a:custGeom>
            <a:avLst/>
            <a:gdLst/>
            <a:ahLst/>
            <a:cxnLst/>
            <a:rect l="l" t="t" r="r" b="b"/>
            <a:pathLst>
              <a:path w="4695825" h="95250">
                <a:moveTo>
                  <a:pt x="47625" y="0"/>
                </a:moveTo>
                <a:lnTo>
                  <a:pt x="4648200" y="0"/>
                </a:lnTo>
                <a:cubicBezTo>
                  <a:pt x="4674485" y="0"/>
                  <a:pt x="4695825" y="21340"/>
                  <a:pt x="4695825" y="47625"/>
                </a:cubicBezTo>
                <a:lnTo>
                  <a:pt x="4695825" y="47625"/>
                </a:lnTo>
                <a:cubicBezTo>
                  <a:pt x="4695825" y="73910"/>
                  <a:pt x="4674485" y="95250"/>
                  <a:pt x="4648200" y="95250"/>
                </a:cubicBezTo>
                <a:lnTo>
                  <a:pt x="47625" y="95250"/>
                </a:lnTo>
                <a:cubicBezTo>
                  <a:pt x="21340" y="95250"/>
                  <a:pt x="0" y="73910"/>
                  <a:pt x="0" y="47625"/>
                </a:cubicBezTo>
                <a:lnTo>
                  <a:pt x="0" y="47625"/>
                </a:lnTo>
                <a:cubicBezTo>
                  <a:pt x="0" y="21340"/>
                  <a:pt x="21340" y="0"/>
                  <a:pt x="47625" y="0"/>
                </a:cubicBezTo>
                <a:close/>
              </a:path>
            </a:pathLst>
          </a:custGeom>
          <a:solidFill>
            <a:srgbClr val="FFFFFF">
              <a:alpha val="20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6926610" y="4486275"/>
            <a:ext cx="3752850" cy="95250"/>
          </a:xfrm>
          <a:custGeom>
            <a:avLst/>
            <a:gdLst/>
            <a:ahLst/>
            <a:cxnLst/>
            <a:rect l="l" t="t" r="r" b="b"/>
            <a:pathLst>
              <a:path w="3752850" h="95250">
                <a:moveTo>
                  <a:pt x="47625" y="0"/>
                </a:moveTo>
                <a:lnTo>
                  <a:pt x="3705225" y="0"/>
                </a:lnTo>
                <a:cubicBezTo>
                  <a:pt x="3731510" y="0"/>
                  <a:pt x="3752850" y="21340"/>
                  <a:pt x="3752850" y="47625"/>
                </a:cubicBezTo>
                <a:lnTo>
                  <a:pt x="3752850" y="47625"/>
                </a:lnTo>
                <a:cubicBezTo>
                  <a:pt x="3752850" y="73910"/>
                  <a:pt x="3731510" y="95250"/>
                  <a:pt x="3705225" y="95250"/>
                </a:cubicBezTo>
                <a:lnTo>
                  <a:pt x="47625" y="95250"/>
                </a:lnTo>
                <a:cubicBezTo>
                  <a:pt x="21340" y="95250"/>
                  <a:pt x="0" y="73910"/>
                  <a:pt x="0" y="47625"/>
                </a:cubicBezTo>
                <a:lnTo>
                  <a:pt x="0" y="47625"/>
                </a:lnTo>
                <a:cubicBezTo>
                  <a:pt x="0" y="21340"/>
                  <a:pt x="21340" y="0"/>
                  <a:pt x="47625" y="0"/>
                </a:cubicBezTo>
                <a:close/>
              </a:path>
            </a:pathLst>
          </a:custGeom>
          <a:solidFill>
            <a:srgbClr val="C0A062"/>
          </a:solidFill>
          <a:ln/>
        </p:spPr>
      </p:sp>
      <p:sp>
        <p:nvSpPr>
          <p:cNvPr id="58" name="Text 56"/>
          <p:cNvSpPr/>
          <p:nvPr/>
        </p:nvSpPr>
        <p:spPr>
          <a:xfrm>
            <a:off x="6926610" y="4619625"/>
            <a:ext cx="4762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FFFFFF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Loan-to-income, tenure-income relationships</a:t>
            </a:r>
            <a:endParaRPr lang="en-US" sz="1600" dirty="0"/>
          </a:p>
        </p:txBody>
      </p:sp>
      <p:sp>
        <p:nvSpPr>
          <p:cNvPr id="59" name="Shape 57"/>
          <p:cNvSpPr/>
          <p:nvPr/>
        </p:nvSpPr>
        <p:spPr>
          <a:xfrm>
            <a:off x="6736110" y="5372100"/>
            <a:ext cx="5076825" cy="1104900"/>
          </a:xfrm>
          <a:custGeom>
            <a:avLst/>
            <a:gdLst/>
            <a:ahLst/>
            <a:cxnLst/>
            <a:rect l="l" t="t" r="r" b="b"/>
            <a:pathLst>
              <a:path w="5076825" h="1104900">
                <a:moveTo>
                  <a:pt x="76205" y="0"/>
                </a:moveTo>
                <a:lnTo>
                  <a:pt x="5000620" y="0"/>
                </a:lnTo>
                <a:cubicBezTo>
                  <a:pt x="5042707" y="0"/>
                  <a:pt x="5076825" y="34118"/>
                  <a:pt x="5076825" y="76205"/>
                </a:cubicBezTo>
                <a:lnTo>
                  <a:pt x="5076825" y="1028695"/>
                </a:lnTo>
                <a:cubicBezTo>
                  <a:pt x="5076825" y="1070782"/>
                  <a:pt x="5042707" y="1104900"/>
                  <a:pt x="5000620" y="1104900"/>
                </a:cubicBezTo>
                <a:lnTo>
                  <a:pt x="76205" y="1104900"/>
                </a:lnTo>
                <a:cubicBezTo>
                  <a:pt x="34118" y="1104900"/>
                  <a:pt x="0" y="1070782"/>
                  <a:pt x="0" y="1028695"/>
                </a:cubicBezTo>
                <a:lnTo>
                  <a:pt x="0" y="76205"/>
                </a:lnTo>
                <a:cubicBezTo>
                  <a:pt x="0" y="34146"/>
                  <a:pt x="34146" y="0"/>
                  <a:pt x="76205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sx="100000" sy="100000" kx="0" ky="0" algn="bl" rotWithShape="0" blurRad="28575" dist="9525" dir="5400000">
              <a:srgbClr val="000000">
                <a:alpha val="10196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6888510" y="5524500"/>
            <a:ext cx="48482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2E405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Insight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6888510" y="5829300"/>
            <a:ext cx="4848225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b="1" dirty="0">
                <a:solidFill>
                  <a:srgbClr val="2D3748"/>
                </a:solidFill>
                <a:highlight>
                  <a:srgbClr val="C0A062">
                    <a:alpha val="20000"/>
                  </a:srgbClr>
                </a:highlight>
                <a:latin typeface="Liter" pitchFamily="34" charset="0"/>
                <a:ea typeface="Liter" pitchFamily="34" charset="-122"/>
                <a:cs typeface="Liter" pitchFamily="34" charset="-120"/>
              </a:rPr>
              <a:t>Stability indicators </a:t>
            </a:r>
            <a:pPr>
              <a:lnSpc>
                <a:spcPct val="140000"/>
              </a:lnSpc>
            </a:pPr>
            <a:r>
              <a:rPr lang="en-US" sz="12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provide stronger risk separation than raw financial values alone.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81000"/>
            <a:ext cx="1150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spc="120" kern="0" dirty="0">
                <a:solidFill>
                  <a:srgbClr val="C0A06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03 • Univariate Analysis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381000" y="647700"/>
            <a:ext cx="116014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2E405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Categorical Variables: Default Rate Patterns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81000" y="1104900"/>
            <a:ext cx="3733800" cy="4572000"/>
          </a:xfrm>
          <a:custGeom>
            <a:avLst/>
            <a:gdLst/>
            <a:ahLst/>
            <a:cxnLst/>
            <a:rect l="l" t="t" r="r" b="b"/>
            <a:pathLst>
              <a:path w="3733800" h="4572000">
                <a:moveTo>
                  <a:pt x="76207" y="0"/>
                </a:moveTo>
                <a:lnTo>
                  <a:pt x="3657593" y="0"/>
                </a:lnTo>
                <a:cubicBezTo>
                  <a:pt x="3699681" y="0"/>
                  <a:pt x="3733800" y="34119"/>
                  <a:pt x="3733800" y="76207"/>
                </a:cubicBezTo>
                <a:lnTo>
                  <a:pt x="3733800" y="4495793"/>
                </a:lnTo>
                <a:cubicBezTo>
                  <a:pt x="3733800" y="4537881"/>
                  <a:pt x="3699681" y="4572000"/>
                  <a:pt x="3657593" y="4572000"/>
                </a:cubicBezTo>
                <a:lnTo>
                  <a:pt x="76207" y="4572000"/>
                </a:lnTo>
                <a:cubicBezTo>
                  <a:pt x="34119" y="4572000"/>
                  <a:pt x="0" y="4537881"/>
                  <a:pt x="0" y="4495793"/>
                </a:cubicBezTo>
                <a:lnTo>
                  <a:pt x="0" y="76207"/>
                </a:lnTo>
                <a:cubicBezTo>
                  <a:pt x="0" y="34147"/>
                  <a:pt x="34147" y="0"/>
                  <a:pt x="76207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sx="100000" sy="100000" kx="0" ky="0" algn="bl" rotWithShape="0" blurRad="28575" dist="9525" dir="5400000">
              <a:srgbClr val="000000">
                <a:alpha val="10196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2438" y="1219200"/>
            <a:ext cx="35909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50" b="1" dirty="0">
                <a:solidFill>
                  <a:srgbClr val="2E405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Income Type</a:t>
            </a:r>
            <a:endParaRPr lang="en-US" sz="1600" dirty="0"/>
          </a:p>
        </p:txBody>
      </p:sp>
      <p:pic>
        <p:nvPicPr>
          <p:cNvPr id="6" name="Image 0" descr="https://kimi-img.moonshot.cn/pub/slides/26-02-28-10:53:51-d6h5hfscoua042qjl2r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5300" y="1562100"/>
            <a:ext cx="3505200" cy="2552700"/>
          </a:xfrm>
          <a:prstGeom prst="roundRect">
            <a:avLst>
              <a:gd name="adj" fmla="val 0"/>
            </a:avLst>
          </a:prstGeom>
        </p:spPr>
      </p:pic>
      <p:sp>
        <p:nvSpPr>
          <p:cNvPr id="7" name="Shape 4"/>
          <p:cNvSpPr/>
          <p:nvPr/>
        </p:nvSpPr>
        <p:spPr>
          <a:xfrm>
            <a:off x="495300" y="4191000"/>
            <a:ext cx="3505200" cy="266700"/>
          </a:xfrm>
          <a:custGeom>
            <a:avLst/>
            <a:gdLst/>
            <a:ahLst/>
            <a:cxnLst/>
            <a:rect l="l" t="t" r="r" b="b"/>
            <a:pathLst>
              <a:path w="3505200" h="266700">
                <a:moveTo>
                  <a:pt x="38101" y="0"/>
                </a:moveTo>
                <a:lnTo>
                  <a:pt x="3467099" y="0"/>
                </a:lnTo>
                <a:cubicBezTo>
                  <a:pt x="3488142" y="0"/>
                  <a:pt x="3505200" y="17058"/>
                  <a:pt x="3505200" y="38101"/>
                </a:cubicBezTo>
                <a:lnTo>
                  <a:pt x="3505200" y="228599"/>
                </a:lnTo>
                <a:cubicBezTo>
                  <a:pt x="3505200" y="249642"/>
                  <a:pt x="3488142" y="266700"/>
                  <a:pt x="3467099" y="266700"/>
                </a:cubicBezTo>
                <a:lnTo>
                  <a:pt x="38101" y="266700"/>
                </a:lnTo>
                <a:cubicBezTo>
                  <a:pt x="17058" y="266700"/>
                  <a:pt x="0" y="249642"/>
                  <a:pt x="0" y="228599"/>
                </a:cubicBezTo>
                <a:lnTo>
                  <a:pt x="0" y="38101"/>
                </a:lnTo>
                <a:cubicBezTo>
                  <a:pt x="0" y="17072"/>
                  <a:pt x="17072" y="0"/>
                  <a:pt x="38101" y="0"/>
                </a:cubicBezTo>
                <a:close/>
              </a:path>
            </a:pathLst>
          </a:custGeom>
          <a:solidFill>
            <a:srgbClr val="2E4057">
              <a:alpha val="10196"/>
            </a:srgbClr>
          </a:solidFill>
          <a:ln/>
        </p:spPr>
      </p:sp>
      <p:sp>
        <p:nvSpPr>
          <p:cNvPr id="8" name="Text 5"/>
          <p:cNvSpPr/>
          <p:nvPr/>
        </p:nvSpPr>
        <p:spPr>
          <a:xfrm>
            <a:off x="571500" y="4229100"/>
            <a:ext cx="6572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Pensioner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3538240" y="4229100"/>
            <a:ext cx="457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2E405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~5-6%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95300" y="4495800"/>
            <a:ext cx="3505200" cy="266700"/>
          </a:xfrm>
          <a:custGeom>
            <a:avLst/>
            <a:gdLst/>
            <a:ahLst/>
            <a:cxnLst/>
            <a:rect l="l" t="t" r="r" b="b"/>
            <a:pathLst>
              <a:path w="3505200" h="266700">
                <a:moveTo>
                  <a:pt x="38101" y="0"/>
                </a:moveTo>
                <a:lnTo>
                  <a:pt x="3467099" y="0"/>
                </a:lnTo>
                <a:cubicBezTo>
                  <a:pt x="3488142" y="0"/>
                  <a:pt x="3505200" y="17058"/>
                  <a:pt x="3505200" y="38101"/>
                </a:cubicBezTo>
                <a:lnTo>
                  <a:pt x="3505200" y="228599"/>
                </a:lnTo>
                <a:cubicBezTo>
                  <a:pt x="3505200" y="249642"/>
                  <a:pt x="3488142" y="266700"/>
                  <a:pt x="3467099" y="266700"/>
                </a:cubicBezTo>
                <a:lnTo>
                  <a:pt x="38101" y="266700"/>
                </a:lnTo>
                <a:cubicBezTo>
                  <a:pt x="17058" y="266700"/>
                  <a:pt x="0" y="249642"/>
                  <a:pt x="0" y="228599"/>
                </a:cubicBezTo>
                <a:lnTo>
                  <a:pt x="0" y="38101"/>
                </a:lnTo>
                <a:cubicBezTo>
                  <a:pt x="0" y="17072"/>
                  <a:pt x="17072" y="0"/>
                  <a:pt x="38101" y="0"/>
                </a:cubicBezTo>
                <a:close/>
              </a:path>
            </a:pathLst>
          </a:custGeom>
          <a:solidFill>
            <a:srgbClr val="2E4057">
              <a:alpha val="10196"/>
            </a:srgbClr>
          </a:solidFill>
          <a:ln/>
        </p:spPr>
      </p:sp>
      <p:sp>
        <p:nvSpPr>
          <p:cNvPr id="11" name="Text 8"/>
          <p:cNvSpPr/>
          <p:nvPr/>
        </p:nvSpPr>
        <p:spPr>
          <a:xfrm>
            <a:off x="571500" y="4533900"/>
            <a:ext cx="857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State Servant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3538240" y="4533900"/>
            <a:ext cx="457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2E405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~5-6%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495300" y="4800600"/>
            <a:ext cx="3505200" cy="266700"/>
          </a:xfrm>
          <a:custGeom>
            <a:avLst/>
            <a:gdLst/>
            <a:ahLst/>
            <a:cxnLst/>
            <a:rect l="l" t="t" r="r" b="b"/>
            <a:pathLst>
              <a:path w="3505200" h="266700">
                <a:moveTo>
                  <a:pt x="38101" y="0"/>
                </a:moveTo>
                <a:lnTo>
                  <a:pt x="3467099" y="0"/>
                </a:lnTo>
                <a:cubicBezTo>
                  <a:pt x="3488142" y="0"/>
                  <a:pt x="3505200" y="17058"/>
                  <a:pt x="3505200" y="38101"/>
                </a:cubicBezTo>
                <a:lnTo>
                  <a:pt x="3505200" y="228599"/>
                </a:lnTo>
                <a:cubicBezTo>
                  <a:pt x="3505200" y="249642"/>
                  <a:pt x="3488142" y="266700"/>
                  <a:pt x="3467099" y="266700"/>
                </a:cubicBezTo>
                <a:lnTo>
                  <a:pt x="38101" y="266700"/>
                </a:lnTo>
                <a:cubicBezTo>
                  <a:pt x="17058" y="266700"/>
                  <a:pt x="0" y="249642"/>
                  <a:pt x="0" y="228599"/>
                </a:cubicBezTo>
                <a:lnTo>
                  <a:pt x="0" y="38101"/>
                </a:lnTo>
                <a:cubicBezTo>
                  <a:pt x="0" y="17072"/>
                  <a:pt x="17072" y="0"/>
                  <a:pt x="38101" y="0"/>
                </a:cubicBezTo>
                <a:close/>
              </a:path>
            </a:pathLst>
          </a:custGeom>
          <a:solidFill>
            <a:srgbClr val="C0A062">
              <a:alpha val="20000"/>
            </a:srgbClr>
          </a:solidFill>
          <a:ln/>
        </p:spPr>
      </p:sp>
      <p:sp>
        <p:nvSpPr>
          <p:cNvPr id="14" name="Text 11"/>
          <p:cNvSpPr/>
          <p:nvPr/>
        </p:nvSpPr>
        <p:spPr>
          <a:xfrm>
            <a:off x="571500" y="4838700"/>
            <a:ext cx="7810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Commercial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3488085" y="4838700"/>
            <a:ext cx="5048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C0A06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~7-10%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495300" y="5105400"/>
            <a:ext cx="3505200" cy="266700"/>
          </a:xfrm>
          <a:custGeom>
            <a:avLst/>
            <a:gdLst/>
            <a:ahLst/>
            <a:cxnLst/>
            <a:rect l="l" t="t" r="r" b="b"/>
            <a:pathLst>
              <a:path w="3505200" h="266700">
                <a:moveTo>
                  <a:pt x="38101" y="0"/>
                </a:moveTo>
                <a:lnTo>
                  <a:pt x="3467099" y="0"/>
                </a:lnTo>
                <a:cubicBezTo>
                  <a:pt x="3488142" y="0"/>
                  <a:pt x="3505200" y="17058"/>
                  <a:pt x="3505200" y="38101"/>
                </a:cubicBezTo>
                <a:lnTo>
                  <a:pt x="3505200" y="228599"/>
                </a:lnTo>
                <a:cubicBezTo>
                  <a:pt x="3505200" y="249642"/>
                  <a:pt x="3488142" y="266700"/>
                  <a:pt x="3467099" y="266700"/>
                </a:cubicBezTo>
                <a:lnTo>
                  <a:pt x="38101" y="266700"/>
                </a:lnTo>
                <a:cubicBezTo>
                  <a:pt x="17058" y="266700"/>
                  <a:pt x="0" y="249642"/>
                  <a:pt x="0" y="228599"/>
                </a:cubicBezTo>
                <a:lnTo>
                  <a:pt x="0" y="38101"/>
                </a:lnTo>
                <a:cubicBezTo>
                  <a:pt x="0" y="17072"/>
                  <a:pt x="17072" y="0"/>
                  <a:pt x="38101" y="0"/>
                </a:cubicBezTo>
                <a:close/>
              </a:path>
            </a:pathLst>
          </a:custGeom>
          <a:solidFill>
            <a:srgbClr val="C0A062">
              <a:alpha val="30196"/>
            </a:srgbClr>
          </a:solidFill>
          <a:ln/>
        </p:spPr>
      </p:sp>
      <p:sp>
        <p:nvSpPr>
          <p:cNvPr id="17" name="Text 14"/>
          <p:cNvSpPr/>
          <p:nvPr/>
        </p:nvSpPr>
        <p:spPr>
          <a:xfrm>
            <a:off x="571500" y="5143500"/>
            <a:ext cx="876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Unemployed*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3372743" y="5143500"/>
            <a:ext cx="6191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C0A06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~36-40%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495300" y="5410200"/>
            <a:ext cx="35623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00" dirty="0">
                <a:solidFill>
                  <a:srgbClr val="A0AEC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* Small sample sizes (n=22, n=5)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4229100" y="1104900"/>
            <a:ext cx="3733800" cy="4572000"/>
          </a:xfrm>
          <a:custGeom>
            <a:avLst/>
            <a:gdLst/>
            <a:ahLst/>
            <a:cxnLst/>
            <a:rect l="l" t="t" r="r" b="b"/>
            <a:pathLst>
              <a:path w="3733800" h="4572000">
                <a:moveTo>
                  <a:pt x="76207" y="0"/>
                </a:moveTo>
                <a:lnTo>
                  <a:pt x="3657593" y="0"/>
                </a:lnTo>
                <a:cubicBezTo>
                  <a:pt x="3699681" y="0"/>
                  <a:pt x="3733800" y="34119"/>
                  <a:pt x="3733800" y="76207"/>
                </a:cubicBezTo>
                <a:lnTo>
                  <a:pt x="3733800" y="4495793"/>
                </a:lnTo>
                <a:cubicBezTo>
                  <a:pt x="3733800" y="4537881"/>
                  <a:pt x="3699681" y="4572000"/>
                  <a:pt x="3657593" y="4572000"/>
                </a:cubicBezTo>
                <a:lnTo>
                  <a:pt x="76207" y="4572000"/>
                </a:lnTo>
                <a:cubicBezTo>
                  <a:pt x="34119" y="4572000"/>
                  <a:pt x="0" y="4537881"/>
                  <a:pt x="0" y="4495793"/>
                </a:cubicBezTo>
                <a:lnTo>
                  <a:pt x="0" y="76207"/>
                </a:lnTo>
                <a:cubicBezTo>
                  <a:pt x="0" y="34147"/>
                  <a:pt x="34147" y="0"/>
                  <a:pt x="76207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sx="100000" sy="100000" kx="0" ky="0" algn="bl" rotWithShape="0" blurRad="28575" dist="9525" dir="5400000">
              <a:srgbClr val="000000">
                <a:alpha val="10196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4300538" y="1219200"/>
            <a:ext cx="35909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50" b="1" dirty="0">
                <a:solidFill>
                  <a:srgbClr val="2E405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Education Level</a:t>
            </a:r>
            <a:endParaRPr lang="en-US" sz="1600" dirty="0"/>
          </a:p>
        </p:txBody>
      </p:sp>
      <p:pic>
        <p:nvPicPr>
          <p:cNvPr id="22" name="Image 1" descr="https://kimi-img.moonshot.cn/pub/slides/26-02-28-10:53:51-d6h5hfreqfpdbv4q6h2g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343400" y="1562100"/>
            <a:ext cx="3505200" cy="2552700"/>
          </a:xfrm>
          <a:prstGeom prst="roundRect">
            <a:avLst>
              <a:gd name="adj" fmla="val 0"/>
            </a:avLst>
          </a:prstGeom>
        </p:spPr>
      </p:pic>
      <p:sp>
        <p:nvSpPr>
          <p:cNvPr id="23" name="Shape 19"/>
          <p:cNvSpPr/>
          <p:nvPr/>
        </p:nvSpPr>
        <p:spPr>
          <a:xfrm>
            <a:off x="4343400" y="4191000"/>
            <a:ext cx="3505200" cy="266700"/>
          </a:xfrm>
          <a:custGeom>
            <a:avLst/>
            <a:gdLst/>
            <a:ahLst/>
            <a:cxnLst/>
            <a:rect l="l" t="t" r="r" b="b"/>
            <a:pathLst>
              <a:path w="3505200" h="266700">
                <a:moveTo>
                  <a:pt x="38101" y="0"/>
                </a:moveTo>
                <a:lnTo>
                  <a:pt x="3467099" y="0"/>
                </a:lnTo>
                <a:cubicBezTo>
                  <a:pt x="3488142" y="0"/>
                  <a:pt x="3505200" y="17058"/>
                  <a:pt x="3505200" y="38101"/>
                </a:cubicBezTo>
                <a:lnTo>
                  <a:pt x="3505200" y="228599"/>
                </a:lnTo>
                <a:cubicBezTo>
                  <a:pt x="3505200" y="249642"/>
                  <a:pt x="3488142" y="266700"/>
                  <a:pt x="3467099" y="266700"/>
                </a:cubicBezTo>
                <a:lnTo>
                  <a:pt x="38101" y="266700"/>
                </a:lnTo>
                <a:cubicBezTo>
                  <a:pt x="17058" y="266700"/>
                  <a:pt x="0" y="249642"/>
                  <a:pt x="0" y="228599"/>
                </a:cubicBezTo>
                <a:lnTo>
                  <a:pt x="0" y="38101"/>
                </a:lnTo>
                <a:cubicBezTo>
                  <a:pt x="0" y="17072"/>
                  <a:pt x="17072" y="0"/>
                  <a:pt x="38101" y="0"/>
                </a:cubicBezTo>
                <a:close/>
              </a:path>
            </a:pathLst>
          </a:custGeom>
          <a:solidFill>
            <a:srgbClr val="2E4057">
              <a:alpha val="10196"/>
            </a:srgbClr>
          </a:solidFill>
          <a:ln/>
        </p:spPr>
      </p:sp>
      <p:sp>
        <p:nvSpPr>
          <p:cNvPr id="24" name="Text 20"/>
          <p:cNvSpPr/>
          <p:nvPr/>
        </p:nvSpPr>
        <p:spPr>
          <a:xfrm>
            <a:off x="4419600" y="4229100"/>
            <a:ext cx="11144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Academic Degree</a:t>
            </a:r>
            <a:endParaRPr lang="en-US" sz="1600" dirty="0"/>
          </a:p>
        </p:txBody>
      </p:sp>
      <p:sp>
        <p:nvSpPr>
          <p:cNvPr id="25" name="Text 21"/>
          <p:cNvSpPr/>
          <p:nvPr/>
        </p:nvSpPr>
        <p:spPr>
          <a:xfrm>
            <a:off x="7518574" y="4229100"/>
            <a:ext cx="3238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2E405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~2%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4343400" y="4495800"/>
            <a:ext cx="3505200" cy="266700"/>
          </a:xfrm>
          <a:custGeom>
            <a:avLst/>
            <a:gdLst/>
            <a:ahLst/>
            <a:cxnLst/>
            <a:rect l="l" t="t" r="r" b="b"/>
            <a:pathLst>
              <a:path w="3505200" h="266700">
                <a:moveTo>
                  <a:pt x="38101" y="0"/>
                </a:moveTo>
                <a:lnTo>
                  <a:pt x="3467099" y="0"/>
                </a:lnTo>
                <a:cubicBezTo>
                  <a:pt x="3488142" y="0"/>
                  <a:pt x="3505200" y="17058"/>
                  <a:pt x="3505200" y="38101"/>
                </a:cubicBezTo>
                <a:lnTo>
                  <a:pt x="3505200" y="228599"/>
                </a:lnTo>
                <a:cubicBezTo>
                  <a:pt x="3505200" y="249642"/>
                  <a:pt x="3488142" y="266700"/>
                  <a:pt x="3467099" y="266700"/>
                </a:cubicBezTo>
                <a:lnTo>
                  <a:pt x="38101" y="266700"/>
                </a:lnTo>
                <a:cubicBezTo>
                  <a:pt x="17058" y="266700"/>
                  <a:pt x="0" y="249642"/>
                  <a:pt x="0" y="228599"/>
                </a:cubicBezTo>
                <a:lnTo>
                  <a:pt x="0" y="38101"/>
                </a:lnTo>
                <a:cubicBezTo>
                  <a:pt x="0" y="17072"/>
                  <a:pt x="17072" y="0"/>
                  <a:pt x="38101" y="0"/>
                </a:cubicBezTo>
                <a:close/>
              </a:path>
            </a:pathLst>
          </a:custGeom>
          <a:solidFill>
            <a:srgbClr val="2E4057">
              <a:alpha val="10196"/>
            </a:srgbClr>
          </a:solidFill>
          <a:ln/>
        </p:spPr>
      </p:sp>
      <p:sp>
        <p:nvSpPr>
          <p:cNvPr id="27" name="Text 23"/>
          <p:cNvSpPr/>
          <p:nvPr/>
        </p:nvSpPr>
        <p:spPr>
          <a:xfrm>
            <a:off x="4419600" y="4533900"/>
            <a:ext cx="10858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Higher Education</a:t>
            </a:r>
            <a:endParaRPr lang="en-US" sz="1600" dirty="0"/>
          </a:p>
        </p:txBody>
      </p:sp>
      <p:sp>
        <p:nvSpPr>
          <p:cNvPr id="28" name="Text 24"/>
          <p:cNvSpPr/>
          <p:nvPr/>
        </p:nvSpPr>
        <p:spPr>
          <a:xfrm>
            <a:off x="7519243" y="4533900"/>
            <a:ext cx="3238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2E405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~5%</a:t>
            </a:r>
            <a:endParaRPr lang="en-US" sz="1600" dirty="0"/>
          </a:p>
        </p:txBody>
      </p:sp>
      <p:sp>
        <p:nvSpPr>
          <p:cNvPr id="29" name="Shape 25"/>
          <p:cNvSpPr/>
          <p:nvPr/>
        </p:nvSpPr>
        <p:spPr>
          <a:xfrm>
            <a:off x="4343400" y="4800600"/>
            <a:ext cx="3505200" cy="266700"/>
          </a:xfrm>
          <a:custGeom>
            <a:avLst/>
            <a:gdLst/>
            <a:ahLst/>
            <a:cxnLst/>
            <a:rect l="l" t="t" r="r" b="b"/>
            <a:pathLst>
              <a:path w="3505200" h="266700">
                <a:moveTo>
                  <a:pt x="38101" y="0"/>
                </a:moveTo>
                <a:lnTo>
                  <a:pt x="3467099" y="0"/>
                </a:lnTo>
                <a:cubicBezTo>
                  <a:pt x="3488142" y="0"/>
                  <a:pt x="3505200" y="17058"/>
                  <a:pt x="3505200" y="38101"/>
                </a:cubicBezTo>
                <a:lnTo>
                  <a:pt x="3505200" y="228599"/>
                </a:lnTo>
                <a:cubicBezTo>
                  <a:pt x="3505200" y="249642"/>
                  <a:pt x="3488142" y="266700"/>
                  <a:pt x="3467099" y="266700"/>
                </a:cubicBezTo>
                <a:lnTo>
                  <a:pt x="38101" y="266700"/>
                </a:lnTo>
                <a:cubicBezTo>
                  <a:pt x="17058" y="266700"/>
                  <a:pt x="0" y="249642"/>
                  <a:pt x="0" y="228599"/>
                </a:cubicBezTo>
                <a:lnTo>
                  <a:pt x="0" y="38101"/>
                </a:lnTo>
                <a:cubicBezTo>
                  <a:pt x="0" y="17072"/>
                  <a:pt x="17072" y="0"/>
                  <a:pt x="38101" y="0"/>
                </a:cubicBezTo>
                <a:close/>
              </a:path>
            </a:pathLst>
          </a:custGeom>
          <a:solidFill>
            <a:srgbClr val="C0A062">
              <a:alpha val="20000"/>
            </a:srgbClr>
          </a:solidFill>
          <a:ln/>
        </p:spPr>
      </p:sp>
      <p:sp>
        <p:nvSpPr>
          <p:cNvPr id="30" name="Text 26"/>
          <p:cNvSpPr/>
          <p:nvPr/>
        </p:nvSpPr>
        <p:spPr>
          <a:xfrm>
            <a:off x="4419600" y="4838700"/>
            <a:ext cx="11525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Incomplete Higher</a:t>
            </a:r>
            <a:endParaRPr lang="en-US" sz="1600" dirty="0"/>
          </a:p>
        </p:txBody>
      </p:sp>
      <p:sp>
        <p:nvSpPr>
          <p:cNvPr id="31" name="Text 27"/>
          <p:cNvSpPr/>
          <p:nvPr/>
        </p:nvSpPr>
        <p:spPr>
          <a:xfrm>
            <a:off x="7514183" y="4838700"/>
            <a:ext cx="3238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C0A06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~8%</a:t>
            </a:r>
            <a:endParaRPr lang="en-US" sz="1600" dirty="0"/>
          </a:p>
        </p:txBody>
      </p:sp>
      <p:sp>
        <p:nvSpPr>
          <p:cNvPr id="32" name="Shape 28"/>
          <p:cNvSpPr/>
          <p:nvPr/>
        </p:nvSpPr>
        <p:spPr>
          <a:xfrm>
            <a:off x="4343400" y="5105400"/>
            <a:ext cx="3505200" cy="266700"/>
          </a:xfrm>
          <a:custGeom>
            <a:avLst/>
            <a:gdLst/>
            <a:ahLst/>
            <a:cxnLst/>
            <a:rect l="l" t="t" r="r" b="b"/>
            <a:pathLst>
              <a:path w="3505200" h="266700">
                <a:moveTo>
                  <a:pt x="38101" y="0"/>
                </a:moveTo>
                <a:lnTo>
                  <a:pt x="3467099" y="0"/>
                </a:lnTo>
                <a:cubicBezTo>
                  <a:pt x="3488142" y="0"/>
                  <a:pt x="3505200" y="17058"/>
                  <a:pt x="3505200" y="38101"/>
                </a:cubicBezTo>
                <a:lnTo>
                  <a:pt x="3505200" y="228599"/>
                </a:lnTo>
                <a:cubicBezTo>
                  <a:pt x="3505200" y="249642"/>
                  <a:pt x="3488142" y="266700"/>
                  <a:pt x="3467099" y="266700"/>
                </a:cubicBezTo>
                <a:lnTo>
                  <a:pt x="38101" y="266700"/>
                </a:lnTo>
                <a:cubicBezTo>
                  <a:pt x="17058" y="266700"/>
                  <a:pt x="0" y="249642"/>
                  <a:pt x="0" y="228599"/>
                </a:cubicBezTo>
                <a:lnTo>
                  <a:pt x="0" y="38101"/>
                </a:lnTo>
                <a:cubicBezTo>
                  <a:pt x="0" y="17072"/>
                  <a:pt x="17072" y="0"/>
                  <a:pt x="38101" y="0"/>
                </a:cubicBezTo>
                <a:close/>
              </a:path>
            </a:pathLst>
          </a:custGeom>
          <a:solidFill>
            <a:srgbClr val="C0A062">
              <a:alpha val="30196"/>
            </a:srgbClr>
          </a:solidFill>
          <a:ln/>
        </p:spPr>
      </p:sp>
      <p:sp>
        <p:nvSpPr>
          <p:cNvPr id="33" name="Text 29"/>
          <p:cNvSpPr/>
          <p:nvPr/>
        </p:nvSpPr>
        <p:spPr>
          <a:xfrm>
            <a:off x="4419600" y="5143500"/>
            <a:ext cx="10953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Lower Secondary</a:t>
            </a:r>
            <a:endParaRPr lang="en-US" sz="1600" dirty="0"/>
          </a:p>
        </p:txBody>
      </p:sp>
      <p:sp>
        <p:nvSpPr>
          <p:cNvPr id="34" name="Text 30"/>
          <p:cNvSpPr/>
          <p:nvPr/>
        </p:nvSpPr>
        <p:spPr>
          <a:xfrm>
            <a:off x="7489403" y="5143500"/>
            <a:ext cx="3524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C0A06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~11%</a:t>
            </a:r>
            <a:endParaRPr lang="en-US" sz="1600" dirty="0"/>
          </a:p>
        </p:txBody>
      </p:sp>
      <p:sp>
        <p:nvSpPr>
          <p:cNvPr id="35" name="Text 31"/>
          <p:cNvSpPr/>
          <p:nvPr/>
        </p:nvSpPr>
        <p:spPr>
          <a:xfrm>
            <a:off x="4343400" y="5410200"/>
            <a:ext cx="35623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00" dirty="0">
                <a:solidFill>
                  <a:srgbClr val="A0AEC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Strong monotonic pattern observed</a:t>
            </a:r>
            <a:endParaRPr lang="en-US" sz="1600" dirty="0"/>
          </a:p>
        </p:txBody>
      </p:sp>
      <p:sp>
        <p:nvSpPr>
          <p:cNvPr id="36" name="Shape 32"/>
          <p:cNvSpPr/>
          <p:nvPr/>
        </p:nvSpPr>
        <p:spPr>
          <a:xfrm>
            <a:off x="8077200" y="1104900"/>
            <a:ext cx="3733800" cy="4572000"/>
          </a:xfrm>
          <a:custGeom>
            <a:avLst/>
            <a:gdLst/>
            <a:ahLst/>
            <a:cxnLst/>
            <a:rect l="l" t="t" r="r" b="b"/>
            <a:pathLst>
              <a:path w="3733800" h="4572000">
                <a:moveTo>
                  <a:pt x="76207" y="0"/>
                </a:moveTo>
                <a:lnTo>
                  <a:pt x="3657593" y="0"/>
                </a:lnTo>
                <a:cubicBezTo>
                  <a:pt x="3699681" y="0"/>
                  <a:pt x="3733800" y="34119"/>
                  <a:pt x="3733800" y="76207"/>
                </a:cubicBezTo>
                <a:lnTo>
                  <a:pt x="3733800" y="4495793"/>
                </a:lnTo>
                <a:cubicBezTo>
                  <a:pt x="3733800" y="4537881"/>
                  <a:pt x="3699681" y="4572000"/>
                  <a:pt x="3657593" y="4572000"/>
                </a:cubicBezTo>
                <a:lnTo>
                  <a:pt x="76207" y="4572000"/>
                </a:lnTo>
                <a:cubicBezTo>
                  <a:pt x="34119" y="4572000"/>
                  <a:pt x="0" y="4537881"/>
                  <a:pt x="0" y="4495793"/>
                </a:cubicBezTo>
                <a:lnTo>
                  <a:pt x="0" y="76207"/>
                </a:lnTo>
                <a:cubicBezTo>
                  <a:pt x="0" y="34147"/>
                  <a:pt x="34147" y="0"/>
                  <a:pt x="76207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sx="100000" sy="100000" kx="0" ky="0" algn="bl" rotWithShape="0" blurRad="28575" dist="9525" dir="5400000">
              <a:srgbClr val="000000">
                <a:alpha val="10196"/>
              </a:srgbClr>
            </a:outerShdw>
          </a:effectLst>
        </p:spPr>
      </p:sp>
      <p:sp>
        <p:nvSpPr>
          <p:cNvPr id="37" name="Text 33"/>
          <p:cNvSpPr/>
          <p:nvPr/>
        </p:nvSpPr>
        <p:spPr>
          <a:xfrm>
            <a:off x="8148638" y="1219200"/>
            <a:ext cx="35909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50" b="1" dirty="0">
                <a:solidFill>
                  <a:srgbClr val="2E405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Family Status</a:t>
            </a:r>
            <a:endParaRPr lang="en-US" sz="1600" dirty="0"/>
          </a:p>
        </p:txBody>
      </p:sp>
      <p:pic>
        <p:nvPicPr>
          <p:cNvPr id="38" name="Image 2" descr="https://kimi-img.moonshot.cn/pub/slides/26-02-28-10:53:52-d6h5hg5kjflnopvadg10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91500" y="1562100"/>
            <a:ext cx="3505200" cy="2552700"/>
          </a:xfrm>
          <a:prstGeom prst="roundRect">
            <a:avLst>
              <a:gd name="adj" fmla="val 0"/>
            </a:avLst>
          </a:prstGeom>
        </p:spPr>
      </p:pic>
      <p:sp>
        <p:nvSpPr>
          <p:cNvPr id="39" name="Shape 34"/>
          <p:cNvSpPr/>
          <p:nvPr/>
        </p:nvSpPr>
        <p:spPr>
          <a:xfrm>
            <a:off x="8191500" y="4191000"/>
            <a:ext cx="3505200" cy="266700"/>
          </a:xfrm>
          <a:custGeom>
            <a:avLst/>
            <a:gdLst/>
            <a:ahLst/>
            <a:cxnLst/>
            <a:rect l="l" t="t" r="r" b="b"/>
            <a:pathLst>
              <a:path w="3505200" h="266700">
                <a:moveTo>
                  <a:pt x="38101" y="0"/>
                </a:moveTo>
                <a:lnTo>
                  <a:pt x="3467099" y="0"/>
                </a:lnTo>
                <a:cubicBezTo>
                  <a:pt x="3488142" y="0"/>
                  <a:pt x="3505200" y="17058"/>
                  <a:pt x="3505200" y="38101"/>
                </a:cubicBezTo>
                <a:lnTo>
                  <a:pt x="3505200" y="228599"/>
                </a:lnTo>
                <a:cubicBezTo>
                  <a:pt x="3505200" y="249642"/>
                  <a:pt x="3488142" y="266700"/>
                  <a:pt x="3467099" y="266700"/>
                </a:cubicBezTo>
                <a:lnTo>
                  <a:pt x="38101" y="266700"/>
                </a:lnTo>
                <a:cubicBezTo>
                  <a:pt x="17058" y="266700"/>
                  <a:pt x="0" y="249642"/>
                  <a:pt x="0" y="228599"/>
                </a:cubicBezTo>
                <a:lnTo>
                  <a:pt x="0" y="38101"/>
                </a:lnTo>
                <a:cubicBezTo>
                  <a:pt x="0" y="17072"/>
                  <a:pt x="17072" y="0"/>
                  <a:pt x="38101" y="0"/>
                </a:cubicBezTo>
                <a:close/>
              </a:path>
            </a:pathLst>
          </a:custGeom>
          <a:solidFill>
            <a:srgbClr val="2E4057">
              <a:alpha val="10196"/>
            </a:srgbClr>
          </a:solidFill>
          <a:ln/>
        </p:spPr>
      </p:sp>
      <p:sp>
        <p:nvSpPr>
          <p:cNvPr id="40" name="Text 35"/>
          <p:cNvSpPr/>
          <p:nvPr/>
        </p:nvSpPr>
        <p:spPr>
          <a:xfrm>
            <a:off x="8267700" y="4229100"/>
            <a:ext cx="4857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Widow</a:t>
            </a:r>
            <a:endParaRPr lang="en-US" sz="1600" dirty="0"/>
          </a:p>
        </p:txBody>
      </p:sp>
      <p:sp>
        <p:nvSpPr>
          <p:cNvPr id="41" name="Text 36"/>
          <p:cNvSpPr/>
          <p:nvPr/>
        </p:nvSpPr>
        <p:spPr>
          <a:xfrm>
            <a:off x="11364441" y="4229100"/>
            <a:ext cx="3238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2E405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~6%</a:t>
            </a:r>
            <a:endParaRPr lang="en-US" sz="1600" dirty="0"/>
          </a:p>
        </p:txBody>
      </p:sp>
      <p:sp>
        <p:nvSpPr>
          <p:cNvPr id="42" name="Shape 37"/>
          <p:cNvSpPr/>
          <p:nvPr/>
        </p:nvSpPr>
        <p:spPr>
          <a:xfrm>
            <a:off x="8191500" y="4495800"/>
            <a:ext cx="3505200" cy="266700"/>
          </a:xfrm>
          <a:custGeom>
            <a:avLst/>
            <a:gdLst/>
            <a:ahLst/>
            <a:cxnLst/>
            <a:rect l="l" t="t" r="r" b="b"/>
            <a:pathLst>
              <a:path w="3505200" h="266700">
                <a:moveTo>
                  <a:pt x="38101" y="0"/>
                </a:moveTo>
                <a:lnTo>
                  <a:pt x="3467099" y="0"/>
                </a:lnTo>
                <a:cubicBezTo>
                  <a:pt x="3488142" y="0"/>
                  <a:pt x="3505200" y="17058"/>
                  <a:pt x="3505200" y="38101"/>
                </a:cubicBezTo>
                <a:lnTo>
                  <a:pt x="3505200" y="228599"/>
                </a:lnTo>
                <a:cubicBezTo>
                  <a:pt x="3505200" y="249642"/>
                  <a:pt x="3488142" y="266700"/>
                  <a:pt x="3467099" y="266700"/>
                </a:cubicBezTo>
                <a:lnTo>
                  <a:pt x="38101" y="266700"/>
                </a:lnTo>
                <a:cubicBezTo>
                  <a:pt x="17058" y="266700"/>
                  <a:pt x="0" y="249642"/>
                  <a:pt x="0" y="228599"/>
                </a:cubicBezTo>
                <a:lnTo>
                  <a:pt x="0" y="38101"/>
                </a:lnTo>
                <a:cubicBezTo>
                  <a:pt x="0" y="17072"/>
                  <a:pt x="17072" y="0"/>
                  <a:pt x="38101" y="0"/>
                </a:cubicBezTo>
                <a:close/>
              </a:path>
            </a:pathLst>
          </a:custGeom>
          <a:solidFill>
            <a:srgbClr val="2E4057">
              <a:alpha val="10196"/>
            </a:srgbClr>
          </a:solidFill>
          <a:ln/>
        </p:spPr>
      </p:sp>
      <p:sp>
        <p:nvSpPr>
          <p:cNvPr id="43" name="Text 38"/>
          <p:cNvSpPr/>
          <p:nvPr/>
        </p:nvSpPr>
        <p:spPr>
          <a:xfrm>
            <a:off x="8267700" y="4533900"/>
            <a:ext cx="523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Married</a:t>
            </a:r>
            <a:endParaRPr lang="en-US" sz="1600" dirty="0"/>
          </a:p>
        </p:txBody>
      </p:sp>
      <p:sp>
        <p:nvSpPr>
          <p:cNvPr id="44" name="Text 39"/>
          <p:cNvSpPr/>
          <p:nvPr/>
        </p:nvSpPr>
        <p:spPr>
          <a:xfrm>
            <a:off x="11240839" y="4533900"/>
            <a:ext cx="4476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2E405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~7-8%</a:t>
            </a:r>
            <a:endParaRPr lang="en-US" sz="1600" dirty="0"/>
          </a:p>
        </p:txBody>
      </p:sp>
      <p:sp>
        <p:nvSpPr>
          <p:cNvPr id="45" name="Shape 40"/>
          <p:cNvSpPr/>
          <p:nvPr/>
        </p:nvSpPr>
        <p:spPr>
          <a:xfrm>
            <a:off x="8191500" y="4800600"/>
            <a:ext cx="3505200" cy="266700"/>
          </a:xfrm>
          <a:custGeom>
            <a:avLst/>
            <a:gdLst/>
            <a:ahLst/>
            <a:cxnLst/>
            <a:rect l="l" t="t" r="r" b="b"/>
            <a:pathLst>
              <a:path w="3505200" h="266700">
                <a:moveTo>
                  <a:pt x="38101" y="0"/>
                </a:moveTo>
                <a:lnTo>
                  <a:pt x="3467099" y="0"/>
                </a:lnTo>
                <a:cubicBezTo>
                  <a:pt x="3488142" y="0"/>
                  <a:pt x="3505200" y="17058"/>
                  <a:pt x="3505200" y="38101"/>
                </a:cubicBezTo>
                <a:lnTo>
                  <a:pt x="3505200" y="228599"/>
                </a:lnTo>
                <a:cubicBezTo>
                  <a:pt x="3505200" y="249642"/>
                  <a:pt x="3488142" y="266700"/>
                  <a:pt x="3467099" y="266700"/>
                </a:cubicBezTo>
                <a:lnTo>
                  <a:pt x="38101" y="266700"/>
                </a:lnTo>
                <a:cubicBezTo>
                  <a:pt x="17058" y="266700"/>
                  <a:pt x="0" y="249642"/>
                  <a:pt x="0" y="228599"/>
                </a:cubicBezTo>
                <a:lnTo>
                  <a:pt x="0" y="38101"/>
                </a:lnTo>
                <a:cubicBezTo>
                  <a:pt x="0" y="17072"/>
                  <a:pt x="17072" y="0"/>
                  <a:pt x="38101" y="0"/>
                </a:cubicBezTo>
                <a:close/>
              </a:path>
            </a:pathLst>
          </a:custGeom>
          <a:solidFill>
            <a:srgbClr val="C0A062">
              <a:alpha val="20000"/>
            </a:srgbClr>
          </a:solidFill>
          <a:ln/>
        </p:spPr>
      </p:sp>
      <p:sp>
        <p:nvSpPr>
          <p:cNvPr id="46" name="Text 41"/>
          <p:cNvSpPr/>
          <p:nvPr/>
        </p:nvSpPr>
        <p:spPr>
          <a:xfrm>
            <a:off x="8267700" y="4838700"/>
            <a:ext cx="6762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Separated</a:t>
            </a:r>
            <a:endParaRPr lang="en-US" sz="1600" dirty="0"/>
          </a:p>
        </p:txBody>
      </p:sp>
      <p:sp>
        <p:nvSpPr>
          <p:cNvPr id="47" name="Text 42"/>
          <p:cNvSpPr/>
          <p:nvPr/>
        </p:nvSpPr>
        <p:spPr>
          <a:xfrm>
            <a:off x="11362283" y="4838700"/>
            <a:ext cx="3238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C0A06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~8%</a:t>
            </a:r>
            <a:endParaRPr lang="en-US" sz="1600" dirty="0"/>
          </a:p>
        </p:txBody>
      </p:sp>
      <p:sp>
        <p:nvSpPr>
          <p:cNvPr id="48" name="Shape 43"/>
          <p:cNvSpPr/>
          <p:nvPr/>
        </p:nvSpPr>
        <p:spPr>
          <a:xfrm>
            <a:off x="8191500" y="5105400"/>
            <a:ext cx="3505200" cy="266700"/>
          </a:xfrm>
          <a:custGeom>
            <a:avLst/>
            <a:gdLst/>
            <a:ahLst/>
            <a:cxnLst/>
            <a:rect l="l" t="t" r="r" b="b"/>
            <a:pathLst>
              <a:path w="3505200" h="266700">
                <a:moveTo>
                  <a:pt x="38101" y="0"/>
                </a:moveTo>
                <a:lnTo>
                  <a:pt x="3467099" y="0"/>
                </a:lnTo>
                <a:cubicBezTo>
                  <a:pt x="3488142" y="0"/>
                  <a:pt x="3505200" y="17058"/>
                  <a:pt x="3505200" y="38101"/>
                </a:cubicBezTo>
                <a:lnTo>
                  <a:pt x="3505200" y="228599"/>
                </a:lnTo>
                <a:cubicBezTo>
                  <a:pt x="3505200" y="249642"/>
                  <a:pt x="3488142" y="266700"/>
                  <a:pt x="3467099" y="266700"/>
                </a:cubicBezTo>
                <a:lnTo>
                  <a:pt x="38101" y="266700"/>
                </a:lnTo>
                <a:cubicBezTo>
                  <a:pt x="17058" y="266700"/>
                  <a:pt x="0" y="249642"/>
                  <a:pt x="0" y="228599"/>
                </a:cubicBezTo>
                <a:lnTo>
                  <a:pt x="0" y="38101"/>
                </a:lnTo>
                <a:cubicBezTo>
                  <a:pt x="0" y="17072"/>
                  <a:pt x="17072" y="0"/>
                  <a:pt x="38101" y="0"/>
                </a:cubicBezTo>
                <a:close/>
              </a:path>
            </a:pathLst>
          </a:custGeom>
          <a:solidFill>
            <a:srgbClr val="C0A062">
              <a:alpha val="30196"/>
            </a:srgbClr>
          </a:solidFill>
          <a:ln/>
        </p:spPr>
      </p:sp>
      <p:sp>
        <p:nvSpPr>
          <p:cNvPr id="49" name="Text 44"/>
          <p:cNvSpPr/>
          <p:nvPr/>
        </p:nvSpPr>
        <p:spPr>
          <a:xfrm>
            <a:off x="8267700" y="5143500"/>
            <a:ext cx="4286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Single</a:t>
            </a:r>
            <a:endParaRPr lang="en-US" sz="1600" dirty="0"/>
          </a:p>
        </p:txBody>
      </p:sp>
      <p:sp>
        <p:nvSpPr>
          <p:cNvPr id="50" name="Text 45"/>
          <p:cNvSpPr/>
          <p:nvPr/>
        </p:nvSpPr>
        <p:spPr>
          <a:xfrm>
            <a:off x="11305729" y="514350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C0A06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~10%</a:t>
            </a:r>
            <a:endParaRPr lang="en-US" sz="1600" dirty="0"/>
          </a:p>
        </p:txBody>
      </p:sp>
      <p:sp>
        <p:nvSpPr>
          <p:cNvPr id="51" name="Text 46"/>
          <p:cNvSpPr/>
          <p:nvPr/>
        </p:nvSpPr>
        <p:spPr>
          <a:xfrm>
            <a:off x="8191500" y="5410200"/>
            <a:ext cx="35623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00" dirty="0">
                <a:solidFill>
                  <a:srgbClr val="A0AEC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Less stable structures = higher risk</a:t>
            </a:r>
            <a:endParaRPr lang="en-US" sz="1600" dirty="0"/>
          </a:p>
        </p:txBody>
      </p:sp>
      <p:sp>
        <p:nvSpPr>
          <p:cNvPr id="52" name="Shape 47"/>
          <p:cNvSpPr/>
          <p:nvPr/>
        </p:nvSpPr>
        <p:spPr>
          <a:xfrm>
            <a:off x="381000" y="5753100"/>
            <a:ext cx="11430000" cy="723900"/>
          </a:xfrm>
          <a:custGeom>
            <a:avLst/>
            <a:gdLst/>
            <a:ahLst/>
            <a:cxnLst/>
            <a:rect l="l" t="t" r="r" b="b"/>
            <a:pathLst>
              <a:path w="11430000" h="723900">
                <a:moveTo>
                  <a:pt x="76198" y="0"/>
                </a:moveTo>
                <a:lnTo>
                  <a:pt x="11353802" y="0"/>
                </a:lnTo>
                <a:cubicBezTo>
                  <a:pt x="11395857" y="0"/>
                  <a:pt x="11430000" y="34143"/>
                  <a:pt x="11430000" y="76198"/>
                </a:cubicBezTo>
                <a:lnTo>
                  <a:pt x="11430000" y="647702"/>
                </a:lnTo>
                <a:cubicBezTo>
                  <a:pt x="11430000" y="689757"/>
                  <a:pt x="11395857" y="723900"/>
                  <a:pt x="11353802" y="723900"/>
                </a:cubicBezTo>
                <a:lnTo>
                  <a:pt x="76198" y="723900"/>
                </a:lnTo>
                <a:cubicBezTo>
                  <a:pt x="34143" y="723900"/>
                  <a:pt x="0" y="689757"/>
                  <a:pt x="0" y="647702"/>
                </a:cubicBezTo>
                <a:lnTo>
                  <a:pt x="0" y="76198"/>
                </a:lnTo>
                <a:cubicBezTo>
                  <a:pt x="0" y="34143"/>
                  <a:pt x="34143" y="0"/>
                  <a:pt x="76198" y="0"/>
                </a:cubicBezTo>
                <a:close/>
              </a:path>
            </a:pathLst>
          </a:custGeom>
          <a:solidFill>
            <a:srgbClr val="2E4057"/>
          </a:solidFill>
          <a:ln/>
        </p:spPr>
      </p:sp>
      <p:sp>
        <p:nvSpPr>
          <p:cNvPr id="53" name="Shape 48"/>
          <p:cNvSpPr/>
          <p:nvPr/>
        </p:nvSpPr>
        <p:spPr>
          <a:xfrm>
            <a:off x="552450" y="600075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130775" y="171450"/>
                </a:moveTo>
                <a:cubicBezTo>
                  <a:pt x="134035" y="161493"/>
                  <a:pt x="140553" y="152474"/>
                  <a:pt x="147920" y="144706"/>
                </a:cubicBezTo>
                <a:cubicBezTo>
                  <a:pt x="162520" y="129347"/>
                  <a:pt x="171450" y="108585"/>
                  <a:pt x="171450" y="85725"/>
                </a:cubicBezTo>
                <a:cubicBezTo>
                  <a:pt x="171450" y="38398"/>
                  <a:pt x="133052" y="0"/>
                  <a:pt x="85725" y="0"/>
                </a:cubicBezTo>
                <a:cubicBezTo>
                  <a:pt x="38398" y="0"/>
                  <a:pt x="0" y="38398"/>
                  <a:pt x="0" y="85725"/>
                </a:cubicBezTo>
                <a:cubicBezTo>
                  <a:pt x="0" y="108585"/>
                  <a:pt x="8930" y="129347"/>
                  <a:pt x="23530" y="144706"/>
                </a:cubicBezTo>
                <a:cubicBezTo>
                  <a:pt x="30897" y="152474"/>
                  <a:pt x="37460" y="161493"/>
                  <a:pt x="40675" y="171450"/>
                </a:cubicBezTo>
                <a:lnTo>
                  <a:pt x="130731" y="171450"/>
                </a:lnTo>
                <a:close/>
                <a:moveTo>
                  <a:pt x="128588" y="192881"/>
                </a:moveTo>
                <a:lnTo>
                  <a:pt x="42863" y="192881"/>
                </a:lnTo>
                <a:lnTo>
                  <a:pt x="42863" y="200025"/>
                </a:lnTo>
                <a:cubicBezTo>
                  <a:pt x="42863" y="219760"/>
                  <a:pt x="58847" y="235744"/>
                  <a:pt x="78581" y="235744"/>
                </a:cubicBezTo>
                <a:lnTo>
                  <a:pt x="92869" y="235744"/>
                </a:lnTo>
                <a:cubicBezTo>
                  <a:pt x="112603" y="235744"/>
                  <a:pt x="128588" y="219760"/>
                  <a:pt x="128588" y="200025"/>
                </a:cubicBezTo>
                <a:lnTo>
                  <a:pt x="128588" y="192881"/>
                </a:lnTo>
                <a:close/>
                <a:moveTo>
                  <a:pt x="82153" y="50006"/>
                </a:moveTo>
                <a:cubicBezTo>
                  <a:pt x="64383" y="50006"/>
                  <a:pt x="50006" y="64383"/>
                  <a:pt x="50006" y="82153"/>
                </a:cubicBezTo>
                <a:cubicBezTo>
                  <a:pt x="50006" y="88091"/>
                  <a:pt x="45229" y="92869"/>
                  <a:pt x="39291" y="92869"/>
                </a:cubicBezTo>
                <a:cubicBezTo>
                  <a:pt x="33352" y="92869"/>
                  <a:pt x="28575" y="88091"/>
                  <a:pt x="28575" y="82153"/>
                </a:cubicBezTo>
                <a:cubicBezTo>
                  <a:pt x="28575" y="52551"/>
                  <a:pt x="52551" y="28575"/>
                  <a:pt x="82153" y="28575"/>
                </a:cubicBezTo>
                <a:cubicBezTo>
                  <a:pt x="88091" y="28575"/>
                  <a:pt x="92869" y="33352"/>
                  <a:pt x="92869" y="39291"/>
                </a:cubicBezTo>
                <a:cubicBezTo>
                  <a:pt x="92869" y="45229"/>
                  <a:pt x="88091" y="50006"/>
                  <a:pt x="82153" y="50006"/>
                </a:cubicBezTo>
                <a:close/>
              </a:path>
            </a:pathLst>
          </a:custGeom>
          <a:solidFill>
            <a:srgbClr val="C0A062"/>
          </a:solidFill>
          <a:ln/>
        </p:spPr>
      </p:sp>
      <p:sp>
        <p:nvSpPr>
          <p:cNvPr id="54" name="Text 49"/>
          <p:cNvSpPr/>
          <p:nvPr/>
        </p:nvSpPr>
        <p:spPr>
          <a:xfrm>
            <a:off x="933450" y="5867400"/>
            <a:ext cx="108394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b="1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Finding:</a:t>
            </a:r>
            <a:pPr>
              <a:lnSpc>
                <a:spcPct val="140000"/>
              </a:lnSpc>
            </a:pPr>
            <a:r>
              <a:rPr lang="en-US" sz="1200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Financial and structural stability are the strongest predictors of loan repayment. </a:t>
            </a:r>
            <a:pPr>
              <a:lnSpc>
                <a:spcPct val="140000"/>
              </a:lnSpc>
            </a:pPr>
            <a:r>
              <a:rPr lang="en-US" sz="1200" dirty="0">
                <a:solidFill>
                  <a:srgbClr val="FFFFFF"/>
                </a:solidFill>
                <a:highlight>
                  <a:srgbClr val="C0A062">
                    <a:alpha val="30000"/>
                  </a:srgbClr>
                </a:highlight>
                <a:latin typeface="Liter" pitchFamily="34" charset="0"/>
                <a:ea typeface="Liter" pitchFamily="34" charset="-122"/>
                <a:cs typeface="Liter" pitchFamily="34" charset="-120"/>
              </a:rPr>
              <a:t>Education level shows the strongest gradient </a:t>
            </a:r>
            <a:pPr>
              <a:lnSpc>
                <a:spcPct val="140000"/>
              </a:lnSpc>
            </a:pPr>
            <a:r>
              <a:rPr lang="en-US" sz="1200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, with default rates increasing monotonically as education decreases.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81000"/>
            <a:ext cx="1150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spc="120" kern="0" dirty="0">
                <a:solidFill>
                  <a:srgbClr val="C0A06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04 • Univariate Analysis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381000" y="647700"/>
            <a:ext cx="116014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2E405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Numerical Variables: Distribution Patterns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81000" y="1104900"/>
            <a:ext cx="5657850" cy="4572000"/>
          </a:xfrm>
          <a:custGeom>
            <a:avLst/>
            <a:gdLst/>
            <a:ahLst/>
            <a:cxnLst/>
            <a:rect l="l" t="t" r="r" b="b"/>
            <a:pathLst>
              <a:path w="5657850" h="4572000">
                <a:moveTo>
                  <a:pt x="76215" y="0"/>
                </a:moveTo>
                <a:lnTo>
                  <a:pt x="5581635" y="0"/>
                </a:lnTo>
                <a:cubicBezTo>
                  <a:pt x="5623727" y="0"/>
                  <a:pt x="5657850" y="34123"/>
                  <a:pt x="5657850" y="76215"/>
                </a:cubicBezTo>
                <a:lnTo>
                  <a:pt x="5657850" y="4495785"/>
                </a:lnTo>
                <a:cubicBezTo>
                  <a:pt x="5657850" y="4537877"/>
                  <a:pt x="5623727" y="4572000"/>
                  <a:pt x="5581635" y="4572000"/>
                </a:cubicBezTo>
                <a:lnTo>
                  <a:pt x="76215" y="4572000"/>
                </a:lnTo>
                <a:cubicBezTo>
                  <a:pt x="34123" y="4572000"/>
                  <a:pt x="0" y="4537877"/>
                  <a:pt x="0" y="4495785"/>
                </a:cubicBezTo>
                <a:lnTo>
                  <a:pt x="0" y="76215"/>
                </a:lnTo>
                <a:cubicBezTo>
                  <a:pt x="0" y="34151"/>
                  <a:pt x="34151" y="0"/>
                  <a:pt x="76215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sx="100000" sy="100000" kx="0" ky="0" algn="bl" rotWithShape="0" blurRad="28575" dist="9525" dir="5400000">
              <a:srgbClr val="000000">
                <a:alpha val="10196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33400" y="1257300"/>
            <a:ext cx="54387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2E405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Age Distribution by Repayment Status</a:t>
            </a:r>
            <a:endParaRPr lang="en-US" sz="1600" dirty="0"/>
          </a:p>
        </p:txBody>
      </p:sp>
      <p:pic>
        <p:nvPicPr>
          <p:cNvPr id="6" name="Image 0" descr="https://kimi-img.moonshot.cn/pub/slides/26-02-28-10:53:52-d6h5hg4nvj4r3rglqae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3400" y="1600200"/>
            <a:ext cx="5353050" cy="2876550"/>
          </a:xfrm>
          <a:prstGeom prst="roundRect">
            <a:avLst>
              <a:gd name="adj" fmla="val 0"/>
            </a:avLst>
          </a:prstGeom>
        </p:spPr>
      </p:pic>
      <p:sp>
        <p:nvSpPr>
          <p:cNvPr id="7" name="Shape 4"/>
          <p:cNvSpPr/>
          <p:nvPr/>
        </p:nvSpPr>
        <p:spPr>
          <a:xfrm>
            <a:off x="533400" y="4552950"/>
            <a:ext cx="5353050" cy="971550"/>
          </a:xfrm>
          <a:custGeom>
            <a:avLst/>
            <a:gdLst/>
            <a:ahLst/>
            <a:cxnLst/>
            <a:rect l="l" t="t" r="r" b="b"/>
            <a:pathLst>
              <a:path w="5353050" h="971550">
                <a:moveTo>
                  <a:pt x="38104" y="0"/>
                </a:moveTo>
                <a:lnTo>
                  <a:pt x="5314946" y="0"/>
                </a:lnTo>
                <a:cubicBezTo>
                  <a:pt x="5335990" y="0"/>
                  <a:pt x="5353050" y="17060"/>
                  <a:pt x="5353050" y="38104"/>
                </a:cubicBezTo>
                <a:lnTo>
                  <a:pt x="5353050" y="933446"/>
                </a:lnTo>
                <a:cubicBezTo>
                  <a:pt x="5353050" y="954490"/>
                  <a:pt x="5335990" y="971550"/>
                  <a:pt x="5314946" y="971550"/>
                </a:cubicBezTo>
                <a:lnTo>
                  <a:pt x="38104" y="971550"/>
                </a:lnTo>
                <a:cubicBezTo>
                  <a:pt x="17060" y="971550"/>
                  <a:pt x="0" y="954490"/>
                  <a:pt x="0" y="933446"/>
                </a:cubicBezTo>
                <a:lnTo>
                  <a:pt x="0" y="38104"/>
                </a:lnTo>
                <a:cubicBezTo>
                  <a:pt x="0" y="17074"/>
                  <a:pt x="17074" y="0"/>
                  <a:pt x="38104" y="0"/>
                </a:cubicBezTo>
                <a:close/>
              </a:path>
            </a:pathLst>
          </a:custGeom>
          <a:solidFill>
            <a:srgbClr val="F7F7F7"/>
          </a:solidFill>
          <a:ln/>
        </p:spPr>
      </p:sp>
      <p:sp>
        <p:nvSpPr>
          <p:cNvPr id="8" name="Text 5"/>
          <p:cNvSpPr/>
          <p:nvPr/>
        </p:nvSpPr>
        <p:spPr>
          <a:xfrm>
            <a:off x="647700" y="4667250"/>
            <a:ext cx="5200650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b="1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Insight:</a:t>
            </a:r>
            <a:pPr>
              <a:lnSpc>
                <a:spcPct val="140000"/>
              </a:lnSpc>
            </a:pPr>
            <a:r>
              <a:rPr lang="en-US" sz="12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Defaulters (TARGET=1) concentrated in </a:t>
            </a:r>
            <a:pPr>
              <a:lnSpc>
                <a:spcPct val="140000"/>
              </a:lnSpc>
            </a:pPr>
            <a:r>
              <a:rPr lang="en-US" sz="1200" b="1" dirty="0">
                <a:solidFill>
                  <a:srgbClr val="2D3748"/>
                </a:solidFill>
                <a:highlight>
                  <a:srgbClr val="C0A062">
                    <a:alpha val="20000"/>
                  </a:srgbClr>
                </a:highlight>
                <a:latin typeface="Liter" pitchFamily="34" charset="0"/>
                <a:ea typeface="Liter" pitchFamily="34" charset="-122"/>
                <a:cs typeface="Liter" pitchFamily="34" charset="-120"/>
              </a:rPr>
              <a:t>25-35 age range </a:t>
            </a:r>
            <a:pPr>
              <a:lnSpc>
                <a:spcPct val="140000"/>
              </a:lnSpc>
            </a:pPr>
            <a:r>
              <a:rPr lang="en-US" sz="12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, while repayers show broader middle-age distribution. Younger applicants are overrepresented among defaulters.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153150" y="1104900"/>
            <a:ext cx="5657850" cy="2228850"/>
          </a:xfrm>
          <a:custGeom>
            <a:avLst/>
            <a:gdLst/>
            <a:ahLst/>
            <a:cxnLst/>
            <a:rect l="l" t="t" r="r" b="b"/>
            <a:pathLst>
              <a:path w="5657850" h="2228850">
                <a:moveTo>
                  <a:pt x="76204" y="0"/>
                </a:moveTo>
                <a:lnTo>
                  <a:pt x="5581646" y="0"/>
                </a:lnTo>
                <a:cubicBezTo>
                  <a:pt x="5623732" y="0"/>
                  <a:pt x="5657850" y="34118"/>
                  <a:pt x="5657850" y="76204"/>
                </a:cubicBezTo>
                <a:lnTo>
                  <a:pt x="5657850" y="2152646"/>
                </a:lnTo>
                <a:cubicBezTo>
                  <a:pt x="5657850" y="2194732"/>
                  <a:pt x="5623732" y="2228850"/>
                  <a:pt x="5581646" y="2228850"/>
                </a:cubicBezTo>
                <a:lnTo>
                  <a:pt x="76204" y="2228850"/>
                </a:lnTo>
                <a:cubicBezTo>
                  <a:pt x="34118" y="2228850"/>
                  <a:pt x="0" y="2194732"/>
                  <a:pt x="0" y="2152646"/>
                </a:cubicBezTo>
                <a:lnTo>
                  <a:pt x="0" y="76204"/>
                </a:lnTo>
                <a:cubicBezTo>
                  <a:pt x="0" y="34146"/>
                  <a:pt x="34146" y="0"/>
                  <a:pt x="76204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sx="100000" sy="100000" kx="0" ky="0" algn="bl" rotWithShape="0" blurRad="28575" dist="9525" dir="5400000">
              <a:srgbClr val="000000">
                <a:alpha val="10196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305550" y="1257300"/>
            <a:ext cx="54387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2E405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Credit Amount Distribution</a:t>
            </a:r>
            <a:endParaRPr lang="en-US" sz="1600" dirty="0"/>
          </a:p>
        </p:txBody>
      </p:sp>
      <p:pic>
        <p:nvPicPr>
          <p:cNvPr id="11" name="Image 1" descr="https://kimi-img.moonshot.cn/pub/slides/26-02-28-10:53:52-d6h5hg33kdlk6nrerv60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05550" y="1600200"/>
            <a:ext cx="5353050" cy="1123950"/>
          </a:xfrm>
          <a:prstGeom prst="roundRect">
            <a:avLst>
              <a:gd name="adj" fmla="val 0"/>
            </a:avLst>
          </a:prstGeom>
        </p:spPr>
      </p:pic>
      <p:sp>
        <p:nvSpPr>
          <p:cNvPr id="12" name="Text 8"/>
          <p:cNvSpPr/>
          <p:nvPr/>
        </p:nvSpPr>
        <p:spPr>
          <a:xfrm>
            <a:off x="6305550" y="2800350"/>
            <a:ext cx="54197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Observation:</a:t>
            </a:r>
            <a:pPr>
              <a:lnSpc>
                <a:spcPct val="120000"/>
              </a:lnSpc>
            </a:pPr>
            <a:r>
              <a:rPr lang="en-US" sz="105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Both groups show similar heavily right-skewed patterns. Absolute loan size alone doesn't differentiate defaulters.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6153150" y="3448050"/>
            <a:ext cx="5657850" cy="2228850"/>
          </a:xfrm>
          <a:custGeom>
            <a:avLst/>
            <a:gdLst/>
            <a:ahLst/>
            <a:cxnLst/>
            <a:rect l="l" t="t" r="r" b="b"/>
            <a:pathLst>
              <a:path w="5657850" h="2228850">
                <a:moveTo>
                  <a:pt x="76204" y="0"/>
                </a:moveTo>
                <a:lnTo>
                  <a:pt x="5581646" y="0"/>
                </a:lnTo>
                <a:cubicBezTo>
                  <a:pt x="5623732" y="0"/>
                  <a:pt x="5657850" y="34118"/>
                  <a:pt x="5657850" y="76204"/>
                </a:cubicBezTo>
                <a:lnTo>
                  <a:pt x="5657850" y="2152646"/>
                </a:lnTo>
                <a:cubicBezTo>
                  <a:pt x="5657850" y="2194732"/>
                  <a:pt x="5623732" y="2228850"/>
                  <a:pt x="5581646" y="2228850"/>
                </a:cubicBezTo>
                <a:lnTo>
                  <a:pt x="76204" y="2228850"/>
                </a:lnTo>
                <a:cubicBezTo>
                  <a:pt x="34118" y="2228850"/>
                  <a:pt x="0" y="2194732"/>
                  <a:pt x="0" y="2152646"/>
                </a:cubicBezTo>
                <a:lnTo>
                  <a:pt x="0" y="76204"/>
                </a:lnTo>
                <a:cubicBezTo>
                  <a:pt x="0" y="34146"/>
                  <a:pt x="34146" y="0"/>
                  <a:pt x="76204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sx="100000" sy="100000" kx="0" ky="0" algn="bl" rotWithShape="0" blurRad="28575" dist="9525" dir="5400000">
              <a:srgbClr val="000000">
                <a:alpha val="10196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6305550" y="3600450"/>
            <a:ext cx="54387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2E405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Goods Price Distribution</a:t>
            </a:r>
            <a:endParaRPr lang="en-US" sz="1600" dirty="0"/>
          </a:p>
        </p:txBody>
      </p:sp>
      <p:pic>
        <p:nvPicPr>
          <p:cNvPr id="15" name="Image 2" descr="https://kimi-img.moonshot.cn/pub/slides/26-02-28-10:53:52-d6h5hg3fj2j4etooinng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305550" y="3943350"/>
            <a:ext cx="5353050" cy="1123950"/>
          </a:xfrm>
          <a:prstGeom prst="roundRect">
            <a:avLst>
              <a:gd name="adj" fmla="val 0"/>
            </a:avLst>
          </a:prstGeom>
        </p:spPr>
      </p:pic>
      <p:sp>
        <p:nvSpPr>
          <p:cNvPr id="16" name="Text 11"/>
          <p:cNvSpPr/>
          <p:nvPr/>
        </p:nvSpPr>
        <p:spPr>
          <a:xfrm>
            <a:off x="6305550" y="5143500"/>
            <a:ext cx="54197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Observation:</a:t>
            </a:r>
            <a:pPr>
              <a:lnSpc>
                <a:spcPct val="120000"/>
              </a:lnSpc>
            </a:pPr>
            <a:r>
              <a:rPr lang="en-US" sz="105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Similar shapes across repayment groups suggest </a:t>
            </a:r>
            <a:pPr>
              <a:lnSpc>
                <a:spcPct val="120000"/>
              </a:lnSpc>
            </a:pPr>
            <a:r>
              <a:rPr lang="en-US" sz="1050" dirty="0">
                <a:solidFill>
                  <a:srgbClr val="2D3748"/>
                </a:solidFill>
                <a:highlight>
                  <a:srgbClr val="C0A062">
                    <a:alpha val="20000"/>
                  </a:srgbClr>
                </a:highlight>
                <a:latin typeface="Liter" pitchFamily="34" charset="0"/>
                <a:ea typeface="Liter" pitchFamily="34" charset="-122"/>
                <a:cs typeface="Liter" pitchFamily="34" charset="-120"/>
              </a:rPr>
              <a:t>relative measures </a:t>
            </a:r>
            <a:pPr>
              <a:lnSpc>
                <a:spcPct val="120000"/>
              </a:lnSpc>
            </a:pPr>
            <a:r>
              <a:rPr lang="en-US" sz="105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may be more informative.</a:t>
            </a:r>
            <a:endParaRPr lang="en-US" sz="1600" dirty="0"/>
          </a:p>
        </p:txBody>
      </p:sp>
      <p:sp>
        <p:nvSpPr>
          <p:cNvPr id="17" name="Shape 12"/>
          <p:cNvSpPr/>
          <p:nvPr/>
        </p:nvSpPr>
        <p:spPr>
          <a:xfrm>
            <a:off x="381000" y="5753100"/>
            <a:ext cx="11430000" cy="723900"/>
          </a:xfrm>
          <a:custGeom>
            <a:avLst/>
            <a:gdLst/>
            <a:ahLst/>
            <a:cxnLst/>
            <a:rect l="l" t="t" r="r" b="b"/>
            <a:pathLst>
              <a:path w="11430000" h="723900">
                <a:moveTo>
                  <a:pt x="76198" y="0"/>
                </a:moveTo>
                <a:lnTo>
                  <a:pt x="11353802" y="0"/>
                </a:lnTo>
                <a:cubicBezTo>
                  <a:pt x="11395857" y="0"/>
                  <a:pt x="11430000" y="34143"/>
                  <a:pt x="11430000" y="76198"/>
                </a:cubicBezTo>
                <a:lnTo>
                  <a:pt x="11430000" y="647702"/>
                </a:lnTo>
                <a:cubicBezTo>
                  <a:pt x="11430000" y="689757"/>
                  <a:pt x="11395857" y="723900"/>
                  <a:pt x="11353802" y="723900"/>
                </a:cubicBezTo>
                <a:lnTo>
                  <a:pt x="76198" y="723900"/>
                </a:lnTo>
                <a:cubicBezTo>
                  <a:pt x="34143" y="723900"/>
                  <a:pt x="0" y="689757"/>
                  <a:pt x="0" y="647702"/>
                </a:cubicBezTo>
                <a:lnTo>
                  <a:pt x="0" y="76198"/>
                </a:lnTo>
                <a:cubicBezTo>
                  <a:pt x="0" y="34143"/>
                  <a:pt x="34143" y="0"/>
                  <a:pt x="76198" y="0"/>
                </a:cubicBezTo>
                <a:close/>
              </a:path>
            </a:pathLst>
          </a:custGeom>
          <a:solidFill>
            <a:srgbClr val="2E4057"/>
          </a:solidFill>
          <a:ln/>
        </p:spPr>
      </p:sp>
      <p:sp>
        <p:nvSpPr>
          <p:cNvPr id="18" name="Shape 13"/>
          <p:cNvSpPr/>
          <p:nvPr/>
        </p:nvSpPr>
        <p:spPr>
          <a:xfrm>
            <a:off x="523875" y="600075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4288" y="14288"/>
                </a:moveTo>
                <a:cubicBezTo>
                  <a:pt x="22190" y="14288"/>
                  <a:pt x="28575" y="20672"/>
                  <a:pt x="28575" y="28575"/>
                </a:cubicBezTo>
                <a:lnTo>
                  <a:pt x="28575" y="178594"/>
                </a:lnTo>
                <a:cubicBezTo>
                  <a:pt x="28575" y="182523"/>
                  <a:pt x="31790" y="185738"/>
                  <a:pt x="35719" y="185738"/>
                </a:cubicBezTo>
                <a:lnTo>
                  <a:pt x="214313" y="185738"/>
                </a:lnTo>
                <a:cubicBezTo>
                  <a:pt x="222215" y="185738"/>
                  <a:pt x="228600" y="192122"/>
                  <a:pt x="228600" y="200025"/>
                </a:cubicBezTo>
                <a:cubicBezTo>
                  <a:pt x="228600" y="207928"/>
                  <a:pt x="222215" y="214313"/>
                  <a:pt x="214313" y="214313"/>
                </a:cubicBezTo>
                <a:lnTo>
                  <a:pt x="35719" y="214313"/>
                </a:lnTo>
                <a:cubicBezTo>
                  <a:pt x="15984" y="214313"/>
                  <a:pt x="0" y="198328"/>
                  <a:pt x="0" y="178594"/>
                </a:cubicBezTo>
                <a:lnTo>
                  <a:pt x="0" y="28575"/>
                </a:lnTo>
                <a:cubicBezTo>
                  <a:pt x="0" y="20672"/>
                  <a:pt x="6385" y="14288"/>
                  <a:pt x="14288" y="14288"/>
                </a:cubicBezTo>
                <a:close/>
                <a:moveTo>
                  <a:pt x="107156" y="42863"/>
                </a:moveTo>
                <a:cubicBezTo>
                  <a:pt x="110148" y="42863"/>
                  <a:pt x="113005" y="44113"/>
                  <a:pt x="115059" y="46345"/>
                </a:cubicBezTo>
                <a:lnTo>
                  <a:pt x="146804" y="80948"/>
                </a:lnTo>
                <a:lnTo>
                  <a:pt x="167432" y="60275"/>
                </a:lnTo>
                <a:cubicBezTo>
                  <a:pt x="171629" y="56078"/>
                  <a:pt x="178415" y="56078"/>
                  <a:pt x="182567" y="60275"/>
                </a:cubicBezTo>
                <a:lnTo>
                  <a:pt x="211142" y="88850"/>
                </a:lnTo>
                <a:cubicBezTo>
                  <a:pt x="213152" y="90860"/>
                  <a:pt x="214268" y="93583"/>
                  <a:pt x="214268" y="96441"/>
                </a:cubicBezTo>
                <a:lnTo>
                  <a:pt x="214268" y="146447"/>
                </a:lnTo>
                <a:cubicBezTo>
                  <a:pt x="214268" y="152385"/>
                  <a:pt x="209490" y="157163"/>
                  <a:pt x="203552" y="157163"/>
                </a:cubicBezTo>
                <a:lnTo>
                  <a:pt x="67821" y="157163"/>
                </a:lnTo>
                <a:cubicBezTo>
                  <a:pt x="61883" y="157163"/>
                  <a:pt x="57105" y="152385"/>
                  <a:pt x="57105" y="146447"/>
                </a:cubicBezTo>
                <a:lnTo>
                  <a:pt x="57105" y="96441"/>
                </a:lnTo>
                <a:cubicBezTo>
                  <a:pt x="57105" y="93762"/>
                  <a:pt x="58132" y="91172"/>
                  <a:pt x="59918" y="89208"/>
                </a:cubicBezTo>
                <a:lnTo>
                  <a:pt x="99209" y="46345"/>
                </a:lnTo>
                <a:cubicBezTo>
                  <a:pt x="101218" y="44113"/>
                  <a:pt x="104120" y="42863"/>
                  <a:pt x="107112" y="42863"/>
                </a:cubicBezTo>
                <a:close/>
              </a:path>
            </a:pathLst>
          </a:custGeom>
          <a:solidFill>
            <a:srgbClr val="C0A062"/>
          </a:solidFill>
          <a:ln/>
        </p:spPr>
      </p:sp>
      <p:sp>
        <p:nvSpPr>
          <p:cNvPr id="19" name="Text 14"/>
          <p:cNvSpPr/>
          <p:nvPr/>
        </p:nvSpPr>
        <p:spPr>
          <a:xfrm>
            <a:off x="933450" y="5867400"/>
            <a:ext cx="108394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b="1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Critical Finding:</a:t>
            </a:r>
            <a:pPr>
              <a:lnSpc>
                <a:spcPct val="140000"/>
              </a:lnSpc>
            </a:pPr>
            <a:r>
              <a:rPr lang="en-US" sz="1200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Age is a strong risk-associated factor, while raw financial magnitudes show limited discriminatory power. </a:t>
            </a:r>
            <a:pPr>
              <a:lnSpc>
                <a:spcPct val="140000"/>
              </a:lnSpc>
            </a:pPr>
            <a:r>
              <a:rPr lang="en-US" sz="1200" dirty="0">
                <a:solidFill>
                  <a:srgbClr val="FFFFFF"/>
                </a:solidFill>
                <a:highlight>
                  <a:srgbClr val="C0A062">
                    <a:alpha val="30000"/>
                  </a:srgbClr>
                </a:highlight>
                <a:latin typeface="Liter" pitchFamily="34" charset="0"/>
                <a:ea typeface="Liter" pitchFamily="34" charset="-122"/>
                <a:cs typeface="Liter" pitchFamily="34" charset="-120"/>
              </a:rPr>
              <a:t>Loan-to-income relationships </a:t>
            </a:r>
            <a:pPr>
              <a:lnSpc>
                <a:spcPct val="140000"/>
              </a:lnSpc>
            </a:pPr>
            <a:r>
              <a:rPr lang="en-US" sz="1200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may be more predictive than absolute amounts.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81000"/>
            <a:ext cx="1150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spc="120" kern="0" dirty="0">
                <a:solidFill>
                  <a:srgbClr val="C0A06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05 • Bivariate Analysis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381000" y="647700"/>
            <a:ext cx="116014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2E405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Correlation Structure: Repayers vs Defaulters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81000" y="1104900"/>
            <a:ext cx="5657850" cy="4114800"/>
          </a:xfrm>
          <a:custGeom>
            <a:avLst/>
            <a:gdLst/>
            <a:ahLst/>
            <a:cxnLst/>
            <a:rect l="l" t="t" r="r" b="b"/>
            <a:pathLst>
              <a:path w="5657850" h="4114800">
                <a:moveTo>
                  <a:pt x="76206" y="0"/>
                </a:moveTo>
                <a:lnTo>
                  <a:pt x="5581644" y="0"/>
                </a:lnTo>
                <a:cubicBezTo>
                  <a:pt x="5623731" y="0"/>
                  <a:pt x="5657850" y="34119"/>
                  <a:pt x="5657850" y="76206"/>
                </a:cubicBezTo>
                <a:lnTo>
                  <a:pt x="5657850" y="4038594"/>
                </a:lnTo>
                <a:cubicBezTo>
                  <a:pt x="5657850" y="4080681"/>
                  <a:pt x="5623731" y="4114800"/>
                  <a:pt x="5581644" y="4114800"/>
                </a:cubicBezTo>
                <a:lnTo>
                  <a:pt x="76206" y="4114800"/>
                </a:lnTo>
                <a:cubicBezTo>
                  <a:pt x="34119" y="4114800"/>
                  <a:pt x="0" y="4080681"/>
                  <a:pt x="0" y="4038594"/>
                </a:cubicBezTo>
                <a:lnTo>
                  <a:pt x="0" y="76206"/>
                </a:lnTo>
                <a:cubicBezTo>
                  <a:pt x="0" y="34147"/>
                  <a:pt x="34147" y="0"/>
                  <a:pt x="76206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sx="100000" sy="100000" kx="0" ky="0" algn="bl" rotWithShape="0" blurRad="28575" dist="9525" dir="5400000">
              <a:srgbClr val="000000">
                <a:alpha val="10196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90538" y="1257300"/>
            <a:ext cx="54387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50" b="1" dirty="0">
                <a:solidFill>
                  <a:srgbClr val="2E405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Defaulters (TARGET=1)</a:t>
            </a:r>
            <a:endParaRPr lang="en-US" sz="1600" dirty="0"/>
          </a:p>
        </p:txBody>
      </p:sp>
      <p:pic>
        <p:nvPicPr>
          <p:cNvPr id="6" name="Image 0" descr="https://kimi-img.moonshot.cn/pub/slides/26-02-28-10:53:52-d6h5hg3eqfpdbv4q6h5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3400" y="1600200"/>
            <a:ext cx="5353050" cy="3467100"/>
          </a:xfrm>
          <a:prstGeom prst="roundRect">
            <a:avLst>
              <a:gd name="adj" fmla="val 0"/>
            </a:avLst>
          </a:prstGeom>
        </p:spPr>
      </p:pic>
      <p:sp>
        <p:nvSpPr>
          <p:cNvPr id="7" name="Shape 4"/>
          <p:cNvSpPr/>
          <p:nvPr/>
        </p:nvSpPr>
        <p:spPr>
          <a:xfrm>
            <a:off x="6153150" y="1104900"/>
            <a:ext cx="5657850" cy="4114800"/>
          </a:xfrm>
          <a:custGeom>
            <a:avLst/>
            <a:gdLst/>
            <a:ahLst/>
            <a:cxnLst/>
            <a:rect l="l" t="t" r="r" b="b"/>
            <a:pathLst>
              <a:path w="5657850" h="4114800">
                <a:moveTo>
                  <a:pt x="76206" y="0"/>
                </a:moveTo>
                <a:lnTo>
                  <a:pt x="5581644" y="0"/>
                </a:lnTo>
                <a:cubicBezTo>
                  <a:pt x="5623731" y="0"/>
                  <a:pt x="5657850" y="34119"/>
                  <a:pt x="5657850" y="76206"/>
                </a:cubicBezTo>
                <a:lnTo>
                  <a:pt x="5657850" y="4038594"/>
                </a:lnTo>
                <a:cubicBezTo>
                  <a:pt x="5657850" y="4080681"/>
                  <a:pt x="5623731" y="4114800"/>
                  <a:pt x="5581644" y="4114800"/>
                </a:cubicBezTo>
                <a:lnTo>
                  <a:pt x="76206" y="4114800"/>
                </a:lnTo>
                <a:cubicBezTo>
                  <a:pt x="34119" y="4114800"/>
                  <a:pt x="0" y="4080681"/>
                  <a:pt x="0" y="4038594"/>
                </a:cubicBezTo>
                <a:lnTo>
                  <a:pt x="0" y="76206"/>
                </a:lnTo>
                <a:cubicBezTo>
                  <a:pt x="0" y="34147"/>
                  <a:pt x="34147" y="0"/>
                  <a:pt x="76206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sx="100000" sy="100000" kx="0" ky="0" algn="bl" rotWithShape="0" blurRad="28575" dist="9525" dir="5400000">
              <a:srgbClr val="000000">
                <a:alpha val="10196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262688" y="1257300"/>
            <a:ext cx="54387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50" b="1" dirty="0">
                <a:solidFill>
                  <a:srgbClr val="2E405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Repayers (TARGET=0)</a:t>
            </a:r>
            <a:endParaRPr lang="en-US" sz="1600" dirty="0"/>
          </a:p>
        </p:txBody>
      </p:sp>
      <p:pic>
        <p:nvPicPr>
          <p:cNvPr id="9" name="Image 1" descr="https://kimi-img.moonshot.cn/pub/slides/26-02-28-10:53:53-d6h5hg9g4pnuptrm1bu0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05550" y="1600200"/>
            <a:ext cx="5353050" cy="3467100"/>
          </a:xfrm>
          <a:prstGeom prst="roundRect">
            <a:avLst>
              <a:gd name="adj" fmla="val 0"/>
            </a:avLst>
          </a:prstGeom>
        </p:spPr>
      </p:pic>
      <p:sp>
        <p:nvSpPr>
          <p:cNvPr id="10" name="Shape 6"/>
          <p:cNvSpPr/>
          <p:nvPr/>
        </p:nvSpPr>
        <p:spPr>
          <a:xfrm>
            <a:off x="381000" y="5295900"/>
            <a:ext cx="3733800" cy="1181100"/>
          </a:xfrm>
          <a:custGeom>
            <a:avLst/>
            <a:gdLst/>
            <a:ahLst/>
            <a:cxnLst/>
            <a:rect l="l" t="t" r="r" b="b"/>
            <a:pathLst>
              <a:path w="3733800" h="1181100">
                <a:moveTo>
                  <a:pt x="76205" y="0"/>
                </a:moveTo>
                <a:lnTo>
                  <a:pt x="3657595" y="0"/>
                </a:lnTo>
                <a:cubicBezTo>
                  <a:pt x="3699654" y="0"/>
                  <a:pt x="3733800" y="34146"/>
                  <a:pt x="3733800" y="76205"/>
                </a:cubicBezTo>
                <a:lnTo>
                  <a:pt x="3733800" y="1104895"/>
                </a:lnTo>
                <a:cubicBezTo>
                  <a:pt x="3733800" y="1146982"/>
                  <a:pt x="3699682" y="1181100"/>
                  <a:pt x="3657595" y="1181100"/>
                </a:cubicBezTo>
                <a:lnTo>
                  <a:pt x="76205" y="1181100"/>
                </a:lnTo>
                <a:cubicBezTo>
                  <a:pt x="34146" y="1181100"/>
                  <a:pt x="0" y="1146954"/>
                  <a:pt x="0" y="1104895"/>
                </a:cubicBezTo>
                <a:lnTo>
                  <a:pt x="0" y="76205"/>
                </a:lnTo>
                <a:cubicBezTo>
                  <a:pt x="0" y="34146"/>
                  <a:pt x="34146" y="0"/>
                  <a:pt x="76205" y="0"/>
                </a:cubicBezTo>
                <a:close/>
              </a:path>
            </a:pathLst>
          </a:custGeom>
          <a:solidFill>
            <a:srgbClr val="2E4057"/>
          </a:solidFill>
          <a:ln/>
        </p:spPr>
      </p:sp>
      <p:sp>
        <p:nvSpPr>
          <p:cNvPr id="11" name="Shape 7"/>
          <p:cNvSpPr/>
          <p:nvPr/>
        </p:nvSpPr>
        <p:spPr>
          <a:xfrm>
            <a:off x="519113" y="542925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95250" y="190500"/>
                </a:moveTo>
                <a:cubicBezTo>
                  <a:pt x="147820" y="190500"/>
                  <a:pt x="190500" y="147820"/>
                  <a:pt x="190500" y="95250"/>
                </a:cubicBezTo>
                <a:cubicBezTo>
                  <a:pt x="190500" y="42680"/>
                  <a:pt x="147820" y="0"/>
                  <a:pt x="95250" y="0"/>
                </a:cubicBezTo>
                <a:cubicBezTo>
                  <a:pt x="42680" y="0"/>
                  <a:pt x="0" y="42680"/>
                  <a:pt x="0" y="95250"/>
                </a:cubicBezTo>
                <a:cubicBezTo>
                  <a:pt x="0" y="147820"/>
                  <a:pt x="42680" y="190500"/>
                  <a:pt x="95250" y="190500"/>
                </a:cubicBezTo>
                <a:close/>
                <a:moveTo>
                  <a:pt x="126653" y="79139"/>
                </a:moveTo>
                <a:lnTo>
                  <a:pt x="96887" y="126764"/>
                </a:lnTo>
                <a:cubicBezTo>
                  <a:pt x="95324" y="129257"/>
                  <a:pt x="92646" y="130820"/>
                  <a:pt x="89706" y="130969"/>
                </a:cubicBezTo>
                <a:cubicBezTo>
                  <a:pt x="86767" y="131118"/>
                  <a:pt x="83939" y="129778"/>
                  <a:pt x="82190" y="127397"/>
                </a:cubicBezTo>
                <a:lnTo>
                  <a:pt x="64331" y="103584"/>
                </a:lnTo>
                <a:cubicBezTo>
                  <a:pt x="61354" y="99640"/>
                  <a:pt x="62173" y="94059"/>
                  <a:pt x="66117" y="91083"/>
                </a:cubicBezTo>
                <a:cubicBezTo>
                  <a:pt x="70061" y="88106"/>
                  <a:pt x="75642" y="88925"/>
                  <a:pt x="78618" y="92869"/>
                </a:cubicBezTo>
                <a:lnTo>
                  <a:pt x="88664" y="106263"/>
                </a:lnTo>
                <a:lnTo>
                  <a:pt x="111509" y="69689"/>
                </a:lnTo>
                <a:cubicBezTo>
                  <a:pt x="114114" y="65522"/>
                  <a:pt x="119621" y="64219"/>
                  <a:pt x="123825" y="66861"/>
                </a:cubicBezTo>
                <a:cubicBezTo>
                  <a:pt x="128029" y="69503"/>
                  <a:pt x="129294" y="74972"/>
                  <a:pt x="126653" y="79177"/>
                </a:cubicBezTo>
                <a:close/>
              </a:path>
            </a:pathLst>
          </a:custGeom>
          <a:solidFill>
            <a:srgbClr val="C0A062"/>
          </a:solidFill>
          <a:ln/>
        </p:spPr>
      </p:sp>
      <p:sp>
        <p:nvSpPr>
          <p:cNvPr id="12" name="Text 8"/>
          <p:cNvSpPr/>
          <p:nvPr/>
        </p:nvSpPr>
        <p:spPr>
          <a:xfrm>
            <a:off x="809625" y="5410200"/>
            <a:ext cx="12287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Repayers Pattern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495300" y="5715000"/>
            <a:ext cx="10763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Income ↔ Credit: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3727475" y="5715000"/>
            <a:ext cx="3429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C0A06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0.34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495300" y="5943600"/>
            <a:ext cx="11620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Income ↔ Annuity: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3728665" y="5943600"/>
            <a:ext cx="3429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C0A06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0.42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495300" y="6210300"/>
            <a:ext cx="35623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Income-aligned loan sizing observed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4229100" y="5295900"/>
            <a:ext cx="3733800" cy="1181100"/>
          </a:xfrm>
          <a:custGeom>
            <a:avLst/>
            <a:gdLst/>
            <a:ahLst/>
            <a:cxnLst/>
            <a:rect l="l" t="t" r="r" b="b"/>
            <a:pathLst>
              <a:path w="3733800" h="1181100">
                <a:moveTo>
                  <a:pt x="76205" y="0"/>
                </a:moveTo>
                <a:lnTo>
                  <a:pt x="3657595" y="0"/>
                </a:lnTo>
                <a:cubicBezTo>
                  <a:pt x="3699654" y="0"/>
                  <a:pt x="3733800" y="34146"/>
                  <a:pt x="3733800" y="76205"/>
                </a:cubicBezTo>
                <a:lnTo>
                  <a:pt x="3733800" y="1104895"/>
                </a:lnTo>
                <a:cubicBezTo>
                  <a:pt x="3733800" y="1146982"/>
                  <a:pt x="3699682" y="1181100"/>
                  <a:pt x="3657595" y="1181100"/>
                </a:cubicBezTo>
                <a:lnTo>
                  <a:pt x="76205" y="1181100"/>
                </a:lnTo>
                <a:cubicBezTo>
                  <a:pt x="34146" y="1181100"/>
                  <a:pt x="0" y="1146954"/>
                  <a:pt x="0" y="1104895"/>
                </a:cubicBezTo>
                <a:lnTo>
                  <a:pt x="0" y="76205"/>
                </a:lnTo>
                <a:cubicBezTo>
                  <a:pt x="0" y="34146"/>
                  <a:pt x="34146" y="0"/>
                  <a:pt x="76205" y="0"/>
                </a:cubicBezTo>
                <a:close/>
              </a:path>
            </a:pathLst>
          </a:custGeom>
          <a:solidFill>
            <a:srgbClr val="C0A062"/>
          </a:solidFill>
          <a:ln/>
        </p:spPr>
      </p:sp>
      <p:sp>
        <p:nvSpPr>
          <p:cNvPr id="19" name="Shape 15"/>
          <p:cNvSpPr/>
          <p:nvPr/>
        </p:nvSpPr>
        <p:spPr>
          <a:xfrm>
            <a:off x="4367213" y="542925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95250" y="190500"/>
                </a:moveTo>
                <a:cubicBezTo>
                  <a:pt x="147820" y="190500"/>
                  <a:pt x="190500" y="147820"/>
                  <a:pt x="190500" y="95250"/>
                </a:cubicBezTo>
                <a:cubicBezTo>
                  <a:pt x="190500" y="42680"/>
                  <a:pt x="147820" y="0"/>
                  <a:pt x="95250" y="0"/>
                </a:cubicBezTo>
                <a:cubicBezTo>
                  <a:pt x="42680" y="0"/>
                  <a:pt x="0" y="42680"/>
                  <a:pt x="0" y="95250"/>
                </a:cubicBezTo>
                <a:cubicBezTo>
                  <a:pt x="0" y="147820"/>
                  <a:pt x="42680" y="190500"/>
                  <a:pt x="95250" y="190500"/>
                </a:cubicBezTo>
                <a:close/>
                <a:moveTo>
                  <a:pt x="95250" y="50602"/>
                </a:moveTo>
                <a:cubicBezTo>
                  <a:pt x="100199" y="50602"/>
                  <a:pt x="104180" y="54583"/>
                  <a:pt x="104180" y="59531"/>
                </a:cubicBezTo>
                <a:lnTo>
                  <a:pt x="104180" y="101203"/>
                </a:lnTo>
                <a:cubicBezTo>
                  <a:pt x="104180" y="106152"/>
                  <a:pt x="100199" y="110133"/>
                  <a:pt x="95250" y="110133"/>
                </a:cubicBezTo>
                <a:cubicBezTo>
                  <a:pt x="90301" y="110133"/>
                  <a:pt x="86320" y="106152"/>
                  <a:pt x="86320" y="101203"/>
                </a:cubicBezTo>
                <a:lnTo>
                  <a:pt x="86320" y="59531"/>
                </a:lnTo>
                <a:cubicBezTo>
                  <a:pt x="86320" y="54583"/>
                  <a:pt x="90301" y="50602"/>
                  <a:pt x="95250" y="50602"/>
                </a:cubicBezTo>
                <a:close/>
                <a:moveTo>
                  <a:pt x="85316" y="130969"/>
                </a:moveTo>
                <a:cubicBezTo>
                  <a:pt x="85090" y="127281"/>
                  <a:pt x="86929" y="123773"/>
                  <a:pt x="90090" y="121861"/>
                </a:cubicBezTo>
                <a:cubicBezTo>
                  <a:pt x="93251" y="119949"/>
                  <a:pt x="97212" y="119949"/>
                  <a:pt x="100373" y="121861"/>
                </a:cubicBezTo>
                <a:cubicBezTo>
                  <a:pt x="103534" y="123773"/>
                  <a:pt x="105373" y="127281"/>
                  <a:pt x="105147" y="130969"/>
                </a:cubicBezTo>
                <a:cubicBezTo>
                  <a:pt x="105373" y="134656"/>
                  <a:pt x="103534" y="138165"/>
                  <a:pt x="100373" y="140077"/>
                </a:cubicBezTo>
                <a:cubicBezTo>
                  <a:pt x="97212" y="141989"/>
                  <a:pt x="93251" y="141989"/>
                  <a:pt x="90090" y="140077"/>
                </a:cubicBezTo>
                <a:cubicBezTo>
                  <a:pt x="86929" y="138165"/>
                  <a:pt x="85090" y="134656"/>
                  <a:pt x="85316" y="130969"/>
                </a:cubicBez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20" name="Text 16"/>
          <p:cNvSpPr/>
          <p:nvPr/>
        </p:nvSpPr>
        <p:spPr>
          <a:xfrm>
            <a:off x="4657725" y="5410200"/>
            <a:ext cx="129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Defaulters Pattern</a:t>
            </a:r>
            <a:endParaRPr lang="en-US" sz="1600" dirty="0"/>
          </a:p>
        </p:txBody>
      </p:sp>
      <p:sp>
        <p:nvSpPr>
          <p:cNvPr id="21" name="Text 17"/>
          <p:cNvSpPr/>
          <p:nvPr/>
        </p:nvSpPr>
        <p:spPr>
          <a:xfrm>
            <a:off x="4343400" y="5715000"/>
            <a:ext cx="10763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Income ↔ Credit: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7569175" y="5715000"/>
            <a:ext cx="3429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0.04</a:t>
            </a:r>
            <a:endParaRPr lang="en-US" sz="1600" dirty="0"/>
          </a:p>
        </p:txBody>
      </p:sp>
      <p:sp>
        <p:nvSpPr>
          <p:cNvPr id="23" name="Text 19"/>
          <p:cNvSpPr/>
          <p:nvPr/>
        </p:nvSpPr>
        <p:spPr>
          <a:xfrm>
            <a:off x="4343400" y="5943600"/>
            <a:ext cx="11620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Income ↔ Annuity:</a:t>
            </a:r>
            <a:endParaRPr lang="en-US" sz="1600" dirty="0"/>
          </a:p>
        </p:txBody>
      </p:sp>
      <p:sp>
        <p:nvSpPr>
          <p:cNvPr id="24" name="Text 20"/>
          <p:cNvSpPr/>
          <p:nvPr/>
        </p:nvSpPr>
        <p:spPr>
          <a:xfrm>
            <a:off x="7570961" y="5943600"/>
            <a:ext cx="3429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0.05</a:t>
            </a:r>
            <a:endParaRPr lang="en-US" sz="1600" dirty="0"/>
          </a:p>
        </p:txBody>
      </p:sp>
      <p:sp>
        <p:nvSpPr>
          <p:cNvPr id="25" name="Text 21"/>
          <p:cNvSpPr/>
          <p:nvPr/>
        </p:nvSpPr>
        <p:spPr>
          <a:xfrm>
            <a:off x="4343400" y="6210300"/>
            <a:ext cx="35623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Weak income association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8096250" y="5295900"/>
            <a:ext cx="3714750" cy="1181100"/>
          </a:xfrm>
          <a:custGeom>
            <a:avLst/>
            <a:gdLst/>
            <a:ahLst/>
            <a:cxnLst/>
            <a:rect l="l" t="t" r="r" b="b"/>
            <a:pathLst>
              <a:path w="3714750" h="1181100">
                <a:moveTo>
                  <a:pt x="38100" y="0"/>
                </a:moveTo>
                <a:lnTo>
                  <a:pt x="3638545" y="0"/>
                </a:lnTo>
                <a:cubicBezTo>
                  <a:pt x="3680604" y="0"/>
                  <a:pt x="3714750" y="34146"/>
                  <a:pt x="3714750" y="76205"/>
                </a:cubicBezTo>
                <a:lnTo>
                  <a:pt x="3714750" y="1104895"/>
                </a:lnTo>
                <a:cubicBezTo>
                  <a:pt x="3714750" y="1146982"/>
                  <a:pt x="3680632" y="1181100"/>
                  <a:pt x="3638545" y="1181100"/>
                </a:cubicBezTo>
                <a:lnTo>
                  <a:pt x="38100" y="1181100"/>
                </a:lnTo>
                <a:cubicBezTo>
                  <a:pt x="17072" y="1181100"/>
                  <a:pt x="0" y="1164028"/>
                  <a:pt x="0" y="11430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sx="100000" sy="100000" kx="0" ky="0" algn="bl" rotWithShape="0" blurRad="28575" dist="9525" dir="5400000">
              <a:srgbClr val="000000">
                <a:alpha val="10196"/>
              </a:srgbClr>
            </a:outerShdw>
          </a:effectLst>
        </p:spPr>
      </p:sp>
      <p:sp>
        <p:nvSpPr>
          <p:cNvPr id="27" name="Shape 23"/>
          <p:cNvSpPr/>
          <p:nvPr/>
        </p:nvSpPr>
        <p:spPr>
          <a:xfrm>
            <a:off x="8096250" y="5295900"/>
            <a:ext cx="38100" cy="1181100"/>
          </a:xfrm>
          <a:custGeom>
            <a:avLst/>
            <a:gdLst/>
            <a:ahLst/>
            <a:cxnLst/>
            <a:rect l="l" t="t" r="r" b="b"/>
            <a:pathLst>
              <a:path w="38100" h="1181100">
                <a:moveTo>
                  <a:pt x="38100" y="0"/>
                </a:moveTo>
                <a:lnTo>
                  <a:pt x="38100" y="0"/>
                </a:lnTo>
                <a:lnTo>
                  <a:pt x="38100" y="1181100"/>
                </a:lnTo>
                <a:lnTo>
                  <a:pt x="38100" y="1181100"/>
                </a:lnTo>
                <a:cubicBezTo>
                  <a:pt x="17072" y="1181100"/>
                  <a:pt x="0" y="1164028"/>
                  <a:pt x="0" y="11430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2E4057"/>
          </a:solidFill>
          <a:ln/>
        </p:spPr>
      </p:sp>
      <p:sp>
        <p:nvSpPr>
          <p:cNvPr id="28" name="Shape 24"/>
          <p:cNvSpPr/>
          <p:nvPr/>
        </p:nvSpPr>
        <p:spPr>
          <a:xfrm>
            <a:off x="8277225" y="5429250"/>
            <a:ext cx="142875" cy="190500"/>
          </a:xfrm>
          <a:custGeom>
            <a:avLst/>
            <a:gdLst/>
            <a:ahLst/>
            <a:cxnLst/>
            <a:rect l="l" t="t" r="r" b="b"/>
            <a:pathLst>
              <a:path w="142875" h="190500">
                <a:moveTo>
                  <a:pt x="108979" y="142875"/>
                </a:moveTo>
                <a:cubicBezTo>
                  <a:pt x="111696" y="134578"/>
                  <a:pt x="117128" y="127062"/>
                  <a:pt x="123267" y="120588"/>
                </a:cubicBezTo>
                <a:cubicBezTo>
                  <a:pt x="135434" y="107789"/>
                  <a:pt x="142875" y="90488"/>
                  <a:pt x="142875" y="71438"/>
                </a:cubicBezTo>
                <a:cubicBezTo>
                  <a:pt x="142875" y="31998"/>
                  <a:pt x="110877" y="0"/>
                  <a:pt x="71437" y="0"/>
                </a:cubicBezTo>
                <a:cubicBezTo>
                  <a:pt x="31998" y="0"/>
                  <a:pt x="0" y="31998"/>
                  <a:pt x="0" y="71438"/>
                </a:cubicBezTo>
                <a:cubicBezTo>
                  <a:pt x="0" y="90488"/>
                  <a:pt x="7441" y="107789"/>
                  <a:pt x="19608" y="120588"/>
                </a:cubicBezTo>
                <a:cubicBezTo>
                  <a:pt x="25747" y="127062"/>
                  <a:pt x="31217" y="134578"/>
                  <a:pt x="33896" y="142875"/>
                </a:cubicBezTo>
                <a:lnTo>
                  <a:pt x="108942" y="142875"/>
                </a:lnTo>
                <a:close/>
                <a:moveTo>
                  <a:pt x="107156" y="160734"/>
                </a:moveTo>
                <a:lnTo>
                  <a:pt x="35719" y="160734"/>
                </a:lnTo>
                <a:lnTo>
                  <a:pt x="35719" y="166688"/>
                </a:lnTo>
                <a:cubicBezTo>
                  <a:pt x="35719" y="183133"/>
                  <a:pt x="49039" y="196453"/>
                  <a:pt x="65484" y="196453"/>
                </a:cubicBezTo>
                <a:lnTo>
                  <a:pt x="77391" y="196453"/>
                </a:lnTo>
                <a:cubicBezTo>
                  <a:pt x="93836" y="196453"/>
                  <a:pt x="107156" y="183133"/>
                  <a:pt x="107156" y="166688"/>
                </a:cubicBezTo>
                <a:lnTo>
                  <a:pt x="107156" y="160734"/>
                </a:lnTo>
                <a:close/>
                <a:moveTo>
                  <a:pt x="68461" y="41672"/>
                </a:moveTo>
                <a:cubicBezTo>
                  <a:pt x="53653" y="41672"/>
                  <a:pt x="41672" y="53653"/>
                  <a:pt x="41672" y="68461"/>
                </a:cubicBezTo>
                <a:cubicBezTo>
                  <a:pt x="41672" y="73409"/>
                  <a:pt x="37691" y="77391"/>
                  <a:pt x="32742" y="77391"/>
                </a:cubicBezTo>
                <a:cubicBezTo>
                  <a:pt x="27794" y="77391"/>
                  <a:pt x="23812" y="73409"/>
                  <a:pt x="23812" y="68461"/>
                </a:cubicBezTo>
                <a:cubicBezTo>
                  <a:pt x="23812" y="43793"/>
                  <a:pt x="43793" y="23812"/>
                  <a:pt x="68461" y="23812"/>
                </a:cubicBezTo>
                <a:cubicBezTo>
                  <a:pt x="73409" y="23812"/>
                  <a:pt x="77391" y="27794"/>
                  <a:pt x="77391" y="32742"/>
                </a:cubicBezTo>
                <a:cubicBezTo>
                  <a:pt x="77391" y="37691"/>
                  <a:pt x="73409" y="41672"/>
                  <a:pt x="68461" y="41672"/>
                </a:cubicBezTo>
                <a:close/>
              </a:path>
            </a:pathLst>
          </a:custGeom>
          <a:solidFill>
            <a:srgbClr val="C0A062"/>
          </a:solidFill>
          <a:ln/>
        </p:spPr>
      </p:sp>
      <p:sp>
        <p:nvSpPr>
          <p:cNvPr id="29" name="Text 25"/>
          <p:cNvSpPr/>
          <p:nvPr/>
        </p:nvSpPr>
        <p:spPr>
          <a:xfrm>
            <a:off x="8543925" y="5410200"/>
            <a:ext cx="819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2E405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Insight</a:t>
            </a:r>
            <a:endParaRPr lang="en-US" sz="1600" dirty="0"/>
          </a:p>
        </p:txBody>
      </p:sp>
      <p:sp>
        <p:nvSpPr>
          <p:cNvPr id="30" name="Text 26"/>
          <p:cNvSpPr/>
          <p:nvPr/>
        </p:nvSpPr>
        <p:spPr>
          <a:xfrm>
            <a:off x="8229600" y="5715000"/>
            <a:ext cx="3533775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5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The stark contrast in correlation patterns suggests </a:t>
            </a:r>
            <a:pPr>
              <a:lnSpc>
                <a:spcPct val="140000"/>
              </a:lnSpc>
            </a:pPr>
            <a:r>
              <a:rPr lang="en-US" sz="1050" b="1" dirty="0">
                <a:solidFill>
                  <a:srgbClr val="2D3748"/>
                </a:solidFill>
                <a:highlight>
                  <a:srgbClr val="C0A062">
                    <a:alpha val="20000"/>
                  </a:srgbClr>
                </a:highlight>
                <a:latin typeface="Liter" pitchFamily="34" charset="0"/>
                <a:ea typeface="Liter" pitchFamily="34" charset="-122"/>
                <a:cs typeface="Liter" pitchFamily="34" charset="-120"/>
              </a:rPr>
              <a:t>underwriting misalignment </a:t>
            </a:r>
            <a:pPr>
              <a:lnSpc>
                <a:spcPct val="140000"/>
              </a:lnSpc>
            </a:pPr>
            <a:r>
              <a:rPr lang="en-US" sz="105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for defaulters—loan amounts not properly matched to income capacity.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6677" y="366677"/>
            <a:ext cx="11531982" cy="220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55" b="1" spc="115" kern="0" dirty="0">
                <a:solidFill>
                  <a:srgbClr val="C0A06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06 • Bivariate Analysis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366677" y="623350"/>
            <a:ext cx="11623651" cy="3666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599" b="1" dirty="0">
                <a:solidFill>
                  <a:srgbClr val="2E405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Employment Duration vs. Income Analysis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66677" y="1063362"/>
            <a:ext cx="6921023" cy="5793492"/>
          </a:xfrm>
          <a:custGeom>
            <a:avLst/>
            <a:gdLst/>
            <a:ahLst/>
            <a:cxnLst/>
            <a:rect l="l" t="t" r="r" b="b"/>
            <a:pathLst>
              <a:path w="6921023" h="5793492">
                <a:moveTo>
                  <a:pt x="73346" y="0"/>
                </a:moveTo>
                <a:lnTo>
                  <a:pt x="6847677" y="0"/>
                </a:lnTo>
                <a:cubicBezTo>
                  <a:pt x="6888185" y="0"/>
                  <a:pt x="6921023" y="32838"/>
                  <a:pt x="6921023" y="73346"/>
                </a:cubicBezTo>
                <a:lnTo>
                  <a:pt x="6921023" y="5720146"/>
                </a:lnTo>
                <a:cubicBezTo>
                  <a:pt x="6921023" y="5760654"/>
                  <a:pt x="6888185" y="5793492"/>
                  <a:pt x="6847677" y="5793492"/>
                </a:cubicBezTo>
                <a:lnTo>
                  <a:pt x="73346" y="5793492"/>
                </a:lnTo>
                <a:cubicBezTo>
                  <a:pt x="32838" y="5793492"/>
                  <a:pt x="0" y="5760654"/>
                  <a:pt x="0" y="5720146"/>
                </a:cubicBezTo>
                <a:lnTo>
                  <a:pt x="0" y="73346"/>
                </a:lnTo>
                <a:cubicBezTo>
                  <a:pt x="0" y="32865"/>
                  <a:pt x="32865" y="0"/>
                  <a:pt x="73346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sx="100000" sy="100000" kx="0" ky="0" algn="bl" rotWithShape="0" blurRad="27501" dist="9167" dir="5400000">
              <a:srgbClr val="000000">
                <a:alpha val="10196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13347" y="1210033"/>
            <a:ext cx="6710183" cy="25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99" b="1" dirty="0">
                <a:solidFill>
                  <a:srgbClr val="2E405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Employment Duration vs. Total Income by Repayment Status</a:t>
            </a:r>
            <a:endParaRPr lang="en-US" sz="1600" dirty="0"/>
          </a:p>
        </p:txBody>
      </p:sp>
      <p:pic>
        <p:nvPicPr>
          <p:cNvPr id="6" name="Image 0" descr="https://kimi-img.moonshot.cn/pub/slides/26-02-28-10:53:53-d6h5hgdbf30c70rs4no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13347" y="1540042"/>
            <a:ext cx="6361841" cy="5170141"/>
          </a:xfrm>
          <a:prstGeom prst="roundRect">
            <a:avLst>
              <a:gd name="adj" fmla="val 0"/>
            </a:avLst>
          </a:prstGeom>
        </p:spPr>
      </p:pic>
      <p:sp>
        <p:nvSpPr>
          <p:cNvPr id="7" name="Shape 4"/>
          <p:cNvSpPr/>
          <p:nvPr/>
        </p:nvSpPr>
        <p:spPr>
          <a:xfrm>
            <a:off x="7420261" y="1063362"/>
            <a:ext cx="4400120" cy="2255062"/>
          </a:xfrm>
          <a:custGeom>
            <a:avLst/>
            <a:gdLst/>
            <a:ahLst/>
            <a:cxnLst/>
            <a:rect l="l" t="t" r="r" b="b"/>
            <a:pathLst>
              <a:path w="4400120" h="2255062">
                <a:moveTo>
                  <a:pt x="36668" y="0"/>
                </a:moveTo>
                <a:lnTo>
                  <a:pt x="4326786" y="0"/>
                </a:lnTo>
                <a:cubicBezTo>
                  <a:pt x="4367287" y="0"/>
                  <a:pt x="4400120" y="32833"/>
                  <a:pt x="4400120" y="73335"/>
                </a:cubicBezTo>
                <a:lnTo>
                  <a:pt x="4400120" y="2181727"/>
                </a:lnTo>
                <a:cubicBezTo>
                  <a:pt x="4400120" y="2222202"/>
                  <a:pt x="4367260" y="2255062"/>
                  <a:pt x="4326786" y="2255062"/>
                </a:cubicBezTo>
                <a:lnTo>
                  <a:pt x="36668" y="2255062"/>
                </a:lnTo>
                <a:cubicBezTo>
                  <a:pt x="16417" y="2255062"/>
                  <a:pt x="0" y="2238645"/>
                  <a:pt x="0" y="2218394"/>
                </a:cubicBezTo>
                <a:lnTo>
                  <a:pt x="0" y="36668"/>
                </a:lnTo>
                <a:cubicBezTo>
                  <a:pt x="0" y="16430"/>
                  <a:pt x="16430" y="0"/>
                  <a:pt x="36668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sx="100000" sy="100000" kx="0" ky="0" algn="bl" rotWithShape="0" blurRad="27501" dist="9167" dir="5400000">
              <a:srgbClr val="000000">
                <a:alpha val="10196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420261" y="1063362"/>
            <a:ext cx="36668" cy="2255062"/>
          </a:xfrm>
          <a:custGeom>
            <a:avLst/>
            <a:gdLst/>
            <a:ahLst/>
            <a:cxnLst/>
            <a:rect l="l" t="t" r="r" b="b"/>
            <a:pathLst>
              <a:path w="36668" h="2255062">
                <a:moveTo>
                  <a:pt x="36668" y="0"/>
                </a:moveTo>
                <a:lnTo>
                  <a:pt x="36668" y="0"/>
                </a:lnTo>
                <a:lnTo>
                  <a:pt x="36668" y="2255062"/>
                </a:lnTo>
                <a:lnTo>
                  <a:pt x="36668" y="2255062"/>
                </a:lnTo>
                <a:cubicBezTo>
                  <a:pt x="16417" y="2255062"/>
                  <a:pt x="0" y="2238645"/>
                  <a:pt x="0" y="2218394"/>
                </a:cubicBezTo>
                <a:lnTo>
                  <a:pt x="0" y="36668"/>
                </a:lnTo>
                <a:cubicBezTo>
                  <a:pt x="0" y="16430"/>
                  <a:pt x="16430" y="0"/>
                  <a:pt x="36668" y="0"/>
                </a:cubicBezTo>
                <a:close/>
              </a:path>
            </a:pathLst>
          </a:custGeom>
          <a:solidFill>
            <a:srgbClr val="2E4057"/>
          </a:solidFill>
          <a:ln/>
        </p:spPr>
      </p:sp>
      <p:sp>
        <p:nvSpPr>
          <p:cNvPr id="9" name="Shape 6"/>
          <p:cNvSpPr/>
          <p:nvPr/>
        </p:nvSpPr>
        <p:spPr>
          <a:xfrm>
            <a:off x="7612767" y="1347537"/>
            <a:ext cx="220006" cy="220006"/>
          </a:xfrm>
          <a:custGeom>
            <a:avLst/>
            <a:gdLst/>
            <a:ahLst/>
            <a:cxnLst/>
            <a:rect l="l" t="t" r="r" b="b"/>
            <a:pathLst>
              <a:path w="220006" h="220006">
                <a:moveTo>
                  <a:pt x="85940" y="20626"/>
                </a:moveTo>
                <a:lnTo>
                  <a:pt x="134066" y="20626"/>
                </a:lnTo>
                <a:cubicBezTo>
                  <a:pt x="135957" y="20626"/>
                  <a:pt x="137504" y="22172"/>
                  <a:pt x="137504" y="24063"/>
                </a:cubicBezTo>
                <a:lnTo>
                  <a:pt x="137504" y="41251"/>
                </a:lnTo>
                <a:lnTo>
                  <a:pt x="82502" y="41251"/>
                </a:lnTo>
                <a:lnTo>
                  <a:pt x="82502" y="24063"/>
                </a:lnTo>
                <a:cubicBezTo>
                  <a:pt x="82502" y="22172"/>
                  <a:pt x="84049" y="20626"/>
                  <a:pt x="85940" y="20626"/>
                </a:cubicBezTo>
                <a:close/>
                <a:moveTo>
                  <a:pt x="61877" y="24063"/>
                </a:moveTo>
                <a:lnTo>
                  <a:pt x="61877" y="41251"/>
                </a:lnTo>
                <a:lnTo>
                  <a:pt x="27501" y="41251"/>
                </a:lnTo>
                <a:cubicBezTo>
                  <a:pt x="12332" y="41251"/>
                  <a:pt x="0" y="53583"/>
                  <a:pt x="0" y="68752"/>
                </a:cubicBezTo>
                <a:lnTo>
                  <a:pt x="0" y="110003"/>
                </a:lnTo>
                <a:lnTo>
                  <a:pt x="220006" y="110003"/>
                </a:lnTo>
                <a:lnTo>
                  <a:pt x="220006" y="68752"/>
                </a:lnTo>
                <a:cubicBezTo>
                  <a:pt x="220006" y="53583"/>
                  <a:pt x="207674" y="41251"/>
                  <a:pt x="192505" y="41251"/>
                </a:cubicBezTo>
                <a:lnTo>
                  <a:pt x="158129" y="41251"/>
                </a:lnTo>
                <a:lnTo>
                  <a:pt x="158129" y="24063"/>
                </a:lnTo>
                <a:cubicBezTo>
                  <a:pt x="158129" y="10785"/>
                  <a:pt x="147344" y="0"/>
                  <a:pt x="134066" y="0"/>
                </a:cubicBezTo>
                <a:lnTo>
                  <a:pt x="85940" y="0"/>
                </a:lnTo>
                <a:cubicBezTo>
                  <a:pt x="72662" y="0"/>
                  <a:pt x="61877" y="10785"/>
                  <a:pt x="61877" y="24063"/>
                </a:cubicBezTo>
                <a:close/>
                <a:moveTo>
                  <a:pt x="220006" y="130629"/>
                </a:moveTo>
                <a:lnTo>
                  <a:pt x="137504" y="130629"/>
                </a:lnTo>
                <a:lnTo>
                  <a:pt x="137504" y="137504"/>
                </a:lnTo>
                <a:cubicBezTo>
                  <a:pt x="137504" y="145109"/>
                  <a:pt x="131359" y="151254"/>
                  <a:pt x="123753" y="151254"/>
                </a:cubicBezTo>
                <a:lnTo>
                  <a:pt x="96253" y="151254"/>
                </a:lnTo>
                <a:cubicBezTo>
                  <a:pt x="88647" y="151254"/>
                  <a:pt x="82502" y="145109"/>
                  <a:pt x="82502" y="137504"/>
                </a:cubicBezTo>
                <a:lnTo>
                  <a:pt x="82502" y="130629"/>
                </a:lnTo>
                <a:lnTo>
                  <a:pt x="0" y="130629"/>
                </a:lnTo>
                <a:lnTo>
                  <a:pt x="0" y="178755"/>
                </a:lnTo>
                <a:cubicBezTo>
                  <a:pt x="0" y="193923"/>
                  <a:pt x="12332" y="206256"/>
                  <a:pt x="27501" y="206256"/>
                </a:cubicBezTo>
                <a:lnTo>
                  <a:pt x="192505" y="206256"/>
                </a:lnTo>
                <a:cubicBezTo>
                  <a:pt x="207674" y="206256"/>
                  <a:pt x="220006" y="193923"/>
                  <a:pt x="220006" y="178755"/>
                </a:cubicBezTo>
                <a:lnTo>
                  <a:pt x="220006" y="130629"/>
                </a:lnTo>
                <a:close/>
              </a:path>
            </a:pathLst>
          </a:custGeom>
          <a:solidFill>
            <a:srgbClr val="2E4057"/>
          </a:solidFill>
          <a:ln/>
        </p:spPr>
      </p:sp>
      <p:sp>
        <p:nvSpPr>
          <p:cNvPr id="10" name="Text 7"/>
          <p:cNvSpPr/>
          <p:nvPr/>
        </p:nvSpPr>
        <p:spPr>
          <a:xfrm>
            <a:off x="7970277" y="1329203"/>
            <a:ext cx="1549209" cy="25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99" b="1" dirty="0">
                <a:solidFill>
                  <a:srgbClr val="2E405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Employment Tenure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7585266" y="1695880"/>
            <a:ext cx="4161780" cy="4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155" b="1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Long employment histories</a:t>
            </a:r>
            <a:pPr>
              <a:lnSpc>
                <a:spcPct val="140000"/>
              </a:lnSpc>
            </a:pPr>
            <a:r>
              <a:rPr lang="en-US" sz="1155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are more prevalent among on-time payers, indicating job stability as a key predictor.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7585266" y="2282562"/>
            <a:ext cx="4088445" cy="770021"/>
          </a:xfrm>
          <a:custGeom>
            <a:avLst/>
            <a:gdLst/>
            <a:ahLst/>
            <a:cxnLst/>
            <a:rect l="l" t="t" r="r" b="b"/>
            <a:pathLst>
              <a:path w="4088445" h="770021">
                <a:moveTo>
                  <a:pt x="36668" y="0"/>
                </a:moveTo>
                <a:lnTo>
                  <a:pt x="4051777" y="0"/>
                </a:lnTo>
                <a:cubicBezTo>
                  <a:pt x="4072028" y="0"/>
                  <a:pt x="4088445" y="16417"/>
                  <a:pt x="4088445" y="36668"/>
                </a:cubicBezTo>
                <a:lnTo>
                  <a:pt x="4088445" y="733353"/>
                </a:lnTo>
                <a:cubicBezTo>
                  <a:pt x="4088445" y="753604"/>
                  <a:pt x="4072028" y="770021"/>
                  <a:pt x="4051777" y="770021"/>
                </a:cubicBezTo>
                <a:lnTo>
                  <a:pt x="36668" y="770021"/>
                </a:lnTo>
                <a:cubicBezTo>
                  <a:pt x="16431" y="770021"/>
                  <a:pt x="0" y="753590"/>
                  <a:pt x="0" y="733353"/>
                </a:cubicBezTo>
                <a:lnTo>
                  <a:pt x="0" y="36668"/>
                </a:lnTo>
                <a:cubicBezTo>
                  <a:pt x="0" y="16431"/>
                  <a:pt x="16431" y="0"/>
                  <a:pt x="36668" y="0"/>
                </a:cubicBezTo>
                <a:close/>
              </a:path>
            </a:pathLst>
          </a:custGeom>
          <a:solidFill>
            <a:srgbClr val="2E4057">
              <a:alpha val="10196"/>
            </a:srgbClr>
          </a:solidFill>
          <a:ln/>
        </p:spPr>
      </p:sp>
      <p:sp>
        <p:nvSpPr>
          <p:cNvPr id="13" name="Text 10"/>
          <p:cNvSpPr/>
          <p:nvPr/>
        </p:nvSpPr>
        <p:spPr>
          <a:xfrm>
            <a:off x="7695269" y="2392565"/>
            <a:ext cx="3932608" cy="550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11" b="1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Median Tenure:</a:t>
            </a:r>
            <a:endParaRPr lang="en-US" sz="1600" dirty="0"/>
          </a:p>
          <a:p>
            <a:pPr>
              <a:lnSpc>
                <a:spcPct val="120000"/>
              </a:lnSpc>
            </a:pPr>
            <a:r>
              <a:rPr lang="en-US" sz="1011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Repayers: ~8.5 years</a:t>
            </a:r>
            <a:endParaRPr lang="en-US" sz="1600" dirty="0"/>
          </a:p>
          <a:p>
            <a:pPr>
              <a:lnSpc>
                <a:spcPct val="120000"/>
              </a:lnSpc>
            </a:pPr>
            <a:r>
              <a:rPr lang="en-US" sz="1011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Defaulters: ~4.2 years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7420261" y="3428427"/>
            <a:ext cx="4400120" cy="2255062"/>
          </a:xfrm>
          <a:custGeom>
            <a:avLst/>
            <a:gdLst/>
            <a:ahLst/>
            <a:cxnLst/>
            <a:rect l="l" t="t" r="r" b="b"/>
            <a:pathLst>
              <a:path w="4400120" h="2255062">
                <a:moveTo>
                  <a:pt x="36668" y="0"/>
                </a:moveTo>
                <a:lnTo>
                  <a:pt x="4326786" y="0"/>
                </a:lnTo>
                <a:cubicBezTo>
                  <a:pt x="4367287" y="0"/>
                  <a:pt x="4400120" y="32833"/>
                  <a:pt x="4400120" y="73335"/>
                </a:cubicBezTo>
                <a:lnTo>
                  <a:pt x="4400120" y="2181727"/>
                </a:lnTo>
                <a:cubicBezTo>
                  <a:pt x="4400120" y="2222202"/>
                  <a:pt x="4367260" y="2255062"/>
                  <a:pt x="4326786" y="2255062"/>
                </a:cubicBezTo>
                <a:lnTo>
                  <a:pt x="36668" y="2255062"/>
                </a:lnTo>
                <a:cubicBezTo>
                  <a:pt x="16417" y="2255062"/>
                  <a:pt x="0" y="2238645"/>
                  <a:pt x="0" y="2218394"/>
                </a:cubicBezTo>
                <a:lnTo>
                  <a:pt x="0" y="36668"/>
                </a:lnTo>
                <a:cubicBezTo>
                  <a:pt x="0" y="16430"/>
                  <a:pt x="16430" y="0"/>
                  <a:pt x="36668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sx="100000" sy="100000" kx="0" ky="0" algn="bl" rotWithShape="0" blurRad="27501" dist="9167" dir="5400000">
              <a:srgbClr val="000000">
                <a:alpha val="10196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7420261" y="3428427"/>
            <a:ext cx="36668" cy="2255062"/>
          </a:xfrm>
          <a:custGeom>
            <a:avLst/>
            <a:gdLst/>
            <a:ahLst/>
            <a:cxnLst/>
            <a:rect l="l" t="t" r="r" b="b"/>
            <a:pathLst>
              <a:path w="36668" h="2255062">
                <a:moveTo>
                  <a:pt x="36668" y="0"/>
                </a:moveTo>
                <a:lnTo>
                  <a:pt x="36668" y="0"/>
                </a:lnTo>
                <a:lnTo>
                  <a:pt x="36668" y="2255062"/>
                </a:lnTo>
                <a:lnTo>
                  <a:pt x="36668" y="2255062"/>
                </a:lnTo>
                <a:cubicBezTo>
                  <a:pt x="16417" y="2255062"/>
                  <a:pt x="0" y="2238645"/>
                  <a:pt x="0" y="2218394"/>
                </a:cubicBezTo>
                <a:lnTo>
                  <a:pt x="0" y="36668"/>
                </a:lnTo>
                <a:cubicBezTo>
                  <a:pt x="0" y="16430"/>
                  <a:pt x="16430" y="0"/>
                  <a:pt x="36668" y="0"/>
                </a:cubicBezTo>
                <a:close/>
              </a:path>
            </a:pathLst>
          </a:custGeom>
          <a:solidFill>
            <a:srgbClr val="C0A062"/>
          </a:solidFill>
          <a:ln/>
        </p:spPr>
      </p:sp>
      <p:sp>
        <p:nvSpPr>
          <p:cNvPr id="16" name="Shape 13"/>
          <p:cNvSpPr/>
          <p:nvPr/>
        </p:nvSpPr>
        <p:spPr>
          <a:xfrm>
            <a:off x="7654018" y="3804271"/>
            <a:ext cx="137504" cy="220006"/>
          </a:xfrm>
          <a:custGeom>
            <a:avLst/>
            <a:gdLst/>
            <a:ahLst/>
            <a:cxnLst/>
            <a:rect l="l" t="t" r="r" b="b"/>
            <a:pathLst>
              <a:path w="137504" h="220006">
                <a:moveTo>
                  <a:pt x="58439" y="10313"/>
                </a:moveTo>
                <a:cubicBezTo>
                  <a:pt x="58439" y="4598"/>
                  <a:pt x="63037" y="0"/>
                  <a:pt x="68752" y="0"/>
                </a:cubicBezTo>
                <a:cubicBezTo>
                  <a:pt x="74467" y="0"/>
                  <a:pt x="79065" y="4598"/>
                  <a:pt x="79065" y="10313"/>
                </a:cubicBezTo>
                <a:lnTo>
                  <a:pt x="79065" y="27501"/>
                </a:lnTo>
                <a:lnTo>
                  <a:pt x="103128" y="27501"/>
                </a:lnTo>
                <a:cubicBezTo>
                  <a:pt x="110733" y="27501"/>
                  <a:pt x="116878" y="33645"/>
                  <a:pt x="116878" y="41251"/>
                </a:cubicBezTo>
                <a:cubicBezTo>
                  <a:pt x="116878" y="48857"/>
                  <a:pt x="110733" y="55002"/>
                  <a:pt x="103128" y="55002"/>
                </a:cubicBezTo>
                <a:lnTo>
                  <a:pt x="53755" y="55002"/>
                </a:lnTo>
                <a:cubicBezTo>
                  <a:pt x="43056" y="55002"/>
                  <a:pt x="34376" y="63681"/>
                  <a:pt x="34376" y="74381"/>
                </a:cubicBezTo>
                <a:cubicBezTo>
                  <a:pt x="34376" y="84049"/>
                  <a:pt x="41466" y="92213"/>
                  <a:pt x="51005" y="93588"/>
                </a:cubicBezTo>
                <a:lnTo>
                  <a:pt x="90366" y="99218"/>
                </a:lnTo>
                <a:cubicBezTo>
                  <a:pt x="113484" y="102526"/>
                  <a:pt x="130629" y="122292"/>
                  <a:pt x="130629" y="145625"/>
                </a:cubicBezTo>
                <a:cubicBezTo>
                  <a:pt x="130629" y="171536"/>
                  <a:pt x="109616" y="192505"/>
                  <a:pt x="83748" y="192505"/>
                </a:cubicBezTo>
                <a:lnTo>
                  <a:pt x="79065" y="192505"/>
                </a:lnTo>
                <a:lnTo>
                  <a:pt x="79065" y="209693"/>
                </a:lnTo>
                <a:cubicBezTo>
                  <a:pt x="79065" y="215408"/>
                  <a:pt x="74467" y="220006"/>
                  <a:pt x="68752" y="220006"/>
                </a:cubicBezTo>
                <a:cubicBezTo>
                  <a:pt x="63037" y="220006"/>
                  <a:pt x="58439" y="215408"/>
                  <a:pt x="58439" y="209693"/>
                </a:cubicBezTo>
                <a:lnTo>
                  <a:pt x="58439" y="192505"/>
                </a:lnTo>
                <a:lnTo>
                  <a:pt x="27501" y="192505"/>
                </a:lnTo>
                <a:cubicBezTo>
                  <a:pt x="19895" y="192505"/>
                  <a:pt x="13750" y="186361"/>
                  <a:pt x="13750" y="178755"/>
                </a:cubicBezTo>
                <a:cubicBezTo>
                  <a:pt x="13750" y="171149"/>
                  <a:pt x="19895" y="165005"/>
                  <a:pt x="27501" y="165005"/>
                </a:cubicBezTo>
                <a:lnTo>
                  <a:pt x="83748" y="165005"/>
                </a:lnTo>
                <a:cubicBezTo>
                  <a:pt x="94448" y="165005"/>
                  <a:pt x="103128" y="156325"/>
                  <a:pt x="103128" y="145625"/>
                </a:cubicBezTo>
                <a:cubicBezTo>
                  <a:pt x="103128" y="135957"/>
                  <a:pt x="96038" y="127793"/>
                  <a:pt x="86498" y="126418"/>
                </a:cubicBezTo>
                <a:lnTo>
                  <a:pt x="47138" y="120788"/>
                </a:lnTo>
                <a:cubicBezTo>
                  <a:pt x="24020" y="117523"/>
                  <a:pt x="6875" y="97714"/>
                  <a:pt x="6875" y="74381"/>
                </a:cubicBezTo>
                <a:cubicBezTo>
                  <a:pt x="6875" y="48513"/>
                  <a:pt x="27887" y="27501"/>
                  <a:pt x="53755" y="27501"/>
                </a:cubicBezTo>
                <a:lnTo>
                  <a:pt x="58439" y="27501"/>
                </a:lnTo>
                <a:lnTo>
                  <a:pt x="58439" y="10313"/>
                </a:lnTo>
                <a:close/>
              </a:path>
            </a:pathLst>
          </a:custGeom>
          <a:solidFill>
            <a:srgbClr val="C0A062"/>
          </a:solidFill>
          <a:ln/>
        </p:spPr>
      </p:sp>
      <p:sp>
        <p:nvSpPr>
          <p:cNvPr id="17" name="Text 14"/>
          <p:cNvSpPr/>
          <p:nvPr/>
        </p:nvSpPr>
        <p:spPr>
          <a:xfrm>
            <a:off x="7970277" y="3785937"/>
            <a:ext cx="1219200" cy="25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99" b="1" dirty="0">
                <a:solidFill>
                  <a:srgbClr val="2E405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Income Overlap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7585266" y="4152614"/>
            <a:ext cx="4161780" cy="4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155" b="1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Income ranges overlap strongly</a:t>
            </a:r>
            <a:pPr>
              <a:lnSpc>
                <a:spcPct val="140000"/>
              </a:lnSpc>
            </a:pPr>
            <a:r>
              <a:rPr lang="en-US" sz="1155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between repayment groups, suggesting income alone is insufficient for risk assessment.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7585266" y="4739296"/>
            <a:ext cx="4088445" cy="586683"/>
          </a:xfrm>
          <a:custGeom>
            <a:avLst/>
            <a:gdLst/>
            <a:ahLst/>
            <a:cxnLst/>
            <a:rect l="l" t="t" r="r" b="b"/>
            <a:pathLst>
              <a:path w="4088445" h="586683">
                <a:moveTo>
                  <a:pt x="36668" y="0"/>
                </a:moveTo>
                <a:lnTo>
                  <a:pt x="4051777" y="0"/>
                </a:lnTo>
                <a:cubicBezTo>
                  <a:pt x="4072028" y="0"/>
                  <a:pt x="4088445" y="16417"/>
                  <a:pt x="4088445" y="36668"/>
                </a:cubicBezTo>
                <a:lnTo>
                  <a:pt x="4088445" y="550015"/>
                </a:lnTo>
                <a:cubicBezTo>
                  <a:pt x="4088445" y="570266"/>
                  <a:pt x="4072028" y="586683"/>
                  <a:pt x="4051777" y="586683"/>
                </a:cubicBezTo>
                <a:lnTo>
                  <a:pt x="36668" y="586683"/>
                </a:lnTo>
                <a:cubicBezTo>
                  <a:pt x="16430" y="586683"/>
                  <a:pt x="0" y="570252"/>
                  <a:pt x="0" y="550015"/>
                </a:cubicBezTo>
                <a:lnTo>
                  <a:pt x="0" y="36668"/>
                </a:lnTo>
                <a:cubicBezTo>
                  <a:pt x="0" y="16430"/>
                  <a:pt x="16430" y="0"/>
                  <a:pt x="36668" y="0"/>
                </a:cubicBezTo>
                <a:close/>
              </a:path>
            </a:pathLst>
          </a:custGeom>
          <a:solidFill>
            <a:srgbClr val="C0A062">
              <a:alpha val="10196"/>
            </a:srgbClr>
          </a:solidFill>
          <a:ln/>
        </p:spPr>
      </p:sp>
      <p:sp>
        <p:nvSpPr>
          <p:cNvPr id="20" name="Text 17"/>
          <p:cNvSpPr/>
          <p:nvPr/>
        </p:nvSpPr>
        <p:spPr>
          <a:xfrm>
            <a:off x="7695269" y="4849299"/>
            <a:ext cx="3932608" cy="3666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11" b="1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Income Variance:</a:t>
            </a:r>
            <a:endParaRPr lang="en-US" sz="1600" dirty="0"/>
          </a:p>
          <a:p>
            <a:pPr>
              <a:lnSpc>
                <a:spcPct val="120000"/>
              </a:lnSpc>
            </a:pPr>
            <a:r>
              <a:rPr lang="en-US" sz="1011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Defaulters show higher variance, indicating greater heterogeneity.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7401928" y="5793492"/>
            <a:ext cx="4418454" cy="1063362"/>
          </a:xfrm>
          <a:custGeom>
            <a:avLst/>
            <a:gdLst/>
            <a:ahLst/>
            <a:cxnLst/>
            <a:rect l="l" t="t" r="r" b="b"/>
            <a:pathLst>
              <a:path w="4418454" h="1063362">
                <a:moveTo>
                  <a:pt x="73340" y="0"/>
                </a:moveTo>
                <a:lnTo>
                  <a:pt x="4345114" y="0"/>
                </a:lnTo>
                <a:cubicBezTo>
                  <a:pt x="4385619" y="0"/>
                  <a:pt x="4418454" y="32835"/>
                  <a:pt x="4418454" y="73340"/>
                </a:cubicBezTo>
                <a:lnTo>
                  <a:pt x="4418454" y="990022"/>
                </a:lnTo>
                <a:cubicBezTo>
                  <a:pt x="4418454" y="1030527"/>
                  <a:pt x="4385619" y="1063362"/>
                  <a:pt x="4345114" y="1063362"/>
                </a:cubicBezTo>
                <a:lnTo>
                  <a:pt x="73340" y="1063362"/>
                </a:lnTo>
                <a:cubicBezTo>
                  <a:pt x="32835" y="1063362"/>
                  <a:pt x="0" y="1030527"/>
                  <a:pt x="0" y="990022"/>
                </a:cubicBezTo>
                <a:lnTo>
                  <a:pt x="0" y="73340"/>
                </a:lnTo>
                <a:cubicBezTo>
                  <a:pt x="0" y="32863"/>
                  <a:pt x="32863" y="0"/>
                  <a:pt x="73340" y="0"/>
                </a:cubicBezTo>
                <a:close/>
              </a:path>
            </a:pathLst>
          </a:custGeom>
          <a:solidFill>
            <a:srgbClr val="2E4057"/>
          </a:solidFill>
          <a:ln/>
        </p:spPr>
      </p:sp>
      <p:sp>
        <p:nvSpPr>
          <p:cNvPr id="22" name="Shape 19"/>
          <p:cNvSpPr/>
          <p:nvPr/>
        </p:nvSpPr>
        <p:spPr>
          <a:xfrm>
            <a:off x="7560057" y="5958496"/>
            <a:ext cx="206256" cy="183338"/>
          </a:xfrm>
          <a:custGeom>
            <a:avLst/>
            <a:gdLst/>
            <a:ahLst/>
            <a:cxnLst/>
            <a:rect l="l" t="t" r="r" b="b"/>
            <a:pathLst>
              <a:path w="206256" h="183338">
                <a:moveTo>
                  <a:pt x="110827" y="-6768"/>
                </a:moveTo>
                <a:cubicBezTo>
                  <a:pt x="109358" y="-9632"/>
                  <a:pt x="106386" y="-11459"/>
                  <a:pt x="103164" y="-11459"/>
                </a:cubicBezTo>
                <a:cubicBezTo>
                  <a:pt x="99941" y="-11459"/>
                  <a:pt x="96969" y="-9632"/>
                  <a:pt x="95501" y="-6768"/>
                </a:cubicBezTo>
                <a:lnTo>
                  <a:pt x="69146" y="44868"/>
                </a:lnTo>
                <a:lnTo>
                  <a:pt x="11888" y="53963"/>
                </a:lnTo>
                <a:cubicBezTo>
                  <a:pt x="8701" y="54464"/>
                  <a:pt x="6052" y="56720"/>
                  <a:pt x="5049" y="59800"/>
                </a:cubicBezTo>
                <a:cubicBezTo>
                  <a:pt x="4046" y="62879"/>
                  <a:pt x="4870" y="66245"/>
                  <a:pt x="7126" y="68537"/>
                </a:cubicBezTo>
                <a:lnTo>
                  <a:pt x="48091" y="109537"/>
                </a:lnTo>
                <a:lnTo>
                  <a:pt x="39067" y="166795"/>
                </a:lnTo>
                <a:cubicBezTo>
                  <a:pt x="38566" y="169982"/>
                  <a:pt x="39890" y="173205"/>
                  <a:pt x="42504" y="175102"/>
                </a:cubicBezTo>
                <a:cubicBezTo>
                  <a:pt x="45118" y="177000"/>
                  <a:pt x="48556" y="177287"/>
                  <a:pt x="51456" y="175819"/>
                </a:cubicBezTo>
                <a:lnTo>
                  <a:pt x="103164" y="149535"/>
                </a:lnTo>
                <a:lnTo>
                  <a:pt x="154835" y="175819"/>
                </a:lnTo>
                <a:cubicBezTo>
                  <a:pt x="157700" y="177287"/>
                  <a:pt x="161173" y="177000"/>
                  <a:pt x="163787" y="175102"/>
                </a:cubicBezTo>
                <a:cubicBezTo>
                  <a:pt x="166401" y="173205"/>
                  <a:pt x="167726" y="170018"/>
                  <a:pt x="167225" y="166795"/>
                </a:cubicBezTo>
                <a:lnTo>
                  <a:pt x="158165" y="109537"/>
                </a:lnTo>
                <a:lnTo>
                  <a:pt x="199130" y="68537"/>
                </a:lnTo>
                <a:cubicBezTo>
                  <a:pt x="201422" y="66245"/>
                  <a:pt x="202209" y="62879"/>
                  <a:pt x="201207" y="59800"/>
                </a:cubicBezTo>
                <a:cubicBezTo>
                  <a:pt x="200204" y="56720"/>
                  <a:pt x="197590" y="54464"/>
                  <a:pt x="194367" y="53963"/>
                </a:cubicBezTo>
                <a:lnTo>
                  <a:pt x="137146" y="44868"/>
                </a:lnTo>
                <a:lnTo>
                  <a:pt x="110827" y="-6768"/>
                </a:lnTo>
                <a:close/>
              </a:path>
            </a:pathLst>
          </a:custGeom>
          <a:solidFill>
            <a:srgbClr val="C0A062"/>
          </a:solidFill>
          <a:ln/>
        </p:spPr>
      </p:sp>
      <p:sp>
        <p:nvSpPr>
          <p:cNvPr id="23" name="Text 20"/>
          <p:cNvSpPr/>
          <p:nvPr/>
        </p:nvSpPr>
        <p:spPr>
          <a:xfrm>
            <a:off x="7851107" y="5940162"/>
            <a:ext cx="1072529" cy="220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55" b="1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Conclusion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7548598" y="6210586"/>
            <a:ext cx="3916422" cy="522514"/>
          </a:xfrm>
          <a:custGeom>
            <a:avLst/>
            <a:gdLst/>
            <a:ahLst/>
            <a:cxnLst/>
            <a:rect l="l" t="t" r="r" b="b"/>
            <a:pathLst>
              <a:path w="3916422" h="522514">
                <a:moveTo>
                  <a:pt x="36670" y="0"/>
                </a:moveTo>
                <a:lnTo>
                  <a:pt x="3879752" y="0"/>
                </a:lnTo>
                <a:cubicBezTo>
                  <a:pt x="3900004" y="0"/>
                  <a:pt x="3916422" y="16418"/>
                  <a:pt x="3916422" y="36670"/>
                </a:cubicBezTo>
                <a:lnTo>
                  <a:pt x="3916422" y="485844"/>
                </a:lnTo>
                <a:cubicBezTo>
                  <a:pt x="3916422" y="506097"/>
                  <a:pt x="3900004" y="522514"/>
                  <a:pt x="3879752" y="522514"/>
                </a:cubicBezTo>
                <a:lnTo>
                  <a:pt x="36670" y="522514"/>
                </a:lnTo>
                <a:cubicBezTo>
                  <a:pt x="16418" y="522514"/>
                  <a:pt x="0" y="506097"/>
                  <a:pt x="0" y="485844"/>
                </a:cubicBezTo>
                <a:lnTo>
                  <a:pt x="0" y="36670"/>
                </a:lnTo>
                <a:cubicBezTo>
                  <a:pt x="0" y="16431"/>
                  <a:pt x="16431" y="0"/>
                  <a:pt x="36670" y="0"/>
                </a:cubicBezTo>
                <a:close/>
              </a:path>
            </a:pathLst>
          </a:custGeom>
          <a:solidFill>
            <a:srgbClr val="C0A062">
              <a:alpha val="30196"/>
            </a:srgbClr>
          </a:solidFill>
          <a:ln/>
        </p:spPr>
      </p:sp>
      <p:sp>
        <p:nvSpPr>
          <p:cNvPr id="25" name="Text 22"/>
          <p:cNvSpPr/>
          <p:nvPr/>
        </p:nvSpPr>
        <p:spPr>
          <a:xfrm>
            <a:off x="7548598" y="6210586"/>
            <a:ext cx="3989758" cy="522514"/>
          </a:xfrm>
          <a:prstGeom prst="rect">
            <a:avLst/>
          </a:prstGeom>
          <a:noFill/>
          <a:ln/>
        </p:spPr>
        <p:txBody>
          <a:bodyPr wrap="square" lIns="73335" tIns="36668" rIns="73335" bIns="36668" rtlCol="0" anchor="ctr"/>
          <a:lstStyle/>
          <a:p>
            <a:pPr>
              <a:lnSpc>
                <a:spcPct val="140000"/>
              </a:lnSpc>
            </a:pPr>
            <a:r>
              <a:rPr lang="en-US" sz="1155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Tenure appears to be a more informative stability proxy than income alone.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81000"/>
            <a:ext cx="1150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spc="120" kern="0" dirty="0">
                <a:solidFill>
                  <a:srgbClr val="C0A06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07 • Bivariate Analysis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381000" y="647700"/>
            <a:ext cx="116014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2E405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Socioeconomic Factors vs. Financial Magnitudes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81000" y="1104900"/>
            <a:ext cx="3733800" cy="4572000"/>
          </a:xfrm>
          <a:custGeom>
            <a:avLst/>
            <a:gdLst/>
            <a:ahLst/>
            <a:cxnLst/>
            <a:rect l="l" t="t" r="r" b="b"/>
            <a:pathLst>
              <a:path w="3733800" h="4572000">
                <a:moveTo>
                  <a:pt x="76207" y="0"/>
                </a:moveTo>
                <a:lnTo>
                  <a:pt x="3657593" y="0"/>
                </a:lnTo>
                <a:cubicBezTo>
                  <a:pt x="3699681" y="0"/>
                  <a:pt x="3733800" y="34119"/>
                  <a:pt x="3733800" y="76207"/>
                </a:cubicBezTo>
                <a:lnTo>
                  <a:pt x="3733800" y="4495793"/>
                </a:lnTo>
                <a:cubicBezTo>
                  <a:pt x="3733800" y="4537881"/>
                  <a:pt x="3699681" y="4572000"/>
                  <a:pt x="3657593" y="4572000"/>
                </a:cubicBezTo>
                <a:lnTo>
                  <a:pt x="76207" y="4572000"/>
                </a:lnTo>
                <a:cubicBezTo>
                  <a:pt x="34119" y="4572000"/>
                  <a:pt x="0" y="4537881"/>
                  <a:pt x="0" y="4495793"/>
                </a:cubicBezTo>
                <a:lnTo>
                  <a:pt x="0" y="76207"/>
                </a:lnTo>
                <a:cubicBezTo>
                  <a:pt x="0" y="34147"/>
                  <a:pt x="34147" y="0"/>
                  <a:pt x="76207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sx="100000" sy="100000" kx="0" ky="0" algn="bl" rotWithShape="0" blurRad="28575" dist="9525" dir="5400000">
              <a:srgbClr val="000000">
                <a:alpha val="10196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95300" y="1257300"/>
            <a:ext cx="350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b="1" dirty="0">
                <a:solidFill>
                  <a:srgbClr val="2E405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Age vs. Previous Application Outcomes</a:t>
            </a:r>
            <a:endParaRPr lang="en-US" sz="1600" dirty="0"/>
          </a:p>
        </p:txBody>
      </p:sp>
      <p:pic>
        <p:nvPicPr>
          <p:cNvPr id="6" name="Image 0" descr="https://kimi-img.moonshot.cn/pub/slides/26-02-28-10:53:53-d6h5hgcrhkldm2vugms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3400" y="1562100"/>
            <a:ext cx="3429000" cy="3009900"/>
          </a:xfrm>
          <a:prstGeom prst="roundRect">
            <a:avLst>
              <a:gd name="adj" fmla="val 0"/>
            </a:avLst>
          </a:prstGeom>
        </p:spPr>
      </p:pic>
      <p:sp>
        <p:nvSpPr>
          <p:cNvPr id="7" name="Shape 4"/>
          <p:cNvSpPr/>
          <p:nvPr/>
        </p:nvSpPr>
        <p:spPr>
          <a:xfrm>
            <a:off x="533400" y="4648200"/>
            <a:ext cx="3429000" cy="876300"/>
          </a:xfrm>
          <a:custGeom>
            <a:avLst/>
            <a:gdLst/>
            <a:ahLst/>
            <a:cxnLst/>
            <a:rect l="l" t="t" r="r" b="b"/>
            <a:pathLst>
              <a:path w="3429000" h="876300">
                <a:moveTo>
                  <a:pt x="38102" y="0"/>
                </a:moveTo>
                <a:lnTo>
                  <a:pt x="3390898" y="0"/>
                </a:lnTo>
                <a:cubicBezTo>
                  <a:pt x="3411941" y="0"/>
                  <a:pt x="3429000" y="17059"/>
                  <a:pt x="3429000" y="38102"/>
                </a:cubicBezTo>
                <a:lnTo>
                  <a:pt x="3429000" y="838198"/>
                </a:lnTo>
                <a:cubicBezTo>
                  <a:pt x="3429000" y="859241"/>
                  <a:pt x="3411941" y="876300"/>
                  <a:pt x="3390898" y="876300"/>
                </a:cubicBezTo>
                <a:lnTo>
                  <a:pt x="38102" y="876300"/>
                </a:lnTo>
                <a:cubicBezTo>
                  <a:pt x="17059" y="876300"/>
                  <a:pt x="0" y="859241"/>
                  <a:pt x="0" y="838198"/>
                </a:cubicBezTo>
                <a:lnTo>
                  <a:pt x="0" y="38102"/>
                </a:lnTo>
                <a:cubicBezTo>
                  <a:pt x="0" y="17073"/>
                  <a:pt x="17073" y="0"/>
                  <a:pt x="38102" y="0"/>
                </a:cubicBezTo>
                <a:close/>
              </a:path>
            </a:pathLst>
          </a:custGeom>
          <a:solidFill>
            <a:srgbClr val="F7F7F7"/>
          </a:solidFill>
          <a:ln/>
        </p:spPr>
      </p:sp>
      <p:sp>
        <p:nvSpPr>
          <p:cNvPr id="8" name="Text 5"/>
          <p:cNvSpPr/>
          <p:nvPr/>
        </p:nvSpPr>
        <p:spPr>
          <a:xfrm>
            <a:off x="647700" y="4762500"/>
            <a:ext cx="3267075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50" b="1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Finding:</a:t>
            </a:r>
            <a:pPr>
              <a:lnSpc>
                <a:spcPct val="140000"/>
              </a:lnSpc>
            </a:pPr>
            <a:r>
              <a:rPr lang="en-US" sz="105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Approval counts highest for ages </a:t>
            </a:r>
            <a:pPr>
              <a:lnSpc>
                <a:spcPct val="140000"/>
              </a:lnSpc>
            </a:pPr>
            <a:r>
              <a:rPr lang="en-US" sz="1050" b="1" dirty="0">
                <a:solidFill>
                  <a:srgbClr val="2D3748"/>
                </a:solidFill>
                <a:highlight>
                  <a:srgbClr val="C0A062">
                    <a:alpha val="20000"/>
                  </a:srgbClr>
                </a:highlight>
                <a:latin typeface="Liter" pitchFamily="34" charset="0"/>
                <a:ea typeface="Liter" pitchFamily="34" charset="-122"/>
                <a:cs typeface="Liter" pitchFamily="34" charset="-120"/>
              </a:rPr>
              <a:t>30-50 </a:t>
            </a:r>
            <a:pPr>
              <a:lnSpc>
                <a:spcPct val="140000"/>
              </a:lnSpc>
            </a:pPr>
            <a:r>
              <a:rPr lang="en-US" sz="105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, declining after 50. Approvals dominate in all age buckets.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229100" y="1104900"/>
            <a:ext cx="3733800" cy="4572000"/>
          </a:xfrm>
          <a:custGeom>
            <a:avLst/>
            <a:gdLst/>
            <a:ahLst/>
            <a:cxnLst/>
            <a:rect l="l" t="t" r="r" b="b"/>
            <a:pathLst>
              <a:path w="3733800" h="4572000">
                <a:moveTo>
                  <a:pt x="76207" y="0"/>
                </a:moveTo>
                <a:lnTo>
                  <a:pt x="3657593" y="0"/>
                </a:lnTo>
                <a:cubicBezTo>
                  <a:pt x="3699681" y="0"/>
                  <a:pt x="3733800" y="34119"/>
                  <a:pt x="3733800" y="76207"/>
                </a:cubicBezTo>
                <a:lnTo>
                  <a:pt x="3733800" y="4495793"/>
                </a:lnTo>
                <a:cubicBezTo>
                  <a:pt x="3733800" y="4537881"/>
                  <a:pt x="3699681" y="4572000"/>
                  <a:pt x="3657593" y="4572000"/>
                </a:cubicBezTo>
                <a:lnTo>
                  <a:pt x="76207" y="4572000"/>
                </a:lnTo>
                <a:cubicBezTo>
                  <a:pt x="34119" y="4572000"/>
                  <a:pt x="0" y="4537881"/>
                  <a:pt x="0" y="4495793"/>
                </a:cubicBezTo>
                <a:lnTo>
                  <a:pt x="0" y="76207"/>
                </a:lnTo>
                <a:cubicBezTo>
                  <a:pt x="0" y="34147"/>
                  <a:pt x="34147" y="0"/>
                  <a:pt x="76207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sx="100000" sy="100000" kx="0" ky="0" algn="bl" rotWithShape="0" blurRad="28575" dist="9525" dir="5400000">
              <a:srgbClr val="000000">
                <a:alpha val="10196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4343400" y="1257300"/>
            <a:ext cx="350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b="1" dirty="0">
                <a:solidFill>
                  <a:srgbClr val="2E405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Education vs. Credit Amount</a:t>
            </a:r>
            <a:endParaRPr lang="en-US" sz="1600" dirty="0"/>
          </a:p>
        </p:txBody>
      </p:sp>
      <p:pic>
        <p:nvPicPr>
          <p:cNvPr id="11" name="Image 1" descr="https://kimi-img.moonshot.cn/pub/slides/26-02-28-10:53:53-d6h5hge1bb2h3j7p964g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381500" y="1562100"/>
            <a:ext cx="3429000" cy="3009900"/>
          </a:xfrm>
          <a:prstGeom prst="roundRect">
            <a:avLst>
              <a:gd name="adj" fmla="val 0"/>
            </a:avLst>
          </a:prstGeom>
        </p:spPr>
      </p:pic>
      <p:sp>
        <p:nvSpPr>
          <p:cNvPr id="12" name="Shape 8"/>
          <p:cNvSpPr/>
          <p:nvPr/>
        </p:nvSpPr>
        <p:spPr>
          <a:xfrm>
            <a:off x="4381500" y="4648200"/>
            <a:ext cx="3429000" cy="876300"/>
          </a:xfrm>
          <a:custGeom>
            <a:avLst/>
            <a:gdLst/>
            <a:ahLst/>
            <a:cxnLst/>
            <a:rect l="l" t="t" r="r" b="b"/>
            <a:pathLst>
              <a:path w="3429000" h="876300">
                <a:moveTo>
                  <a:pt x="38102" y="0"/>
                </a:moveTo>
                <a:lnTo>
                  <a:pt x="3390898" y="0"/>
                </a:lnTo>
                <a:cubicBezTo>
                  <a:pt x="3411941" y="0"/>
                  <a:pt x="3429000" y="17059"/>
                  <a:pt x="3429000" y="38102"/>
                </a:cubicBezTo>
                <a:lnTo>
                  <a:pt x="3429000" y="838198"/>
                </a:lnTo>
                <a:cubicBezTo>
                  <a:pt x="3429000" y="859241"/>
                  <a:pt x="3411941" y="876300"/>
                  <a:pt x="3390898" y="876300"/>
                </a:cubicBezTo>
                <a:lnTo>
                  <a:pt x="38102" y="876300"/>
                </a:lnTo>
                <a:cubicBezTo>
                  <a:pt x="17059" y="876300"/>
                  <a:pt x="0" y="859241"/>
                  <a:pt x="0" y="838198"/>
                </a:cubicBezTo>
                <a:lnTo>
                  <a:pt x="0" y="38102"/>
                </a:lnTo>
                <a:cubicBezTo>
                  <a:pt x="0" y="17073"/>
                  <a:pt x="17073" y="0"/>
                  <a:pt x="38102" y="0"/>
                </a:cubicBezTo>
                <a:close/>
              </a:path>
            </a:pathLst>
          </a:custGeom>
          <a:solidFill>
            <a:srgbClr val="F7F7F7"/>
          </a:solidFill>
          <a:ln/>
        </p:spPr>
      </p:sp>
      <p:sp>
        <p:nvSpPr>
          <p:cNvPr id="13" name="Text 9"/>
          <p:cNvSpPr/>
          <p:nvPr/>
        </p:nvSpPr>
        <p:spPr>
          <a:xfrm>
            <a:off x="4495800" y="4762500"/>
            <a:ext cx="3267075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50" b="1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Finding:</a:t>
            </a:r>
            <a:pPr>
              <a:lnSpc>
                <a:spcPct val="140000"/>
              </a:lnSpc>
            </a:pPr>
            <a:r>
              <a:rPr lang="en-US" sz="105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Higher education levels associated with </a:t>
            </a:r>
            <a:pPr>
              <a:lnSpc>
                <a:spcPct val="140000"/>
              </a:lnSpc>
            </a:pPr>
            <a:r>
              <a:rPr lang="en-US" sz="1050" b="1" dirty="0">
                <a:solidFill>
                  <a:srgbClr val="2D3748"/>
                </a:solidFill>
                <a:highlight>
                  <a:srgbClr val="C0A062">
                    <a:alpha val="20000"/>
                  </a:srgbClr>
                </a:highlight>
                <a:latin typeface="Liter" pitchFamily="34" charset="0"/>
                <a:ea typeface="Liter" pitchFamily="34" charset="-122"/>
                <a:cs typeface="Liter" pitchFamily="34" charset="-120"/>
              </a:rPr>
              <a:t>larger typical credit amounts </a:t>
            </a:r>
            <a:pPr>
              <a:lnSpc>
                <a:spcPct val="140000"/>
              </a:lnSpc>
            </a:pPr>
            <a:r>
              <a:rPr lang="en-US" sz="105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. Gender differences minor relative to education.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8077200" y="1104900"/>
            <a:ext cx="3733800" cy="4572000"/>
          </a:xfrm>
          <a:custGeom>
            <a:avLst/>
            <a:gdLst/>
            <a:ahLst/>
            <a:cxnLst/>
            <a:rect l="l" t="t" r="r" b="b"/>
            <a:pathLst>
              <a:path w="3733800" h="4572000">
                <a:moveTo>
                  <a:pt x="76207" y="0"/>
                </a:moveTo>
                <a:lnTo>
                  <a:pt x="3657593" y="0"/>
                </a:lnTo>
                <a:cubicBezTo>
                  <a:pt x="3699681" y="0"/>
                  <a:pt x="3733800" y="34119"/>
                  <a:pt x="3733800" y="76207"/>
                </a:cubicBezTo>
                <a:lnTo>
                  <a:pt x="3733800" y="4495793"/>
                </a:lnTo>
                <a:cubicBezTo>
                  <a:pt x="3733800" y="4537881"/>
                  <a:pt x="3699681" y="4572000"/>
                  <a:pt x="3657593" y="4572000"/>
                </a:cubicBezTo>
                <a:lnTo>
                  <a:pt x="76207" y="4572000"/>
                </a:lnTo>
                <a:cubicBezTo>
                  <a:pt x="34119" y="4572000"/>
                  <a:pt x="0" y="4537881"/>
                  <a:pt x="0" y="4495793"/>
                </a:cubicBezTo>
                <a:lnTo>
                  <a:pt x="0" y="76207"/>
                </a:lnTo>
                <a:cubicBezTo>
                  <a:pt x="0" y="34147"/>
                  <a:pt x="34147" y="0"/>
                  <a:pt x="76207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sx="100000" sy="100000" kx="0" ky="0" algn="bl" rotWithShape="0" blurRad="28575" dist="9525" dir="5400000">
              <a:srgbClr val="000000">
                <a:alpha val="10196"/>
              </a:srgbClr>
            </a:outerShdw>
          </a:effectLst>
        </p:spPr>
      </p:sp>
      <p:sp>
        <p:nvSpPr>
          <p:cNvPr id="15" name="Text 11"/>
          <p:cNvSpPr/>
          <p:nvPr/>
        </p:nvSpPr>
        <p:spPr>
          <a:xfrm>
            <a:off x="8191500" y="1257300"/>
            <a:ext cx="350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b="1" dirty="0">
                <a:solidFill>
                  <a:srgbClr val="2E405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Income Type vs. Goods Price</a:t>
            </a:r>
            <a:endParaRPr lang="en-US" sz="1600" dirty="0"/>
          </a:p>
        </p:txBody>
      </p:sp>
      <p:pic>
        <p:nvPicPr>
          <p:cNvPr id="16" name="Image 2" descr="https://kimi-img.moonshot.cn/pub/slides/26-02-28-10:53:52-d6h5hg46toicpuc75to0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229600" y="1562100"/>
            <a:ext cx="3429000" cy="3009900"/>
          </a:xfrm>
          <a:prstGeom prst="roundRect">
            <a:avLst>
              <a:gd name="adj" fmla="val 0"/>
            </a:avLst>
          </a:prstGeom>
        </p:spPr>
      </p:pic>
      <p:sp>
        <p:nvSpPr>
          <p:cNvPr id="17" name="Shape 12"/>
          <p:cNvSpPr/>
          <p:nvPr/>
        </p:nvSpPr>
        <p:spPr>
          <a:xfrm>
            <a:off x="8229600" y="4648200"/>
            <a:ext cx="3429000" cy="876300"/>
          </a:xfrm>
          <a:custGeom>
            <a:avLst/>
            <a:gdLst/>
            <a:ahLst/>
            <a:cxnLst/>
            <a:rect l="l" t="t" r="r" b="b"/>
            <a:pathLst>
              <a:path w="3429000" h="876300">
                <a:moveTo>
                  <a:pt x="38102" y="0"/>
                </a:moveTo>
                <a:lnTo>
                  <a:pt x="3390898" y="0"/>
                </a:lnTo>
                <a:cubicBezTo>
                  <a:pt x="3411941" y="0"/>
                  <a:pt x="3429000" y="17059"/>
                  <a:pt x="3429000" y="38102"/>
                </a:cubicBezTo>
                <a:lnTo>
                  <a:pt x="3429000" y="838198"/>
                </a:lnTo>
                <a:cubicBezTo>
                  <a:pt x="3429000" y="859241"/>
                  <a:pt x="3411941" y="876300"/>
                  <a:pt x="3390898" y="876300"/>
                </a:cubicBezTo>
                <a:lnTo>
                  <a:pt x="38102" y="876300"/>
                </a:lnTo>
                <a:cubicBezTo>
                  <a:pt x="17059" y="876300"/>
                  <a:pt x="0" y="859241"/>
                  <a:pt x="0" y="838198"/>
                </a:cubicBezTo>
                <a:lnTo>
                  <a:pt x="0" y="38102"/>
                </a:lnTo>
                <a:cubicBezTo>
                  <a:pt x="0" y="17073"/>
                  <a:pt x="17073" y="0"/>
                  <a:pt x="38102" y="0"/>
                </a:cubicBezTo>
                <a:close/>
              </a:path>
            </a:pathLst>
          </a:custGeom>
          <a:solidFill>
            <a:srgbClr val="F7F7F7"/>
          </a:solidFill>
          <a:ln/>
        </p:spPr>
      </p:sp>
      <p:sp>
        <p:nvSpPr>
          <p:cNvPr id="18" name="Text 13"/>
          <p:cNvSpPr/>
          <p:nvPr/>
        </p:nvSpPr>
        <p:spPr>
          <a:xfrm>
            <a:off x="8343900" y="4762500"/>
            <a:ext cx="3267075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50" b="1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Finding:</a:t>
            </a:r>
            <a:pPr>
              <a:lnSpc>
                <a:spcPct val="140000"/>
              </a:lnSpc>
            </a:pPr>
            <a:r>
              <a:rPr lang="en-US" sz="105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Income source differentiates goods price </a:t>
            </a:r>
            <a:pPr>
              <a:lnSpc>
                <a:spcPct val="140000"/>
              </a:lnSpc>
            </a:pPr>
            <a:r>
              <a:rPr lang="en-US" sz="1050" b="1" dirty="0">
                <a:solidFill>
                  <a:srgbClr val="2D3748"/>
                </a:solidFill>
                <a:highlight>
                  <a:srgbClr val="C0A062">
                    <a:alpha val="20000"/>
                  </a:srgbClr>
                </a:highlight>
                <a:latin typeface="Liter" pitchFamily="34" charset="0"/>
                <a:ea typeface="Liter" pitchFamily="34" charset="-122"/>
                <a:cs typeface="Liter" pitchFamily="34" charset="-120"/>
              </a:rPr>
              <a:t>more than gender </a:t>
            </a:r>
            <a:pPr>
              <a:lnSpc>
                <a:spcPct val="140000"/>
              </a:lnSpc>
            </a:pPr>
            <a:r>
              <a:rPr lang="en-US" sz="105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. Business/commercial categories show higher values.</a:t>
            </a:r>
            <a:endParaRPr lang="en-US" sz="1600" dirty="0"/>
          </a:p>
        </p:txBody>
      </p:sp>
      <p:sp>
        <p:nvSpPr>
          <p:cNvPr id="19" name="Shape 14"/>
          <p:cNvSpPr/>
          <p:nvPr/>
        </p:nvSpPr>
        <p:spPr>
          <a:xfrm>
            <a:off x="381000" y="5755481"/>
            <a:ext cx="5657850" cy="723900"/>
          </a:xfrm>
          <a:custGeom>
            <a:avLst/>
            <a:gdLst/>
            <a:ahLst/>
            <a:cxnLst/>
            <a:rect l="l" t="t" r="r" b="b"/>
            <a:pathLst>
              <a:path w="5657850" h="723900">
                <a:moveTo>
                  <a:pt x="76198" y="0"/>
                </a:moveTo>
                <a:lnTo>
                  <a:pt x="5581652" y="0"/>
                </a:lnTo>
                <a:cubicBezTo>
                  <a:pt x="5623707" y="0"/>
                  <a:pt x="5657850" y="34143"/>
                  <a:pt x="5657850" y="76198"/>
                </a:cubicBezTo>
                <a:lnTo>
                  <a:pt x="5657850" y="647702"/>
                </a:lnTo>
                <a:cubicBezTo>
                  <a:pt x="5657850" y="689757"/>
                  <a:pt x="5623707" y="723900"/>
                  <a:pt x="5581652" y="723900"/>
                </a:cubicBezTo>
                <a:lnTo>
                  <a:pt x="76198" y="723900"/>
                </a:lnTo>
                <a:cubicBezTo>
                  <a:pt x="34143" y="723900"/>
                  <a:pt x="0" y="689757"/>
                  <a:pt x="0" y="647702"/>
                </a:cubicBezTo>
                <a:lnTo>
                  <a:pt x="0" y="76198"/>
                </a:lnTo>
                <a:cubicBezTo>
                  <a:pt x="0" y="34143"/>
                  <a:pt x="34143" y="0"/>
                  <a:pt x="76198" y="0"/>
                </a:cubicBezTo>
                <a:close/>
              </a:path>
            </a:pathLst>
          </a:custGeom>
          <a:solidFill>
            <a:srgbClr val="2E4057"/>
          </a:solidFill>
          <a:ln/>
        </p:spPr>
      </p:sp>
      <p:sp>
        <p:nvSpPr>
          <p:cNvPr id="20" name="Shape 15"/>
          <p:cNvSpPr/>
          <p:nvPr/>
        </p:nvSpPr>
        <p:spPr>
          <a:xfrm>
            <a:off x="495300" y="6003131"/>
            <a:ext cx="285750" cy="228600"/>
          </a:xfrm>
          <a:custGeom>
            <a:avLst/>
            <a:gdLst/>
            <a:ahLst/>
            <a:cxnLst/>
            <a:rect l="l" t="t" r="r" b="b"/>
            <a:pathLst>
              <a:path w="285750" h="228600">
                <a:moveTo>
                  <a:pt x="142875" y="7144"/>
                </a:moveTo>
                <a:cubicBezTo>
                  <a:pt x="168503" y="7144"/>
                  <a:pt x="189309" y="27950"/>
                  <a:pt x="189309" y="53578"/>
                </a:cubicBezTo>
                <a:cubicBezTo>
                  <a:pt x="189309" y="79206"/>
                  <a:pt x="168503" y="100013"/>
                  <a:pt x="142875" y="100013"/>
                </a:cubicBezTo>
                <a:cubicBezTo>
                  <a:pt x="117247" y="100013"/>
                  <a:pt x="96441" y="79206"/>
                  <a:pt x="96441" y="53578"/>
                </a:cubicBezTo>
                <a:cubicBezTo>
                  <a:pt x="96441" y="27950"/>
                  <a:pt x="117247" y="7144"/>
                  <a:pt x="142875" y="7144"/>
                </a:cubicBezTo>
                <a:close/>
                <a:moveTo>
                  <a:pt x="42863" y="39291"/>
                </a:moveTo>
                <a:cubicBezTo>
                  <a:pt x="60605" y="39291"/>
                  <a:pt x="75009" y="53695"/>
                  <a:pt x="75009" y="71438"/>
                </a:cubicBezTo>
                <a:cubicBezTo>
                  <a:pt x="75009" y="89180"/>
                  <a:pt x="60605" y="103584"/>
                  <a:pt x="42863" y="103584"/>
                </a:cubicBezTo>
                <a:cubicBezTo>
                  <a:pt x="25120" y="103584"/>
                  <a:pt x="10716" y="89180"/>
                  <a:pt x="10716" y="71438"/>
                </a:cubicBezTo>
                <a:cubicBezTo>
                  <a:pt x="10716" y="53695"/>
                  <a:pt x="25120" y="39291"/>
                  <a:pt x="42862" y="39291"/>
                </a:cubicBezTo>
                <a:close/>
                <a:moveTo>
                  <a:pt x="0" y="185738"/>
                </a:moveTo>
                <a:cubicBezTo>
                  <a:pt x="0" y="154171"/>
                  <a:pt x="25584" y="128588"/>
                  <a:pt x="57150" y="128588"/>
                </a:cubicBezTo>
                <a:cubicBezTo>
                  <a:pt x="62865" y="128588"/>
                  <a:pt x="68401" y="129436"/>
                  <a:pt x="73625" y="130999"/>
                </a:cubicBezTo>
                <a:cubicBezTo>
                  <a:pt x="58936" y="147429"/>
                  <a:pt x="50006" y="169128"/>
                  <a:pt x="50006" y="192881"/>
                </a:cubicBezTo>
                <a:lnTo>
                  <a:pt x="50006" y="200025"/>
                </a:lnTo>
                <a:cubicBezTo>
                  <a:pt x="50006" y="205115"/>
                  <a:pt x="51078" y="209937"/>
                  <a:pt x="52998" y="214313"/>
                </a:cubicBezTo>
                <a:lnTo>
                  <a:pt x="14288" y="214313"/>
                </a:lnTo>
                <a:cubicBezTo>
                  <a:pt x="6385" y="214313"/>
                  <a:pt x="0" y="207928"/>
                  <a:pt x="0" y="200025"/>
                </a:cubicBezTo>
                <a:lnTo>
                  <a:pt x="0" y="185738"/>
                </a:lnTo>
                <a:close/>
                <a:moveTo>
                  <a:pt x="232752" y="214313"/>
                </a:moveTo>
                <a:cubicBezTo>
                  <a:pt x="234672" y="209937"/>
                  <a:pt x="235744" y="205115"/>
                  <a:pt x="235744" y="200025"/>
                </a:cubicBezTo>
                <a:lnTo>
                  <a:pt x="235744" y="192881"/>
                </a:lnTo>
                <a:cubicBezTo>
                  <a:pt x="235744" y="169128"/>
                  <a:pt x="226814" y="147429"/>
                  <a:pt x="212125" y="130999"/>
                </a:cubicBezTo>
                <a:cubicBezTo>
                  <a:pt x="217349" y="129436"/>
                  <a:pt x="222885" y="128588"/>
                  <a:pt x="228600" y="128588"/>
                </a:cubicBezTo>
                <a:cubicBezTo>
                  <a:pt x="260166" y="128588"/>
                  <a:pt x="285750" y="154171"/>
                  <a:pt x="285750" y="185738"/>
                </a:cubicBezTo>
                <a:lnTo>
                  <a:pt x="285750" y="200025"/>
                </a:lnTo>
                <a:cubicBezTo>
                  <a:pt x="285750" y="207928"/>
                  <a:pt x="279365" y="214313"/>
                  <a:pt x="271463" y="214313"/>
                </a:cubicBezTo>
                <a:lnTo>
                  <a:pt x="232752" y="214313"/>
                </a:lnTo>
                <a:close/>
                <a:moveTo>
                  <a:pt x="210741" y="71438"/>
                </a:moveTo>
                <a:cubicBezTo>
                  <a:pt x="210741" y="53695"/>
                  <a:pt x="225145" y="39291"/>
                  <a:pt x="242888" y="39291"/>
                </a:cubicBezTo>
                <a:cubicBezTo>
                  <a:pt x="260630" y="39291"/>
                  <a:pt x="275034" y="53695"/>
                  <a:pt x="275034" y="71437"/>
                </a:cubicBezTo>
                <a:cubicBezTo>
                  <a:pt x="275034" y="89180"/>
                  <a:pt x="260630" y="103584"/>
                  <a:pt x="242888" y="103584"/>
                </a:cubicBezTo>
                <a:cubicBezTo>
                  <a:pt x="225145" y="103584"/>
                  <a:pt x="210741" y="89180"/>
                  <a:pt x="210741" y="71438"/>
                </a:cubicBezTo>
                <a:close/>
                <a:moveTo>
                  <a:pt x="71438" y="192881"/>
                </a:moveTo>
                <a:cubicBezTo>
                  <a:pt x="71438" y="153412"/>
                  <a:pt x="103406" y="121444"/>
                  <a:pt x="142875" y="121444"/>
                </a:cubicBezTo>
                <a:cubicBezTo>
                  <a:pt x="182344" y="121444"/>
                  <a:pt x="214313" y="153412"/>
                  <a:pt x="214313" y="192881"/>
                </a:cubicBezTo>
                <a:lnTo>
                  <a:pt x="214313" y="200025"/>
                </a:lnTo>
                <a:cubicBezTo>
                  <a:pt x="214313" y="207928"/>
                  <a:pt x="207928" y="214313"/>
                  <a:pt x="200025" y="214313"/>
                </a:cubicBezTo>
                <a:lnTo>
                  <a:pt x="85725" y="214313"/>
                </a:lnTo>
                <a:cubicBezTo>
                  <a:pt x="77822" y="214313"/>
                  <a:pt x="71438" y="207928"/>
                  <a:pt x="71438" y="200025"/>
                </a:cubicBezTo>
                <a:lnTo>
                  <a:pt x="71438" y="192881"/>
                </a:lnTo>
                <a:close/>
              </a:path>
            </a:pathLst>
          </a:custGeom>
          <a:solidFill>
            <a:srgbClr val="C0A062"/>
          </a:solidFill>
          <a:ln/>
        </p:spPr>
      </p:sp>
      <p:sp>
        <p:nvSpPr>
          <p:cNvPr id="21" name="Text 16"/>
          <p:cNvSpPr/>
          <p:nvPr/>
        </p:nvSpPr>
        <p:spPr>
          <a:xfrm>
            <a:off x="895350" y="5869781"/>
            <a:ext cx="51054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b="1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Family Status Impact:</a:t>
            </a:r>
            <a:pPr>
              <a:lnSpc>
                <a:spcPct val="140000"/>
              </a:lnSpc>
            </a:pPr>
            <a:r>
              <a:rPr lang="en-US" sz="1200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Married clients account for largest approval volume, but rates should be used for inference, not raw counts.</a:t>
            </a:r>
            <a:endParaRPr lang="en-US" sz="1600" dirty="0"/>
          </a:p>
        </p:txBody>
      </p:sp>
      <p:sp>
        <p:nvSpPr>
          <p:cNvPr id="22" name="Shape 17"/>
          <p:cNvSpPr/>
          <p:nvPr/>
        </p:nvSpPr>
        <p:spPr>
          <a:xfrm>
            <a:off x="6153150" y="5755481"/>
            <a:ext cx="5657850" cy="723900"/>
          </a:xfrm>
          <a:custGeom>
            <a:avLst/>
            <a:gdLst/>
            <a:ahLst/>
            <a:cxnLst/>
            <a:rect l="l" t="t" r="r" b="b"/>
            <a:pathLst>
              <a:path w="5657850" h="723900">
                <a:moveTo>
                  <a:pt x="76198" y="0"/>
                </a:moveTo>
                <a:lnTo>
                  <a:pt x="5581652" y="0"/>
                </a:lnTo>
                <a:cubicBezTo>
                  <a:pt x="5623707" y="0"/>
                  <a:pt x="5657850" y="34143"/>
                  <a:pt x="5657850" y="76198"/>
                </a:cubicBezTo>
                <a:lnTo>
                  <a:pt x="5657850" y="647702"/>
                </a:lnTo>
                <a:cubicBezTo>
                  <a:pt x="5657850" y="689757"/>
                  <a:pt x="5623707" y="723900"/>
                  <a:pt x="5581652" y="723900"/>
                </a:cubicBezTo>
                <a:lnTo>
                  <a:pt x="76198" y="723900"/>
                </a:lnTo>
                <a:cubicBezTo>
                  <a:pt x="34143" y="723900"/>
                  <a:pt x="0" y="689757"/>
                  <a:pt x="0" y="647702"/>
                </a:cubicBezTo>
                <a:lnTo>
                  <a:pt x="0" y="76198"/>
                </a:lnTo>
                <a:cubicBezTo>
                  <a:pt x="0" y="34143"/>
                  <a:pt x="34143" y="0"/>
                  <a:pt x="76198" y="0"/>
                </a:cubicBezTo>
                <a:close/>
              </a:path>
            </a:pathLst>
          </a:custGeom>
          <a:solidFill>
            <a:srgbClr val="C0A062"/>
          </a:solidFill>
          <a:ln/>
        </p:spPr>
      </p:sp>
      <p:sp>
        <p:nvSpPr>
          <p:cNvPr id="23" name="Shape 18"/>
          <p:cNvSpPr/>
          <p:nvPr/>
        </p:nvSpPr>
        <p:spPr>
          <a:xfrm>
            <a:off x="6267450" y="6003131"/>
            <a:ext cx="285750" cy="228600"/>
          </a:xfrm>
          <a:custGeom>
            <a:avLst/>
            <a:gdLst/>
            <a:ahLst/>
            <a:cxnLst/>
            <a:rect l="l" t="t" r="r" b="b"/>
            <a:pathLst>
              <a:path w="285750" h="228600">
                <a:moveTo>
                  <a:pt x="214313" y="-28575"/>
                </a:moveTo>
                <a:cubicBezTo>
                  <a:pt x="206410" y="-28575"/>
                  <a:pt x="200025" y="-22190"/>
                  <a:pt x="200025" y="-14287"/>
                </a:cubicBezTo>
                <a:cubicBezTo>
                  <a:pt x="200025" y="-6385"/>
                  <a:pt x="206410" y="0"/>
                  <a:pt x="214313" y="0"/>
                </a:cubicBezTo>
                <a:lnTo>
                  <a:pt x="236949" y="0"/>
                </a:lnTo>
                <a:lnTo>
                  <a:pt x="211634" y="25316"/>
                </a:lnTo>
                <a:cubicBezTo>
                  <a:pt x="199891" y="18306"/>
                  <a:pt x="186139" y="14288"/>
                  <a:pt x="171450" y="14288"/>
                </a:cubicBezTo>
                <a:cubicBezTo>
                  <a:pt x="155644" y="14288"/>
                  <a:pt x="140910" y="18976"/>
                  <a:pt x="128588" y="27012"/>
                </a:cubicBezTo>
                <a:cubicBezTo>
                  <a:pt x="116265" y="18976"/>
                  <a:pt x="101531" y="14288"/>
                  <a:pt x="85725" y="14288"/>
                </a:cubicBezTo>
                <a:cubicBezTo>
                  <a:pt x="42327" y="14288"/>
                  <a:pt x="7144" y="49470"/>
                  <a:pt x="7144" y="92869"/>
                </a:cubicBezTo>
                <a:cubicBezTo>
                  <a:pt x="7144" y="131400"/>
                  <a:pt x="34870" y="163458"/>
                  <a:pt x="71438" y="170155"/>
                </a:cubicBezTo>
                <a:lnTo>
                  <a:pt x="71438" y="185738"/>
                </a:lnTo>
                <a:lnTo>
                  <a:pt x="57150" y="185738"/>
                </a:lnTo>
                <a:cubicBezTo>
                  <a:pt x="49247" y="185738"/>
                  <a:pt x="42863" y="192122"/>
                  <a:pt x="42863" y="200025"/>
                </a:cubicBezTo>
                <a:cubicBezTo>
                  <a:pt x="42863" y="207928"/>
                  <a:pt x="49247" y="214313"/>
                  <a:pt x="57150" y="214313"/>
                </a:cubicBezTo>
                <a:lnTo>
                  <a:pt x="71438" y="214313"/>
                </a:lnTo>
                <a:lnTo>
                  <a:pt x="71438" y="228600"/>
                </a:lnTo>
                <a:cubicBezTo>
                  <a:pt x="71438" y="236503"/>
                  <a:pt x="77822" y="242888"/>
                  <a:pt x="85725" y="242888"/>
                </a:cubicBezTo>
                <a:cubicBezTo>
                  <a:pt x="93628" y="242888"/>
                  <a:pt x="100013" y="236503"/>
                  <a:pt x="100013" y="228600"/>
                </a:cubicBezTo>
                <a:lnTo>
                  <a:pt x="100013" y="214313"/>
                </a:lnTo>
                <a:lnTo>
                  <a:pt x="114300" y="214313"/>
                </a:lnTo>
                <a:cubicBezTo>
                  <a:pt x="122203" y="214313"/>
                  <a:pt x="128588" y="207928"/>
                  <a:pt x="128588" y="200025"/>
                </a:cubicBezTo>
                <a:cubicBezTo>
                  <a:pt x="128588" y="192122"/>
                  <a:pt x="122203" y="185738"/>
                  <a:pt x="114300" y="185738"/>
                </a:cubicBezTo>
                <a:lnTo>
                  <a:pt x="100013" y="185738"/>
                </a:lnTo>
                <a:lnTo>
                  <a:pt x="100013" y="170155"/>
                </a:lnTo>
                <a:cubicBezTo>
                  <a:pt x="110416" y="168235"/>
                  <a:pt x="120060" y="164306"/>
                  <a:pt x="128588" y="158725"/>
                </a:cubicBezTo>
                <a:cubicBezTo>
                  <a:pt x="140910" y="166762"/>
                  <a:pt x="155644" y="171450"/>
                  <a:pt x="171450" y="171450"/>
                </a:cubicBezTo>
                <a:cubicBezTo>
                  <a:pt x="214848" y="171450"/>
                  <a:pt x="250031" y="136267"/>
                  <a:pt x="250031" y="92869"/>
                </a:cubicBezTo>
                <a:cubicBezTo>
                  <a:pt x="250031" y="74518"/>
                  <a:pt x="243736" y="57596"/>
                  <a:pt x="233154" y="44202"/>
                </a:cubicBezTo>
                <a:lnTo>
                  <a:pt x="257175" y="20226"/>
                </a:lnTo>
                <a:lnTo>
                  <a:pt x="257175" y="42863"/>
                </a:lnTo>
                <a:cubicBezTo>
                  <a:pt x="257175" y="50765"/>
                  <a:pt x="263560" y="57150"/>
                  <a:pt x="271463" y="57150"/>
                </a:cubicBezTo>
                <a:cubicBezTo>
                  <a:pt x="279365" y="57150"/>
                  <a:pt x="285750" y="50765"/>
                  <a:pt x="285750" y="42863"/>
                </a:cubicBezTo>
                <a:lnTo>
                  <a:pt x="285750" y="-14287"/>
                </a:lnTo>
                <a:cubicBezTo>
                  <a:pt x="285750" y="-22190"/>
                  <a:pt x="279365" y="-28575"/>
                  <a:pt x="271463" y="-28575"/>
                </a:cubicBezTo>
                <a:lnTo>
                  <a:pt x="214313" y="-28575"/>
                </a:lnTo>
                <a:close/>
                <a:moveTo>
                  <a:pt x="150019" y="138053"/>
                </a:moveTo>
                <a:cubicBezTo>
                  <a:pt x="159038" y="125284"/>
                  <a:pt x="164306" y="109701"/>
                  <a:pt x="164306" y="92869"/>
                </a:cubicBezTo>
                <a:cubicBezTo>
                  <a:pt x="164306" y="76036"/>
                  <a:pt x="159038" y="60454"/>
                  <a:pt x="150019" y="47685"/>
                </a:cubicBezTo>
                <a:cubicBezTo>
                  <a:pt x="156537" y="44604"/>
                  <a:pt x="163770" y="42863"/>
                  <a:pt x="171450" y="42863"/>
                </a:cubicBezTo>
                <a:cubicBezTo>
                  <a:pt x="199087" y="42863"/>
                  <a:pt x="221456" y="65231"/>
                  <a:pt x="221456" y="92869"/>
                </a:cubicBezTo>
                <a:cubicBezTo>
                  <a:pt x="221456" y="120506"/>
                  <a:pt x="199087" y="142875"/>
                  <a:pt x="171450" y="142875"/>
                </a:cubicBezTo>
                <a:cubicBezTo>
                  <a:pt x="163770" y="142875"/>
                  <a:pt x="156493" y="141134"/>
                  <a:pt x="150019" y="138053"/>
                </a:cubicBezTo>
                <a:close/>
                <a:moveTo>
                  <a:pt x="128588" y="67107"/>
                </a:moveTo>
                <a:cubicBezTo>
                  <a:pt x="133142" y="74652"/>
                  <a:pt x="135731" y="83448"/>
                  <a:pt x="135731" y="92869"/>
                </a:cubicBezTo>
                <a:cubicBezTo>
                  <a:pt x="135731" y="102290"/>
                  <a:pt x="133142" y="111130"/>
                  <a:pt x="128588" y="118631"/>
                </a:cubicBezTo>
                <a:cubicBezTo>
                  <a:pt x="124033" y="111085"/>
                  <a:pt x="121444" y="102290"/>
                  <a:pt x="121444" y="92869"/>
                </a:cubicBezTo>
                <a:cubicBezTo>
                  <a:pt x="121444" y="83448"/>
                  <a:pt x="124033" y="74608"/>
                  <a:pt x="128588" y="67107"/>
                </a:cubicBezTo>
                <a:close/>
                <a:moveTo>
                  <a:pt x="107156" y="47685"/>
                </a:moveTo>
                <a:cubicBezTo>
                  <a:pt x="98137" y="60454"/>
                  <a:pt x="92869" y="76036"/>
                  <a:pt x="92869" y="92869"/>
                </a:cubicBezTo>
                <a:cubicBezTo>
                  <a:pt x="92869" y="109701"/>
                  <a:pt x="98137" y="125284"/>
                  <a:pt x="107156" y="138053"/>
                </a:cubicBezTo>
                <a:cubicBezTo>
                  <a:pt x="100682" y="141134"/>
                  <a:pt x="93405" y="142875"/>
                  <a:pt x="85725" y="142875"/>
                </a:cubicBezTo>
                <a:cubicBezTo>
                  <a:pt x="58088" y="142875"/>
                  <a:pt x="35719" y="120506"/>
                  <a:pt x="35719" y="92869"/>
                </a:cubicBezTo>
                <a:cubicBezTo>
                  <a:pt x="35719" y="65231"/>
                  <a:pt x="58088" y="42863"/>
                  <a:pt x="85725" y="42863"/>
                </a:cubicBezTo>
                <a:cubicBezTo>
                  <a:pt x="93405" y="42863"/>
                  <a:pt x="100682" y="44604"/>
                  <a:pt x="107156" y="47685"/>
                </a:cubicBez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24" name="Text 19"/>
          <p:cNvSpPr/>
          <p:nvPr/>
        </p:nvSpPr>
        <p:spPr>
          <a:xfrm>
            <a:off x="6667500" y="5869781"/>
            <a:ext cx="51054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b="1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Gender Observations:</a:t>
            </a:r>
            <a:pPr>
              <a:lnSpc>
                <a:spcPct val="140000"/>
              </a:lnSpc>
            </a:pPr>
            <a:r>
              <a:rPr lang="en-US" sz="1200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Male applicants tend to finance slightly higher-priced goods, but differences are modest and not uniform.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81000"/>
            <a:ext cx="1150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spc="120" kern="0" dirty="0">
                <a:solidFill>
                  <a:srgbClr val="C0A06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08 • Business Implications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381000" y="647700"/>
            <a:ext cx="116014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2E405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Actionable Recommendations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00050" y="1104900"/>
            <a:ext cx="5638800" cy="2228850"/>
          </a:xfrm>
          <a:custGeom>
            <a:avLst/>
            <a:gdLst/>
            <a:ahLst/>
            <a:cxnLst/>
            <a:rect l="l" t="t" r="r" b="b"/>
            <a:pathLst>
              <a:path w="5638800" h="2228850">
                <a:moveTo>
                  <a:pt x="38100" y="0"/>
                </a:moveTo>
                <a:lnTo>
                  <a:pt x="5562596" y="0"/>
                </a:lnTo>
                <a:cubicBezTo>
                  <a:pt x="5604682" y="0"/>
                  <a:pt x="5638800" y="34118"/>
                  <a:pt x="5638800" y="76204"/>
                </a:cubicBezTo>
                <a:lnTo>
                  <a:pt x="5638800" y="2152646"/>
                </a:lnTo>
                <a:cubicBezTo>
                  <a:pt x="5638800" y="2194732"/>
                  <a:pt x="5604682" y="2228850"/>
                  <a:pt x="5562596" y="2228850"/>
                </a:cubicBezTo>
                <a:lnTo>
                  <a:pt x="38100" y="2228850"/>
                </a:lnTo>
                <a:cubicBezTo>
                  <a:pt x="17072" y="2228850"/>
                  <a:pt x="0" y="2211778"/>
                  <a:pt x="0" y="219075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sx="100000" sy="100000" kx="0" ky="0" algn="bl" rotWithShape="0" blurRad="28575" dist="9525" dir="5400000">
              <a:srgbClr val="000000">
                <a:alpha val="10196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00050" y="1104900"/>
            <a:ext cx="38100" cy="2228850"/>
          </a:xfrm>
          <a:custGeom>
            <a:avLst/>
            <a:gdLst/>
            <a:ahLst/>
            <a:cxnLst/>
            <a:rect l="l" t="t" r="r" b="b"/>
            <a:pathLst>
              <a:path w="38100" h="2228850">
                <a:moveTo>
                  <a:pt x="38100" y="0"/>
                </a:moveTo>
                <a:lnTo>
                  <a:pt x="38100" y="0"/>
                </a:lnTo>
                <a:lnTo>
                  <a:pt x="38100" y="2228850"/>
                </a:lnTo>
                <a:lnTo>
                  <a:pt x="38100" y="2228850"/>
                </a:lnTo>
                <a:cubicBezTo>
                  <a:pt x="17072" y="2228850"/>
                  <a:pt x="0" y="2211778"/>
                  <a:pt x="0" y="219075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C0A062"/>
          </a:solidFill>
          <a:ln/>
        </p:spPr>
      </p:sp>
      <p:sp>
        <p:nvSpPr>
          <p:cNvPr id="6" name="Shape 4"/>
          <p:cNvSpPr/>
          <p:nvPr/>
        </p:nvSpPr>
        <p:spPr>
          <a:xfrm>
            <a:off x="571500" y="1362075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0"/>
                </a:moveTo>
                <a:lnTo>
                  <a:pt x="228600" y="0"/>
                </a:lnTo>
                <a:cubicBezTo>
                  <a:pt x="354768" y="0"/>
                  <a:pt x="457200" y="102432"/>
                  <a:pt x="457200" y="228600"/>
                </a:cubicBezTo>
                <a:lnTo>
                  <a:pt x="457200" y="228600"/>
                </a:lnTo>
                <a:cubicBezTo>
                  <a:pt x="457200" y="354768"/>
                  <a:pt x="354768" y="457200"/>
                  <a:pt x="228600" y="457200"/>
                </a:cubicBezTo>
                <a:lnTo>
                  <a:pt x="228600" y="457200"/>
                </a:lnTo>
                <a:cubicBezTo>
                  <a:pt x="102432" y="457200"/>
                  <a:pt x="0" y="354768"/>
                  <a:pt x="0" y="228600"/>
                </a:cubicBezTo>
                <a:lnTo>
                  <a:pt x="0" y="228600"/>
                </a:lnTo>
                <a:cubicBezTo>
                  <a:pt x="0" y="102432"/>
                  <a:pt x="102432" y="0"/>
                  <a:pt x="228600" y="0"/>
                </a:cubicBezTo>
                <a:close/>
              </a:path>
            </a:pathLst>
          </a:custGeom>
          <a:solidFill>
            <a:srgbClr val="C0A062"/>
          </a:solidFill>
          <a:ln/>
        </p:spPr>
      </p:sp>
      <p:sp>
        <p:nvSpPr>
          <p:cNvPr id="7" name="Text 5"/>
          <p:cNvSpPr/>
          <p:nvPr/>
        </p:nvSpPr>
        <p:spPr>
          <a:xfrm>
            <a:off x="523875" y="1362075"/>
            <a:ext cx="5524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b="1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43000" y="1362075"/>
            <a:ext cx="48291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2E405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Risk Segmentation Signals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43000" y="1666875"/>
            <a:ext cx="48196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b="1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Stability-related attributes</a:t>
            </a:r>
            <a:pPr>
              <a:lnSpc>
                <a:spcPct val="140000"/>
              </a:lnSpc>
            </a:pPr>
            <a:r>
              <a:rPr lang="en-US" sz="12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(employment tenure, education level, age) provide stronger separation between repayment groups than raw financial magnitudes. These variables should be prioritized in early screening rules.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143000" y="2733675"/>
            <a:ext cx="4743450" cy="342900"/>
          </a:xfrm>
          <a:custGeom>
            <a:avLst/>
            <a:gdLst/>
            <a:ahLst/>
            <a:cxnLst/>
            <a:rect l="l" t="t" r="r" b="b"/>
            <a:pathLst>
              <a:path w="4743450" h="342900">
                <a:moveTo>
                  <a:pt x="38100" y="0"/>
                </a:moveTo>
                <a:lnTo>
                  <a:pt x="4705350" y="0"/>
                </a:lnTo>
                <a:cubicBezTo>
                  <a:pt x="4726392" y="0"/>
                  <a:pt x="4743450" y="17058"/>
                  <a:pt x="4743450" y="38100"/>
                </a:cubicBezTo>
                <a:lnTo>
                  <a:pt x="4743450" y="304800"/>
                </a:lnTo>
                <a:cubicBezTo>
                  <a:pt x="4743450" y="325842"/>
                  <a:pt x="4726392" y="342900"/>
                  <a:pt x="4705350" y="342900"/>
                </a:cubicBezTo>
                <a:lnTo>
                  <a:pt x="38100" y="342900"/>
                </a:lnTo>
                <a:cubicBezTo>
                  <a:pt x="17058" y="342900"/>
                  <a:pt x="0" y="325842"/>
                  <a:pt x="0" y="3048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C0A062">
              <a:alpha val="10196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246584" y="2833688"/>
            <a:ext cx="116681" cy="133350"/>
          </a:xfrm>
          <a:custGeom>
            <a:avLst/>
            <a:gdLst/>
            <a:ahLst/>
            <a:cxnLst/>
            <a:rect l="l" t="t" r="r" b="b"/>
            <a:pathLst>
              <a:path w="116681" h="133350">
                <a:moveTo>
                  <a:pt x="113243" y="18257"/>
                </a:moveTo>
                <a:cubicBezTo>
                  <a:pt x="116968" y="20966"/>
                  <a:pt x="117801" y="26175"/>
                  <a:pt x="115093" y="29900"/>
                </a:cubicBezTo>
                <a:lnTo>
                  <a:pt x="48418" y="121578"/>
                </a:lnTo>
                <a:cubicBezTo>
                  <a:pt x="46985" y="123557"/>
                  <a:pt x="44771" y="124781"/>
                  <a:pt x="42323" y="124990"/>
                </a:cubicBezTo>
                <a:cubicBezTo>
                  <a:pt x="39875" y="125198"/>
                  <a:pt x="37505" y="124286"/>
                  <a:pt x="35786" y="122567"/>
                </a:cubicBezTo>
                <a:lnTo>
                  <a:pt x="2448" y="89230"/>
                </a:lnTo>
                <a:cubicBezTo>
                  <a:pt x="-807" y="85974"/>
                  <a:pt x="-807" y="80687"/>
                  <a:pt x="2448" y="77432"/>
                </a:cubicBezTo>
                <a:cubicBezTo>
                  <a:pt x="5704" y="74176"/>
                  <a:pt x="10991" y="74176"/>
                  <a:pt x="14247" y="77432"/>
                </a:cubicBezTo>
                <a:lnTo>
                  <a:pt x="40682" y="103867"/>
                </a:lnTo>
                <a:lnTo>
                  <a:pt x="101627" y="20081"/>
                </a:lnTo>
                <a:cubicBezTo>
                  <a:pt x="104336" y="16356"/>
                  <a:pt x="109545" y="15523"/>
                  <a:pt x="113269" y="18231"/>
                </a:cubicBezTo>
                <a:close/>
              </a:path>
            </a:pathLst>
          </a:custGeom>
          <a:solidFill>
            <a:srgbClr val="C0A062"/>
          </a:solidFill>
          <a:ln/>
        </p:spPr>
      </p:sp>
      <p:sp>
        <p:nvSpPr>
          <p:cNvPr id="12" name="Text 10"/>
          <p:cNvSpPr/>
          <p:nvPr/>
        </p:nvSpPr>
        <p:spPr>
          <a:xfrm>
            <a:off x="1447800" y="2809875"/>
            <a:ext cx="44291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Action:</a:t>
            </a:r>
            <a:pPr>
              <a:lnSpc>
                <a:spcPct val="120000"/>
              </a:lnSpc>
            </a:pPr>
            <a:r>
              <a:rPr lang="en-US" sz="105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Implement education-based risk tiers and tenure thresholds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00050" y="3448050"/>
            <a:ext cx="5638800" cy="2228850"/>
          </a:xfrm>
          <a:custGeom>
            <a:avLst/>
            <a:gdLst/>
            <a:ahLst/>
            <a:cxnLst/>
            <a:rect l="l" t="t" r="r" b="b"/>
            <a:pathLst>
              <a:path w="5638800" h="2228850">
                <a:moveTo>
                  <a:pt x="38100" y="0"/>
                </a:moveTo>
                <a:lnTo>
                  <a:pt x="5562596" y="0"/>
                </a:lnTo>
                <a:cubicBezTo>
                  <a:pt x="5604682" y="0"/>
                  <a:pt x="5638800" y="34118"/>
                  <a:pt x="5638800" y="76204"/>
                </a:cubicBezTo>
                <a:lnTo>
                  <a:pt x="5638800" y="2152646"/>
                </a:lnTo>
                <a:cubicBezTo>
                  <a:pt x="5638800" y="2194732"/>
                  <a:pt x="5604682" y="2228850"/>
                  <a:pt x="5562596" y="2228850"/>
                </a:cubicBezTo>
                <a:lnTo>
                  <a:pt x="38100" y="2228850"/>
                </a:lnTo>
                <a:cubicBezTo>
                  <a:pt x="17072" y="2228850"/>
                  <a:pt x="0" y="2211778"/>
                  <a:pt x="0" y="219075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sx="100000" sy="100000" kx="0" ky="0" algn="bl" rotWithShape="0" blurRad="28575" dist="9525" dir="5400000">
              <a:srgbClr val="000000">
                <a:alpha val="10196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00050" y="3448050"/>
            <a:ext cx="38100" cy="2228850"/>
          </a:xfrm>
          <a:custGeom>
            <a:avLst/>
            <a:gdLst/>
            <a:ahLst/>
            <a:cxnLst/>
            <a:rect l="l" t="t" r="r" b="b"/>
            <a:pathLst>
              <a:path w="38100" h="2228850">
                <a:moveTo>
                  <a:pt x="38100" y="0"/>
                </a:moveTo>
                <a:lnTo>
                  <a:pt x="38100" y="0"/>
                </a:lnTo>
                <a:lnTo>
                  <a:pt x="38100" y="2228850"/>
                </a:lnTo>
                <a:lnTo>
                  <a:pt x="38100" y="2228850"/>
                </a:lnTo>
                <a:cubicBezTo>
                  <a:pt x="17072" y="2228850"/>
                  <a:pt x="0" y="2211778"/>
                  <a:pt x="0" y="219075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2E4057"/>
          </a:solidFill>
          <a:ln/>
        </p:spPr>
      </p:sp>
      <p:sp>
        <p:nvSpPr>
          <p:cNvPr id="15" name="Shape 13"/>
          <p:cNvSpPr/>
          <p:nvPr/>
        </p:nvSpPr>
        <p:spPr>
          <a:xfrm>
            <a:off x="571500" y="382905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0"/>
                </a:moveTo>
                <a:lnTo>
                  <a:pt x="228600" y="0"/>
                </a:lnTo>
                <a:cubicBezTo>
                  <a:pt x="354768" y="0"/>
                  <a:pt x="457200" y="102432"/>
                  <a:pt x="457200" y="228600"/>
                </a:cubicBezTo>
                <a:lnTo>
                  <a:pt x="457200" y="228600"/>
                </a:lnTo>
                <a:cubicBezTo>
                  <a:pt x="457200" y="354768"/>
                  <a:pt x="354768" y="457200"/>
                  <a:pt x="228600" y="457200"/>
                </a:cubicBezTo>
                <a:lnTo>
                  <a:pt x="228600" y="457200"/>
                </a:lnTo>
                <a:cubicBezTo>
                  <a:pt x="102432" y="457200"/>
                  <a:pt x="0" y="354768"/>
                  <a:pt x="0" y="228600"/>
                </a:cubicBezTo>
                <a:lnTo>
                  <a:pt x="0" y="228600"/>
                </a:lnTo>
                <a:cubicBezTo>
                  <a:pt x="0" y="102432"/>
                  <a:pt x="102432" y="0"/>
                  <a:pt x="228600" y="0"/>
                </a:cubicBezTo>
                <a:close/>
              </a:path>
            </a:pathLst>
          </a:custGeom>
          <a:solidFill>
            <a:srgbClr val="2E4057"/>
          </a:solidFill>
          <a:ln/>
        </p:spPr>
      </p:sp>
      <p:sp>
        <p:nvSpPr>
          <p:cNvPr id="16" name="Text 14"/>
          <p:cNvSpPr/>
          <p:nvPr/>
        </p:nvSpPr>
        <p:spPr>
          <a:xfrm>
            <a:off x="523875" y="3829050"/>
            <a:ext cx="5524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b="1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43000" y="3829050"/>
            <a:ext cx="48291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2E405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Underwriting Alignment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143000" y="4133850"/>
            <a:ext cx="4819650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Loan amounts appear income-aligned among reliable borrowers but not among defaulters. The near-zero correlations for defaulters suggest </a:t>
            </a:r>
            <a:pPr>
              <a:lnSpc>
                <a:spcPct val="140000"/>
              </a:lnSpc>
            </a:pPr>
            <a:r>
              <a:rPr lang="en-US" sz="1200" b="1" dirty="0">
                <a:solidFill>
                  <a:srgbClr val="2D3748"/>
                </a:solidFill>
                <a:highlight>
                  <a:srgbClr val="C0A062">
                    <a:alpha val="20000"/>
                  </a:srgbClr>
                </a:highlight>
                <a:latin typeface="Liter" pitchFamily="34" charset="0"/>
                <a:ea typeface="Liter" pitchFamily="34" charset="-122"/>
                <a:cs typeface="Liter" pitchFamily="34" charset="-120"/>
              </a:rPr>
              <a:t>underwriting misalignment </a:t>
            </a:r>
            <a:pPr>
              <a:lnSpc>
                <a:spcPct val="140000"/>
              </a:lnSpc>
            </a:pPr>
            <a:r>
              <a:rPr lang="en-US" sz="12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.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1143000" y="4953000"/>
            <a:ext cx="4743450" cy="342900"/>
          </a:xfrm>
          <a:custGeom>
            <a:avLst/>
            <a:gdLst/>
            <a:ahLst/>
            <a:cxnLst/>
            <a:rect l="l" t="t" r="r" b="b"/>
            <a:pathLst>
              <a:path w="4743450" h="342900">
                <a:moveTo>
                  <a:pt x="38100" y="0"/>
                </a:moveTo>
                <a:lnTo>
                  <a:pt x="4705350" y="0"/>
                </a:lnTo>
                <a:cubicBezTo>
                  <a:pt x="4726392" y="0"/>
                  <a:pt x="4743450" y="17058"/>
                  <a:pt x="4743450" y="38100"/>
                </a:cubicBezTo>
                <a:lnTo>
                  <a:pt x="4743450" y="304800"/>
                </a:lnTo>
                <a:cubicBezTo>
                  <a:pt x="4743450" y="325842"/>
                  <a:pt x="4726392" y="342900"/>
                  <a:pt x="4705350" y="342900"/>
                </a:cubicBezTo>
                <a:lnTo>
                  <a:pt x="38100" y="342900"/>
                </a:lnTo>
                <a:cubicBezTo>
                  <a:pt x="17058" y="342900"/>
                  <a:pt x="0" y="325842"/>
                  <a:pt x="0" y="3048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2E4057">
              <a:alpha val="10196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246584" y="5053013"/>
            <a:ext cx="116681" cy="133350"/>
          </a:xfrm>
          <a:custGeom>
            <a:avLst/>
            <a:gdLst/>
            <a:ahLst/>
            <a:cxnLst/>
            <a:rect l="l" t="t" r="r" b="b"/>
            <a:pathLst>
              <a:path w="116681" h="133350">
                <a:moveTo>
                  <a:pt x="113243" y="18257"/>
                </a:moveTo>
                <a:cubicBezTo>
                  <a:pt x="116968" y="20966"/>
                  <a:pt x="117801" y="26175"/>
                  <a:pt x="115093" y="29900"/>
                </a:cubicBezTo>
                <a:lnTo>
                  <a:pt x="48418" y="121578"/>
                </a:lnTo>
                <a:cubicBezTo>
                  <a:pt x="46985" y="123557"/>
                  <a:pt x="44771" y="124781"/>
                  <a:pt x="42323" y="124990"/>
                </a:cubicBezTo>
                <a:cubicBezTo>
                  <a:pt x="39875" y="125198"/>
                  <a:pt x="37505" y="124286"/>
                  <a:pt x="35786" y="122567"/>
                </a:cubicBezTo>
                <a:lnTo>
                  <a:pt x="2448" y="89230"/>
                </a:lnTo>
                <a:cubicBezTo>
                  <a:pt x="-807" y="85974"/>
                  <a:pt x="-807" y="80687"/>
                  <a:pt x="2448" y="77432"/>
                </a:cubicBezTo>
                <a:cubicBezTo>
                  <a:pt x="5704" y="74176"/>
                  <a:pt x="10991" y="74176"/>
                  <a:pt x="14247" y="77432"/>
                </a:cubicBezTo>
                <a:lnTo>
                  <a:pt x="40682" y="103867"/>
                </a:lnTo>
                <a:lnTo>
                  <a:pt x="101627" y="20081"/>
                </a:lnTo>
                <a:cubicBezTo>
                  <a:pt x="104336" y="16356"/>
                  <a:pt x="109545" y="15523"/>
                  <a:pt x="113269" y="18231"/>
                </a:cubicBezTo>
                <a:close/>
              </a:path>
            </a:pathLst>
          </a:custGeom>
          <a:solidFill>
            <a:srgbClr val="2E4057"/>
          </a:solidFill>
          <a:ln/>
        </p:spPr>
      </p:sp>
      <p:sp>
        <p:nvSpPr>
          <p:cNvPr id="21" name="Text 19"/>
          <p:cNvSpPr/>
          <p:nvPr/>
        </p:nvSpPr>
        <p:spPr>
          <a:xfrm>
            <a:off x="1447800" y="5029200"/>
            <a:ext cx="44291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Action:</a:t>
            </a:r>
            <a:pPr>
              <a:lnSpc>
                <a:spcPct val="120000"/>
              </a:lnSpc>
            </a:pPr>
            <a:r>
              <a:rPr lang="en-US" sz="105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Enforce income-consistency checks and debt-to-income limits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172200" y="1104900"/>
            <a:ext cx="5638800" cy="2228850"/>
          </a:xfrm>
          <a:custGeom>
            <a:avLst/>
            <a:gdLst/>
            <a:ahLst/>
            <a:cxnLst/>
            <a:rect l="l" t="t" r="r" b="b"/>
            <a:pathLst>
              <a:path w="5638800" h="2228850">
                <a:moveTo>
                  <a:pt x="38100" y="0"/>
                </a:moveTo>
                <a:lnTo>
                  <a:pt x="5562596" y="0"/>
                </a:lnTo>
                <a:cubicBezTo>
                  <a:pt x="5604682" y="0"/>
                  <a:pt x="5638800" y="34118"/>
                  <a:pt x="5638800" y="76204"/>
                </a:cubicBezTo>
                <a:lnTo>
                  <a:pt x="5638800" y="2152646"/>
                </a:lnTo>
                <a:cubicBezTo>
                  <a:pt x="5638800" y="2194732"/>
                  <a:pt x="5604682" y="2228850"/>
                  <a:pt x="5562596" y="2228850"/>
                </a:cubicBezTo>
                <a:lnTo>
                  <a:pt x="38100" y="2228850"/>
                </a:lnTo>
                <a:cubicBezTo>
                  <a:pt x="17072" y="2228850"/>
                  <a:pt x="0" y="2211778"/>
                  <a:pt x="0" y="219075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sx="100000" sy="100000" kx="0" ky="0" algn="bl" rotWithShape="0" blurRad="28575" dist="9525" dir="5400000">
              <a:srgbClr val="000000">
                <a:alpha val="10196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172200" y="1104900"/>
            <a:ext cx="38100" cy="2228850"/>
          </a:xfrm>
          <a:custGeom>
            <a:avLst/>
            <a:gdLst/>
            <a:ahLst/>
            <a:cxnLst/>
            <a:rect l="l" t="t" r="r" b="b"/>
            <a:pathLst>
              <a:path w="38100" h="2228850">
                <a:moveTo>
                  <a:pt x="38100" y="0"/>
                </a:moveTo>
                <a:lnTo>
                  <a:pt x="38100" y="0"/>
                </a:lnTo>
                <a:lnTo>
                  <a:pt x="38100" y="2228850"/>
                </a:lnTo>
                <a:lnTo>
                  <a:pt x="38100" y="2228850"/>
                </a:lnTo>
                <a:cubicBezTo>
                  <a:pt x="17072" y="2228850"/>
                  <a:pt x="0" y="2211778"/>
                  <a:pt x="0" y="219075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A0AEC0"/>
          </a:solidFill>
          <a:ln/>
        </p:spPr>
      </p:sp>
      <p:sp>
        <p:nvSpPr>
          <p:cNvPr id="24" name="Shape 22"/>
          <p:cNvSpPr/>
          <p:nvPr/>
        </p:nvSpPr>
        <p:spPr>
          <a:xfrm>
            <a:off x="6343650" y="14859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0"/>
                </a:moveTo>
                <a:lnTo>
                  <a:pt x="228600" y="0"/>
                </a:lnTo>
                <a:cubicBezTo>
                  <a:pt x="354768" y="0"/>
                  <a:pt x="457200" y="102432"/>
                  <a:pt x="457200" y="228600"/>
                </a:cubicBezTo>
                <a:lnTo>
                  <a:pt x="457200" y="228600"/>
                </a:lnTo>
                <a:cubicBezTo>
                  <a:pt x="457200" y="354768"/>
                  <a:pt x="354768" y="457200"/>
                  <a:pt x="228600" y="457200"/>
                </a:cubicBezTo>
                <a:lnTo>
                  <a:pt x="228600" y="457200"/>
                </a:lnTo>
                <a:cubicBezTo>
                  <a:pt x="102432" y="457200"/>
                  <a:pt x="0" y="354768"/>
                  <a:pt x="0" y="228600"/>
                </a:cubicBezTo>
                <a:lnTo>
                  <a:pt x="0" y="228600"/>
                </a:lnTo>
                <a:cubicBezTo>
                  <a:pt x="0" y="102432"/>
                  <a:pt x="102432" y="0"/>
                  <a:pt x="228600" y="0"/>
                </a:cubicBezTo>
                <a:close/>
              </a:path>
            </a:pathLst>
          </a:custGeom>
          <a:solidFill>
            <a:srgbClr val="A0AEC0"/>
          </a:solidFill>
          <a:ln/>
        </p:spPr>
      </p:sp>
      <p:sp>
        <p:nvSpPr>
          <p:cNvPr id="25" name="Text 23"/>
          <p:cNvSpPr/>
          <p:nvPr/>
        </p:nvSpPr>
        <p:spPr>
          <a:xfrm>
            <a:off x="6296025" y="1485900"/>
            <a:ext cx="5524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b="1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915150" y="1485900"/>
            <a:ext cx="48291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2E405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Feature Prioritization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915150" y="1790700"/>
            <a:ext cx="4819650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b="1" dirty="0">
                <a:solidFill>
                  <a:srgbClr val="2D3748"/>
                </a:solidFill>
                <a:highlight>
                  <a:srgbClr val="C0A062">
                    <a:alpha val="20000"/>
                  </a:srgbClr>
                </a:highlight>
                <a:latin typeface="Liter" pitchFamily="34" charset="0"/>
                <a:ea typeface="Liter" pitchFamily="34" charset="-122"/>
                <a:cs typeface="Liter" pitchFamily="34" charset="-120"/>
              </a:rPr>
              <a:t>Relative metrics </a:t>
            </a:r>
            <a:pPr>
              <a:lnSpc>
                <a:spcPct val="140000"/>
              </a:lnSpc>
            </a:pPr>
            <a:r>
              <a:rPr lang="en-US" sz="12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(e.g., loan-to-income ratio, tenure-income interactions) are likely more predictive than absolute values. Raw credit amounts showed limited discriminatory power.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915150" y="2609850"/>
            <a:ext cx="4743450" cy="342900"/>
          </a:xfrm>
          <a:custGeom>
            <a:avLst/>
            <a:gdLst/>
            <a:ahLst/>
            <a:cxnLst/>
            <a:rect l="l" t="t" r="r" b="b"/>
            <a:pathLst>
              <a:path w="4743450" h="342900">
                <a:moveTo>
                  <a:pt x="38100" y="0"/>
                </a:moveTo>
                <a:lnTo>
                  <a:pt x="4705350" y="0"/>
                </a:lnTo>
                <a:cubicBezTo>
                  <a:pt x="4726392" y="0"/>
                  <a:pt x="4743450" y="17058"/>
                  <a:pt x="4743450" y="38100"/>
                </a:cubicBezTo>
                <a:lnTo>
                  <a:pt x="4743450" y="304800"/>
                </a:lnTo>
                <a:cubicBezTo>
                  <a:pt x="4743450" y="325842"/>
                  <a:pt x="4726392" y="342900"/>
                  <a:pt x="4705350" y="342900"/>
                </a:cubicBezTo>
                <a:lnTo>
                  <a:pt x="38100" y="342900"/>
                </a:lnTo>
                <a:cubicBezTo>
                  <a:pt x="17058" y="342900"/>
                  <a:pt x="0" y="325842"/>
                  <a:pt x="0" y="3048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A0AEC0">
              <a:alpha val="10196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7018734" y="2709863"/>
            <a:ext cx="116681" cy="133350"/>
          </a:xfrm>
          <a:custGeom>
            <a:avLst/>
            <a:gdLst/>
            <a:ahLst/>
            <a:cxnLst/>
            <a:rect l="l" t="t" r="r" b="b"/>
            <a:pathLst>
              <a:path w="116681" h="133350">
                <a:moveTo>
                  <a:pt x="113243" y="18257"/>
                </a:moveTo>
                <a:cubicBezTo>
                  <a:pt x="116968" y="20966"/>
                  <a:pt x="117801" y="26175"/>
                  <a:pt x="115093" y="29900"/>
                </a:cubicBezTo>
                <a:lnTo>
                  <a:pt x="48418" y="121578"/>
                </a:lnTo>
                <a:cubicBezTo>
                  <a:pt x="46985" y="123557"/>
                  <a:pt x="44771" y="124781"/>
                  <a:pt x="42323" y="124990"/>
                </a:cubicBezTo>
                <a:cubicBezTo>
                  <a:pt x="39875" y="125198"/>
                  <a:pt x="37505" y="124286"/>
                  <a:pt x="35786" y="122567"/>
                </a:cubicBezTo>
                <a:lnTo>
                  <a:pt x="2448" y="89230"/>
                </a:lnTo>
                <a:cubicBezTo>
                  <a:pt x="-807" y="85974"/>
                  <a:pt x="-807" y="80687"/>
                  <a:pt x="2448" y="77432"/>
                </a:cubicBezTo>
                <a:cubicBezTo>
                  <a:pt x="5704" y="74176"/>
                  <a:pt x="10991" y="74176"/>
                  <a:pt x="14247" y="77432"/>
                </a:cubicBezTo>
                <a:lnTo>
                  <a:pt x="40682" y="103867"/>
                </a:lnTo>
                <a:lnTo>
                  <a:pt x="101627" y="20081"/>
                </a:lnTo>
                <a:cubicBezTo>
                  <a:pt x="104336" y="16356"/>
                  <a:pt x="109545" y="15523"/>
                  <a:pt x="113269" y="18231"/>
                </a:cubicBezTo>
                <a:close/>
              </a:path>
            </a:pathLst>
          </a:custGeom>
          <a:solidFill>
            <a:srgbClr val="A0AEC0"/>
          </a:solidFill>
          <a:ln/>
        </p:spPr>
      </p:sp>
      <p:sp>
        <p:nvSpPr>
          <p:cNvPr id="30" name="Text 28"/>
          <p:cNvSpPr/>
          <p:nvPr/>
        </p:nvSpPr>
        <p:spPr>
          <a:xfrm>
            <a:off x="7219950" y="2686050"/>
            <a:ext cx="44291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Action:</a:t>
            </a:r>
            <a:pPr>
              <a:lnSpc>
                <a:spcPct val="120000"/>
              </a:lnSpc>
            </a:pPr>
            <a:r>
              <a:rPr lang="en-US" sz="105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Engineer ratio-based features for scoring models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172200" y="3448050"/>
            <a:ext cx="5638800" cy="2228850"/>
          </a:xfrm>
          <a:custGeom>
            <a:avLst/>
            <a:gdLst/>
            <a:ahLst/>
            <a:cxnLst/>
            <a:rect l="l" t="t" r="r" b="b"/>
            <a:pathLst>
              <a:path w="5638800" h="2228850">
                <a:moveTo>
                  <a:pt x="38100" y="0"/>
                </a:moveTo>
                <a:lnTo>
                  <a:pt x="5562596" y="0"/>
                </a:lnTo>
                <a:cubicBezTo>
                  <a:pt x="5604682" y="0"/>
                  <a:pt x="5638800" y="34118"/>
                  <a:pt x="5638800" y="76204"/>
                </a:cubicBezTo>
                <a:lnTo>
                  <a:pt x="5638800" y="2152646"/>
                </a:lnTo>
                <a:cubicBezTo>
                  <a:pt x="5638800" y="2194732"/>
                  <a:pt x="5604682" y="2228850"/>
                  <a:pt x="5562596" y="2228850"/>
                </a:cubicBezTo>
                <a:lnTo>
                  <a:pt x="38100" y="2228850"/>
                </a:lnTo>
                <a:cubicBezTo>
                  <a:pt x="17072" y="2228850"/>
                  <a:pt x="0" y="2211778"/>
                  <a:pt x="0" y="219075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sx="100000" sy="100000" kx="0" ky="0" algn="bl" rotWithShape="0" blurRad="28575" dist="9525" dir="5400000">
              <a:srgbClr val="000000">
                <a:alpha val="10196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172200" y="3448050"/>
            <a:ext cx="38100" cy="2228850"/>
          </a:xfrm>
          <a:custGeom>
            <a:avLst/>
            <a:gdLst/>
            <a:ahLst/>
            <a:cxnLst/>
            <a:rect l="l" t="t" r="r" b="b"/>
            <a:pathLst>
              <a:path w="38100" h="2228850">
                <a:moveTo>
                  <a:pt x="38100" y="0"/>
                </a:moveTo>
                <a:lnTo>
                  <a:pt x="38100" y="0"/>
                </a:lnTo>
                <a:lnTo>
                  <a:pt x="38100" y="2228850"/>
                </a:lnTo>
                <a:lnTo>
                  <a:pt x="38100" y="2228850"/>
                </a:lnTo>
                <a:cubicBezTo>
                  <a:pt x="17072" y="2228850"/>
                  <a:pt x="0" y="2211778"/>
                  <a:pt x="0" y="219075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C0A062"/>
          </a:solidFill>
          <a:ln/>
        </p:spPr>
      </p:sp>
      <p:sp>
        <p:nvSpPr>
          <p:cNvPr id="33" name="Shape 31"/>
          <p:cNvSpPr/>
          <p:nvPr/>
        </p:nvSpPr>
        <p:spPr>
          <a:xfrm>
            <a:off x="6343650" y="3705225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0"/>
                </a:moveTo>
                <a:lnTo>
                  <a:pt x="228600" y="0"/>
                </a:lnTo>
                <a:cubicBezTo>
                  <a:pt x="354768" y="0"/>
                  <a:pt x="457200" y="102432"/>
                  <a:pt x="457200" y="228600"/>
                </a:cubicBezTo>
                <a:lnTo>
                  <a:pt x="457200" y="228600"/>
                </a:lnTo>
                <a:cubicBezTo>
                  <a:pt x="457200" y="354768"/>
                  <a:pt x="354768" y="457200"/>
                  <a:pt x="228600" y="457200"/>
                </a:cubicBezTo>
                <a:lnTo>
                  <a:pt x="228600" y="457200"/>
                </a:lnTo>
                <a:cubicBezTo>
                  <a:pt x="102432" y="457200"/>
                  <a:pt x="0" y="354768"/>
                  <a:pt x="0" y="228600"/>
                </a:cubicBezTo>
                <a:lnTo>
                  <a:pt x="0" y="228600"/>
                </a:lnTo>
                <a:cubicBezTo>
                  <a:pt x="0" y="102432"/>
                  <a:pt x="102432" y="0"/>
                  <a:pt x="228600" y="0"/>
                </a:cubicBezTo>
                <a:close/>
              </a:path>
            </a:pathLst>
          </a:custGeom>
          <a:solidFill>
            <a:srgbClr val="C0A062"/>
          </a:solidFill>
          <a:ln/>
        </p:spPr>
      </p:sp>
      <p:sp>
        <p:nvSpPr>
          <p:cNvPr id="34" name="Text 32"/>
          <p:cNvSpPr/>
          <p:nvPr/>
        </p:nvSpPr>
        <p:spPr>
          <a:xfrm>
            <a:off x="6296025" y="3705225"/>
            <a:ext cx="5524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b="1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4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6915150" y="3705225"/>
            <a:ext cx="48291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2E4057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Operational Considerations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6915150" y="4010025"/>
            <a:ext cx="48196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Segments with extreme percentages but </a:t>
            </a:r>
            <a:pPr>
              <a:lnSpc>
                <a:spcPct val="140000"/>
              </a:lnSpc>
            </a:pPr>
            <a:r>
              <a:rPr lang="en-US" sz="1200" b="1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very small sample sizes</a:t>
            </a:r>
            <a:pPr>
              <a:lnSpc>
                <a:spcPct val="140000"/>
              </a:lnSpc>
            </a:pPr>
            <a:r>
              <a:rPr lang="en-US" sz="120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(e.g., Unemployed at 36-40% default rate, n=22) should not drive policy decisions. Count-dominant groups should be evaluated using rates, not raw volume.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915150" y="5076825"/>
            <a:ext cx="4743450" cy="342900"/>
          </a:xfrm>
          <a:custGeom>
            <a:avLst/>
            <a:gdLst/>
            <a:ahLst/>
            <a:cxnLst/>
            <a:rect l="l" t="t" r="r" b="b"/>
            <a:pathLst>
              <a:path w="4743450" h="342900">
                <a:moveTo>
                  <a:pt x="38100" y="0"/>
                </a:moveTo>
                <a:lnTo>
                  <a:pt x="4705350" y="0"/>
                </a:lnTo>
                <a:cubicBezTo>
                  <a:pt x="4726392" y="0"/>
                  <a:pt x="4743450" y="17058"/>
                  <a:pt x="4743450" y="38100"/>
                </a:cubicBezTo>
                <a:lnTo>
                  <a:pt x="4743450" y="304800"/>
                </a:lnTo>
                <a:cubicBezTo>
                  <a:pt x="4743450" y="325842"/>
                  <a:pt x="4726392" y="342900"/>
                  <a:pt x="4705350" y="342900"/>
                </a:cubicBezTo>
                <a:lnTo>
                  <a:pt x="38100" y="342900"/>
                </a:lnTo>
                <a:cubicBezTo>
                  <a:pt x="17058" y="342900"/>
                  <a:pt x="0" y="325842"/>
                  <a:pt x="0" y="3048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C0A062">
              <a:alpha val="10196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7018734" y="5176838"/>
            <a:ext cx="116681" cy="133350"/>
          </a:xfrm>
          <a:custGeom>
            <a:avLst/>
            <a:gdLst/>
            <a:ahLst/>
            <a:cxnLst/>
            <a:rect l="l" t="t" r="r" b="b"/>
            <a:pathLst>
              <a:path w="116681" h="133350">
                <a:moveTo>
                  <a:pt x="113243" y="18257"/>
                </a:moveTo>
                <a:cubicBezTo>
                  <a:pt x="116968" y="20966"/>
                  <a:pt x="117801" y="26175"/>
                  <a:pt x="115093" y="29900"/>
                </a:cubicBezTo>
                <a:lnTo>
                  <a:pt x="48418" y="121578"/>
                </a:lnTo>
                <a:cubicBezTo>
                  <a:pt x="46985" y="123557"/>
                  <a:pt x="44771" y="124781"/>
                  <a:pt x="42323" y="124990"/>
                </a:cubicBezTo>
                <a:cubicBezTo>
                  <a:pt x="39875" y="125198"/>
                  <a:pt x="37505" y="124286"/>
                  <a:pt x="35786" y="122567"/>
                </a:cubicBezTo>
                <a:lnTo>
                  <a:pt x="2448" y="89230"/>
                </a:lnTo>
                <a:cubicBezTo>
                  <a:pt x="-807" y="85974"/>
                  <a:pt x="-807" y="80687"/>
                  <a:pt x="2448" y="77432"/>
                </a:cubicBezTo>
                <a:cubicBezTo>
                  <a:pt x="5704" y="74176"/>
                  <a:pt x="10991" y="74176"/>
                  <a:pt x="14247" y="77432"/>
                </a:cubicBezTo>
                <a:lnTo>
                  <a:pt x="40682" y="103867"/>
                </a:lnTo>
                <a:lnTo>
                  <a:pt x="101627" y="20081"/>
                </a:lnTo>
                <a:cubicBezTo>
                  <a:pt x="104336" y="16356"/>
                  <a:pt x="109545" y="15523"/>
                  <a:pt x="113269" y="18231"/>
                </a:cubicBezTo>
                <a:close/>
              </a:path>
            </a:pathLst>
          </a:custGeom>
          <a:solidFill>
            <a:srgbClr val="C0A062"/>
          </a:solidFill>
          <a:ln/>
        </p:spPr>
      </p:sp>
      <p:sp>
        <p:nvSpPr>
          <p:cNvPr id="39" name="Text 37"/>
          <p:cNvSpPr/>
          <p:nvPr/>
        </p:nvSpPr>
        <p:spPr>
          <a:xfrm>
            <a:off x="7219950" y="5153025"/>
            <a:ext cx="44291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Action:</a:t>
            </a:r>
            <a:pPr>
              <a:lnSpc>
                <a:spcPct val="120000"/>
              </a:lnSpc>
            </a:pPr>
            <a:r>
              <a:rPr lang="en-US" sz="1050" dirty="0">
                <a:solidFill>
                  <a:srgbClr val="2D374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Use approval/default rates for count-dominant segments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381000" y="5753100"/>
            <a:ext cx="11430000" cy="723900"/>
          </a:xfrm>
          <a:custGeom>
            <a:avLst/>
            <a:gdLst/>
            <a:ahLst/>
            <a:cxnLst/>
            <a:rect l="l" t="t" r="r" b="b"/>
            <a:pathLst>
              <a:path w="11430000" h="723900">
                <a:moveTo>
                  <a:pt x="76198" y="0"/>
                </a:moveTo>
                <a:lnTo>
                  <a:pt x="11353802" y="0"/>
                </a:lnTo>
                <a:cubicBezTo>
                  <a:pt x="11395857" y="0"/>
                  <a:pt x="11430000" y="34143"/>
                  <a:pt x="11430000" y="76198"/>
                </a:cubicBezTo>
                <a:lnTo>
                  <a:pt x="11430000" y="647702"/>
                </a:lnTo>
                <a:cubicBezTo>
                  <a:pt x="11430000" y="689757"/>
                  <a:pt x="11395857" y="723900"/>
                  <a:pt x="11353802" y="723900"/>
                </a:cubicBezTo>
                <a:lnTo>
                  <a:pt x="76198" y="723900"/>
                </a:lnTo>
                <a:cubicBezTo>
                  <a:pt x="34143" y="723900"/>
                  <a:pt x="0" y="689757"/>
                  <a:pt x="0" y="647702"/>
                </a:cubicBezTo>
                <a:lnTo>
                  <a:pt x="0" y="76198"/>
                </a:lnTo>
                <a:cubicBezTo>
                  <a:pt x="0" y="34143"/>
                  <a:pt x="34143" y="0"/>
                  <a:pt x="76198" y="0"/>
                </a:cubicBezTo>
                <a:close/>
              </a:path>
            </a:pathLst>
          </a:custGeom>
          <a:solidFill>
            <a:srgbClr val="2E4057"/>
          </a:solidFill>
          <a:ln/>
        </p:spPr>
      </p:sp>
      <p:sp>
        <p:nvSpPr>
          <p:cNvPr id="41" name="Shape 39"/>
          <p:cNvSpPr/>
          <p:nvPr/>
        </p:nvSpPr>
        <p:spPr>
          <a:xfrm>
            <a:off x="523875" y="600075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57150" y="142875"/>
                </a:moveTo>
                <a:lnTo>
                  <a:pt x="10939" y="142875"/>
                </a:lnTo>
                <a:cubicBezTo>
                  <a:pt x="-179" y="142875"/>
                  <a:pt x="-7010" y="130775"/>
                  <a:pt x="-1295" y="121221"/>
                </a:cubicBezTo>
                <a:lnTo>
                  <a:pt x="22324" y="81841"/>
                </a:lnTo>
                <a:cubicBezTo>
                  <a:pt x="26209" y="75367"/>
                  <a:pt x="33174" y="71438"/>
                  <a:pt x="40719" y="71438"/>
                </a:cubicBezTo>
                <a:lnTo>
                  <a:pt x="83135" y="71438"/>
                </a:lnTo>
                <a:cubicBezTo>
                  <a:pt x="117113" y="13886"/>
                  <a:pt x="167789" y="10984"/>
                  <a:pt x="201677" y="15939"/>
                </a:cubicBezTo>
                <a:cubicBezTo>
                  <a:pt x="207392" y="16788"/>
                  <a:pt x="211857" y="21253"/>
                  <a:pt x="212661" y="26923"/>
                </a:cubicBezTo>
                <a:cubicBezTo>
                  <a:pt x="217616" y="60811"/>
                  <a:pt x="214714" y="111487"/>
                  <a:pt x="157163" y="145465"/>
                </a:cubicBezTo>
                <a:lnTo>
                  <a:pt x="157163" y="187881"/>
                </a:lnTo>
                <a:cubicBezTo>
                  <a:pt x="157163" y="195426"/>
                  <a:pt x="153233" y="202391"/>
                  <a:pt x="146759" y="206276"/>
                </a:cubicBezTo>
                <a:lnTo>
                  <a:pt x="107379" y="229895"/>
                </a:lnTo>
                <a:cubicBezTo>
                  <a:pt x="97869" y="235610"/>
                  <a:pt x="85725" y="228734"/>
                  <a:pt x="85725" y="217661"/>
                </a:cubicBezTo>
                <a:lnTo>
                  <a:pt x="85725" y="171450"/>
                </a:lnTo>
                <a:cubicBezTo>
                  <a:pt x="85725" y="155689"/>
                  <a:pt x="72911" y="142875"/>
                  <a:pt x="57150" y="142875"/>
                </a:cubicBezTo>
                <a:lnTo>
                  <a:pt x="57105" y="142875"/>
                </a:lnTo>
                <a:close/>
                <a:moveTo>
                  <a:pt x="178594" y="71438"/>
                </a:moveTo>
                <a:cubicBezTo>
                  <a:pt x="178594" y="59609"/>
                  <a:pt x="168991" y="50006"/>
                  <a:pt x="157163" y="50006"/>
                </a:cubicBezTo>
                <a:cubicBezTo>
                  <a:pt x="145334" y="50006"/>
                  <a:pt x="135731" y="59609"/>
                  <a:pt x="135731" y="71438"/>
                </a:cubicBezTo>
                <a:cubicBezTo>
                  <a:pt x="135731" y="83266"/>
                  <a:pt x="145334" y="92869"/>
                  <a:pt x="157163" y="92869"/>
                </a:cubicBezTo>
                <a:cubicBezTo>
                  <a:pt x="168991" y="92869"/>
                  <a:pt x="178594" y="83266"/>
                  <a:pt x="178594" y="71438"/>
                </a:cubicBezTo>
                <a:close/>
              </a:path>
            </a:pathLst>
          </a:custGeom>
          <a:solidFill>
            <a:srgbClr val="C0A062"/>
          </a:solidFill>
          <a:ln/>
        </p:spPr>
      </p:sp>
      <p:sp>
        <p:nvSpPr>
          <p:cNvPr id="42" name="Text 40"/>
          <p:cNvSpPr/>
          <p:nvPr/>
        </p:nvSpPr>
        <p:spPr>
          <a:xfrm>
            <a:off x="933450" y="5867400"/>
            <a:ext cx="108394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b="1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Strategic Impact:</a:t>
            </a:r>
            <a:pPr>
              <a:lnSpc>
                <a:spcPct val="140000"/>
              </a:lnSpc>
            </a:pPr>
            <a:r>
              <a:rPr lang="en-US" sz="1200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Incorporating structural stability indicators and interaction-based measures can help lenders more effectively distinguish reliable applicants from high-risk ones, directly supporting the business objective of </a:t>
            </a:r>
            <a:pPr>
              <a:lnSpc>
                <a:spcPct val="140000"/>
              </a:lnSpc>
            </a:pPr>
            <a:r>
              <a:rPr lang="en-US" sz="1200" dirty="0">
                <a:solidFill>
                  <a:srgbClr val="FFFFFF"/>
                </a:solidFill>
                <a:highlight>
                  <a:srgbClr val="C0A062">
                    <a:alpha val="30000"/>
                  </a:srgbClr>
                </a:highlight>
                <a:latin typeface="Liter" pitchFamily="34" charset="0"/>
                <a:ea typeface="Liter" pitchFamily="34" charset="-122"/>
                <a:cs typeface="Liter" pitchFamily="34" charset="-120"/>
              </a:rPr>
              <a:t>optimizing approval decisions </a:t>
            </a:r>
            <a:pPr>
              <a:lnSpc>
                <a:spcPct val="140000"/>
              </a:lnSpc>
            </a:pPr>
            <a:r>
              <a:rPr lang="en-US" sz="1200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.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E40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plat.ai/e9dad6d4d7048ba22974bb3b58b88ddc710b7268.webp">    </p:cNvPr>
          <p:cNvPicPr>
            <a:picLocks noChangeAspect="1"/>
          </p:cNvPicPr>
          <p:nvPr/>
        </p:nvPicPr>
        <p:blipFill>
          <a:blip r:embed="rId1">
            <a:alphaModFix amt="20000"/>
          </a:blip>
          <a:srcRect l="0" r="0" t="7813" b="7813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rotWithShape="1" flip="none">
            <a:gsLst>
              <a:gs pos="0">
                <a:srgbClr val="2E4057">
                  <a:alpha val="95000"/>
                </a:srgbClr>
              </a:gs>
              <a:gs pos="50000">
                <a:srgbClr val="2E4057">
                  <a:alpha val="90000"/>
                </a:srgbClr>
              </a:gs>
              <a:gs pos="100000">
                <a:srgbClr val="2E4057">
                  <a:alpha val="85000"/>
                </a:srgbClr>
              </a:gs>
            </a:gsLst>
            <a:lin ang="2700000" scaled="1"/>
          </a:gradFill>
          <a:ln/>
        </p:spPr>
      </p:sp>
      <p:sp>
        <p:nvSpPr>
          <p:cNvPr id="4" name="Shape 1"/>
          <p:cNvSpPr/>
          <p:nvPr/>
        </p:nvSpPr>
        <p:spPr>
          <a:xfrm>
            <a:off x="381000" y="495300"/>
            <a:ext cx="609600" cy="38100"/>
          </a:xfrm>
          <a:custGeom>
            <a:avLst/>
            <a:gdLst/>
            <a:ahLst/>
            <a:cxnLst/>
            <a:rect l="l" t="t" r="r" b="b"/>
            <a:pathLst>
              <a:path w="609600" h="38100">
                <a:moveTo>
                  <a:pt x="0" y="0"/>
                </a:moveTo>
                <a:lnTo>
                  <a:pt x="609600" y="0"/>
                </a:lnTo>
                <a:lnTo>
                  <a:pt x="6096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C0A062"/>
          </a:solidFill>
          <a:ln/>
        </p:spPr>
      </p:sp>
      <p:sp>
        <p:nvSpPr>
          <p:cNvPr id="5" name="Text 2"/>
          <p:cNvSpPr/>
          <p:nvPr/>
        </p:nvSpPr>
        <p:spPr>
          <a:xfrm>
            <a:off x="1104900" y="381000"/>
            <a:ext cx="16859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spc="135" kern="0" dirty="0">
                <a:solidFill>
                  <a:srgbClr val="C0A06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Takeaways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381000" y="800100"/>
            <a:ext cx="11658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F7FAF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Data-Driven Risk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F7FAF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Optimization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85763" y="2284437"/>
            <a:ext cx="3695700" cy="2124075"/>
          </a:xfrm>
          <a:custGeom>
            <a:avLst/>
            <a:gdLst/>
            <a:ahLst/>
            <a:cxnLst/>
            <a:rect l="l" t="t" r="r" b="b"/>
            <a:pathLst>
              <a:path w="3695700" h="2124075">
                <a:moveTo>
                  <a:pt x="76191" y="0"/>
                </a:moveTo>
                <a:lnTo>
                  <a:pt x="3619509" y="0"/>
                </a:lnTo>
                <a:cubicBezTo>
                  <a:pt x="3661560" y="0"/>
                  <a:pt x="3695700" y="34140"/>
                  <a:pt x="3695700" y="76191"/>
                </a:cubicBezTo>
                <a:lnTo>
                  <a:pt x="3695700" y="2047884"/>
                </a:lnTo>
                <a:cubicBezTo>
                  <a:pt x="3695700" y="2089935"/>
                  <a:pt x="3661560" y="2124075"/>
                  <a:pt x="3619509" y="2124075"/>
                </a:cubicBezTo>
                <a:lnTo>
                  <a:pt x="76191" y="2124075"/>
                </a:lnTo>
                <a:cubicBezTo>
                  <a:pt x="34140" y="2124075"/>
                  <a:pt x="0" y="2089935"/>
                  <a:pt x="0" y="2047884"/>
                </a:cubicBezTo>
                <a:lnTo>
                  <a:pt x="0" y="76191"/>
                </a:lnTo>
                <a:cubicBezTo>
                  <a:pt x="0" y="34140"/>
                  <a:pt x="34140" y="0"/>
                  <a:pt x="76191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81025" y="2479700"/>
            <a:ext cx="533400" cy="533400"/>
          </a:xfrm>
          <a:custGeom>
            <a:avLst/>
            <a:gdLst/>
            <a:ahLst/>
            <a:cxnLst/>
            <a:rect l="l" t="t" r="r" b="b"/>
            <a:pathLst>
              <a:path w="533400" h="533400">
                <a:moveTo>
                  <a:pt x="266700" y="0"/>
                </a:moveTo>
                <a:lnTo>
                  <a:pt x="266700" y="0"/>
                </a:lnTo>
                <a:cubicBezTo>
                  <a:pt x="413896" y="0"/>
                  <a:pt x="533400" y="119504"/>
                  <a:pt x="533400" y="266700"/>
                </a:cubicBezTo>
                <a:lnTo>
                  <a:pt x="533400" y="266700"/>
                </a:lnTo>
                <a:cubicBezTo>
                  <a:pt x="533400" y="413896"/>
                  <a:pt x="413896" y="533400"/>
                  <a:pt x="266700" y="533400"/>
                </a:cubicBezTo>
                <a:lnTo>
                  <a:pt x="266700" y="533400"/>
                </a:lnTo>
                <a:cubicBezTo>
                  <a:pt x="119504" y="533400"/>
                  <a:pt x="0" y="413896"/>
                  <a:pt x="0" y="266700"/>
                </a:cubicBezTo>
                <a:lnTo>
                  <a:pt x="0" y="266700"/>
                </a:lnTo>
                <a:cubicBezTo>
                  <a:pt x="0" y="119504"/>
                  <a:pt x="119504" y="0"/>
                  <a:pt x="266700" y="0"/>
                </a:cubicBezTo>
                <a:close/>
              </a:path>
            </a:pathLst>
          </a:custGeom>
          <a:solidFill>
            <a:srgbClr val="C0A062"/>
          </a:solidFill>
          <a:ln/>
        </p:spPr>
      </p:sp>
      <p:sp>
        <p:nvSpPr>
          <p:cNvPr id="9" name="Shape 6"/>
          <p:cNvSpPr/>
          <p:nvPr/>
        </p:nvSpPr>
        <p:spPr>
          <a:xfrm>
            <a:off x="733425" y="26321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0"/>
                </a:moveTo>
                <a:cubicBezTo>
                  <a:pt x="116354" y="0"/>
                  <a:pt x="118408" y="446"/>
                  <a:pt x="120283" y="1295"/>
                </a:cubicBezTo>
                <a:lnTo>
                  <a:pt x="204401" y="36969"/>
                </a:lnTo>
                <a:cubicBezTo>
                  <a:pt x="214223" y="41121"/>
                  <a:pt x="221546" y="50810"/>
                  <a:pt x="221501" y="62508"/>
                </a:cubicBezTo>
                <a:cubicBezTo>
                  <a:pt x="221278" y="106799"/>
                  <a:pt x="203061" y="187836"/>
                  <a:pt x="126132" y="224671"/>
                </a:cubicBezTo>
                <a:cubicBezTo>
                  <a:pt x="118676" y="228243"/>
                  <a:pt x="110014" y="228243"/>
                  <a:pt x="102557" y="224671"/>
                </a:cubicBezTo>
                <a:cubicBezTo>
                  <a:pt x="25584" y="187836"/>
                  <a:pt x="7412" y="106799"/>
                  <a:pt x="7188" y="62508"/>
                </a:cubicBezTo>
                <a:cubicBezTo>
                  <a:pt x="7144" y="50810"/>
                  <a:pt x="14466" y="41121"/>
                  <a:pt x="24289" y="36969"/>
                </a:cubicBezTo>
                <a:lnTo>
                  <a:pt x="108362" y="1295"/>
                </a:lnTo>
                <a:cubicBezTo>
                  <a:pt x="110237" y="446"/>
                  <a:pt x="112246" y="0"/>
                  <a:pt x="114300" y="0"/>
                </a:cubicBezTo>
                <a:close/>
                <a:moveTo>
                  <a:pt x="114300" y="29825"/>
                </a:moveTo>
                <a:lnTo>
                  <a:pt x="114300" y="198641"/>
                </a:lnTo>
                <a:cubicBezTo>
                  <a:pt x="175915" y="168816"/>
                  <a:pt x="192479" y="102736"/>
                  <a:pt x="192881" y="63178"/>
                </a:cubicBezTo>
                <a:lnTo>
                  <a:pt x="114300" y="29870"/>
                </a:lnTo>
                <a:lnTo>
                  <a:pt x="114300" y="2987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0" name="Text 7"/>
          <p:cNvSpPr/>
          <p:nvPr/>
        </p:nvSpPr>
        <p:spPr>
          <a:xfrm>
            <a:off x="581025" y="3127400"/>
            <a:ext cx="34004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F7FAF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Stability Over Magnitude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81025" y="3470300"/>
            <a:ext cx="33813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A0AEC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Structural stability indicators (employment tenure, education, age) provide stronger risk separation than raw financial values.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4246513" y="2284437"/>
            <a:ext cx="3695700" cy="2124075"/>
          </a:xfrm>
          <a:custGeom>
            <a:avLst/>
            <a:gdLst/>
            <a:ahLst/>
            <a:cxnLst/>
            <a:rect l="l" t="t" r="r" b="b"/>
            <a:pathLst>
              <a:path w="3695700" h="2124075">
                <a:moveTo>
                  <a:pt x="76191" y="0"/>
                </a:moveTo>
                <a:lnTo>
                  <a:pt x="3619509" y="0"/>
                </a:lnTo>
                <a:cubicBezTo>
                  <a:pt x="3661560" y="0"/>
                  <a:pt x="3695700" y="34140"/>
                  <a:pt x="3695700" y="76191"/>
                </a:cubicBezTo>
                <a:lnTo>
                  <a:pt x="3695700" y="2047884"/>
                </a:lnTo>
                <a:cubicBezTo>
                  <a:pt x="3695700" y="2089935"/>
                  <a:pt x="3661560" y="2124075"/>
                  <a:pt x="3619509" y="2124075"/>
                </a:cubicBezTo>
                <a:lnTo>
                  <a:pt x="76191" y="2124075"/>
                </a:lnTo>
                <a:cubicBezTo>
                  <a:pt x="34140" y="2124075"/>
                  <a:pt x="0" y="2089935"/>
                  <a:pt x="0" y="2047884"/>
                </a:cubicBezTo>
                <a:lnTo>
                  <a:pt x="0" y="76191"/>
                </a:lnTo>
                <a:cubicBezTo>
                  <a:pt x="0" y="34140"/>
                  <a:pt x="34140" y="0"/>
                  <a:pt x="76191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41775" y="2479700"/>
            <a:ext cx="533400" cy="533400"/>
          </a:xfrm>
          <a:custGeom>
            <a:avLst/>
            <a:gdLst/>
            <a:ahLst/>
            <a:cxnLst/>
            <a:rect l="l" t="t" r="r" b="b"/>
            <a:pathLst>
              <a:path w="533400" h="533400">
                <a:moveTo>
                  <a:pt x="266700" y="0"/>
                </a:moveTo>
                <a:lnTo>
                  <a:pt x="266700" y="0"/>
                </a:lnTo>
                <a:cubicBezTo>
                  <a:pt x="413896" y="0"/>
                  <a:pt x="533400" y="119504"/>
                  <a:pt x="533400" y="266700"/>
                </a:cubicBezTo>
                <a:lnTo>
                  <a:pt x="533400" y="266700"/>
                </a:lnTo>
                <a:cubicBezTo>
                  <a:pt x="533400" y="413896"/>
                  <a:pt x="413896" y="533400"/>
                  <a:pt x="266700" y="533400"/>
                </a:cubicBezTo>
                <a:lnTo>
                  <a:pt x="266700" y="533400"/>
                </a:lnTo>
                <a:cubicBezTo>
                  <a:pt x="119504" y="533400"/>
                  <a:pt x="0" y="413896"/>
                  <a:pt x="0" y="266700"/>
                </a:cubicBezTo>
                <a:lnTo>
                  <a:pt x="0" y="266700"/>
                </a:lnTo>
                <a:cubicBezTo>
                  <a:pt x="0" y="119504"/>
                  <a:pt x="119504" y="0"/>
                  <a:pt x="266700" y="0"/>
                </a:cubicBezTo>
                <a:close/>
              </a:path>
            </a:pathLst>
          </a:custGeom>
          <a:solidFill>
            <a:srgbClr val="C0A062"/>
          </a:solidFill>
          <a:ln/>
        </p:spPr>
      </p:sp>
      <p:sp>
        <p:nvSpPr>
          <p:cNvPr id="14" name="Shape 11"/>
          <p:cNvSpPr/>
          <p:nvPr/>
        </p:nvSpPr>
        <p:spPr>
          <a:xfrm>
            <a:off x="4565600" y="2632100"/>
            <a:ext cx="285750" cy="228600"/>
          </a:xfrm>
          <a:custGeom>
            <a:avLst/>
            <a:gdLst/>
            <a:ahLst/>
            <a:cxnLst/>
            <a:rect l="l" t="t" r="r" b="b"/>
            <a:pathLst>
              <a:path w="285750" h="228600">
                <a:moveTo>
                  <a:pt x="171450" y="14288"/>
                </a:moveTo>
                <a:lnTo>
                  <a:pt x="228600" y="14288"/>
                </a:lnTo>
                <a:cubicBezTo>
                  <a:pt x="236503" y="14288"/>
                  <a:pt x="242888" y="20672"/>
                  <a:pt x="242888" y="28575"/>
                </a:cubicBezTo>
                <a:cubicBezTo>
                  <a:pt x="242888" y="36478"/>
                  <a:pt x="236503" y="42863"/>
                  <a:pt x="228600" y="42863"/>
                </a:cubicBezTo>
                <a:lnTo>
                  <a:pt x="177879" y="42863"/>
                </a:lnTo>
                <a:cubicBezTo>
                  <a:pt x="175558" y="54382"/>
                  <a:pt x="167655" y="63892"/>
                  <a:pt x="157163" y="68446"/>
                </a:cubicBezTo>
                <a:lnTo>
                  <a:pt x="157163" y="200025"/>
                </a:lnTo>
                <a:lnTo>
                  <a:pt x="228600" y="200025"/>
                </a:lnTo>
                <a:cubicBezTo>
                  <a:pt x="236503" y="200025"/>
                  <a:pt x="242888" y="206410"/>
                  <a:pt x="242888" y="214313"/>
                </a:cubicBezTo>
                <a:cubicBezTo>
                  <a:pt x="242888" y="222215"/>
                  <a:pt x="236503" y="228600"/>
                  <a:pt x="228600" y="228600"/>
                </a:cubicBezTo>
                <a:lnTo>
                  <a:pt x="57150" y="228600"/>
                </a:lnTo>
                <a:cubicBezTo>
                  <a:pt x="49247" y="228600"/>
                  <a:pt x="42863" y="222215"/>
                  <a:pt x="42863" y="214313"/>
                </a:cubicBezTo>
                <a:cubicBezTo>
                  <a:pt x="42863" y="206410"/>
                  <a:pt x="49247" y="200025"/>
                  <a:pt x="57150" y="200025"/>
                </a:cubicBezTo>
                <a:lnTo>
                  <a:pt x="128588" y="200025"/>
                </a:lnTo>
                <a:lnTo>
                  <a:pt x="128588" y="68446"/>
                </a:lnTo>
                <a:cubicBezTo>
                  <a:pt x="118095" y="63847"/>
                  <a:pt x="110192" y="54337"/>
                  <a:pt x="107871" y="42863"/>
                </a:cubicBezTo>
                <a:lnTo>
                  <a:pt x="57150" y="42863"/>
                </a:lnTo>
                <a:cubicBezTo>
                  <a:pt x="49247" y="42863"/>
                  <a:pt x="42863" y="36478"/>
                  <a:pt x="42863" y="28575"/>
                </a:cubicBezTo>
                <a:cubicBezTo>
                  <a:pt x="42863" y="20672"/>
                  <a:pt x="49247" y="14288"/>
                  <a:pt x="57150" y="14288"/>
                </a:cubicBezTo>
                <a:lnTo>
                  <a:pt x="114300" y="14288"/>
                </a:lnTo>
                <a:cubicBezTo>
                  <a:pt x="120819" y="5626"/>
                  <a:pt x="131177" y="0"/>
                  <a:pt x="142875" y="0"/>
                </a:cubicBezTo>
                <a:cubicBezTo>
                  <a:pt x="154573" y="0"/>
                  <a:pt x="164931" y="5626"/>
                  <a:pt x="171450" y="14288"/>
                </a:cubicBezTo>
                <a:close/>
                <a:moveTo>
                  <a:pt x="196275" y="142875"/>
                </a:moveTo>
                <a:lnTo>
                  <a:pt x="260925" y="142875"/>
                </a:lnTo>
                <a:lnTo>
                  <a:pt x="228600" y="87422"/>
                </a:lnTo>
                <a:lnTo>
                  <a:pt x="196275" y="142875"/>
                </a:lnTo>
                <a:close/>
                <a:moveTo>
                  <a:pt x="228600" y="185738"/>
                </a:moveTo>
                <a:cubicBezTo>
                  <a:pt x="200516" y="185738"/>
                  <a:pt x="177165" y="170557"/>
                  <a:pt x="172343" y="150510"/>
                </a:cubicBezTo>
                <a:cubicBezTo>
                  <a:pt x="171182" y="145599"/>
                  <a:pt x="172789" y="140553"/>
                  <a:pt x="175334" y="136178"/>
                </a:cubicBezTo>
                <a:lnTo>
                  <a:pt x="217840" y="63311"/>
                </a:lnTo>
                <a:cubicBezTo>
                  <a:pt x="220072" y="59472"/>
                  <a:pt x="224180" y="57150"/>
                  <a:pt x="228600" y="57150"/>
                </a:cubicBezTo>
                <a:cubicBezTo>
                  <a:pt x="233020" y="57150"/>
                  <a:pt x="237128" y="59516"/>
                  <a:pt x="239360" y="63311"/>
                </a:cubicBezTo>
                <a:lnTo>
                  <a:pt x="281866" y="136178"/>
                </a:lnTo>
                <a:cubicBezTo>
                  <a:pt x="284411" y="140553"/>
                  <a:pt x="286018" y="145599"/>
                  <a:pt x="284857" y="150510"/>
                </a:cubicBezTo>
                <a:cubicBezTo>
                  <a:pt x="280035" y="170512"/>
                  <a:pt x="256684" y="185738"/>
                  <a:pt x="228600" y="185738"/>
                </a:cubicBezTo>
                <a:close/>
                <a:moveTo>
                  <a:pt x="56614" y="87422"/>
                </a:moveTo>
                <a:lnTo>
                  <a:pt x="24289" y="142875"/>
                </a:lnTo>
                <a:lnTo>
                  <a:pt x="88984" y="142875"/>
                </a:lnTo>
                <a:lnTo>
                  <a:pt x="56614" y="87422"/>
                </a:lnTo>
                <a:close/>
                <a:moveTo>
                  <a:pt x="402" y="150510"/>
                </a:moveTo>
                <a:cubicBezTo>
                  <a:pt x="-759" y="145599"/>
                  <a:pt x="848" y="140553"/>
                  <a:pt x="3393" y="136178"/>
                </a:cubicBezTo>
                <a:lnTo>
                  <a:pt x="45899" y="63311"/>
                </a:lnTo>
                <a:cubicBezTo>
                  <a:pt x="48131" y="59472"/>
                  <a:pt x="52239" y="57150"/>
                  <a:pt x="56659" y="57150"/>
                </a:cubicBezTo>
                <a:cubicBezTo>
                  <a:pt x="61079" y="57150"/>
                  <a:pt x="65187" y="59516"/>
                  <a:pt x="67419" y="63311"/>
                </a:cubicBezTo>
                <a:lnTo>
                  <a:pt x="109924" y="136178"/>
                </a:lnTo>
                <a:cubicBezTo>
                  <a:pt x="112469" y="140553"/>
                  <a:pt x="114077" y="145599"/>
                  <a:pt x="112916" y="150510"/>
                </a:cubicBezTo>
                <a:cubicBezTo>
                  <a:pt x="108094" y="170512"/>
                  <a:pt x="84743" y="185738"/>
                  <a:pt x="56659" y="185738"/>
                </a:cubicBezTo>
                <a:cubicBezTo>
                  <a:pt x="28575" y="185738"/>
                  <a:pt x="5224" y="170557"/>
                  <a:pt x="402" y="150510"/>
                </a:cubicBez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5" name="Text 12"/>
          <p:cNvSpPr/>
          <p:nvPr/>
        </p:nvSpPr>
        <p:spPr>
          <a:xfrm>
            <a:off x="4441775" y="3127400"/>
            <a:ext cx="34004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F7FAF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Alignment Matters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441775" y="3470300"/>
            <a:ext cx="33813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A0AEC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Income-aligned loan sizing among repayers vs. misalignment among defaulters highlights the importance of underwriting consistency.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8107338" y="2284437"/>
            <a:ext cx="3695700" cy="2124075"/>
          </a:xfrm>
          <a:custGeom>
            <a:avLst/>
            <a:gdLst/>
            <a:ahLst/>
            <a:cxnLst/>
            <a:rect l="l" t="t" r="r" b="b"/>
            <a:pathLst>
              <a:path w="3695700" h="2124075">
                <a:moveTo>
                  <a:pt x="76191" y="0"/>
                </a:moveTo>
                <a:lnTo>
                  <a:pt x="3619509" y="0"/>
                </a:lnTo>
                <a:cubicBezTo>
                  <a:pt x="3661560" y="0"/>
                  <a:pt x="3695700" y="34140"/>
                  <a:pt x="3695700" y="76191"/>
                </a:cubicBezTo>
                <a:lnTo>
                  <a:pt x="3695700" y="2047884"/>
                </a:lnTo>
                <a:cubicBezTo>
                  <a:pt x="3695700" y="2089935"/>
                  <a:pt x="3661560" y="2124075"/>
                  <a:pt x="3619509" y="2124075"/>
                </a:cubicBezTo>
                <a:lnTo>
                  <a:pt x="76191" y="2124075"/>
                </a:lnTo>
                <a:cubicBezTo>
                  <a:pt x="34140" y="2124075"/>
                  <a:pt x="0" y="2089935"/>
                  <a:pt x="0" y="2047884"/>
                </a:cubicBezTo>
                <a:lnTo>
                  <a:pt x="0" y="76191"/>
                </a:lnTo>
                <a:cubicBezTo>
                  <a:pt x="0" y="34140"/>
                  <a:pt x="34140" y="0"/>
                  <a:pt x="76191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302600" y="2479700"/>
            <a:ext cx="533400" cy="533400"/>
          </a:xfrm>
          <a:custGeom>
            <a:avLst/>
            <a:gdLst/>
            <a:ahLst/>
            <a:cxnLst/>
            <a:rect l="l" t="t" r="r" b="b"/>
            <a:pathLst>
              <a:path w="533400" h="533400">
                <a:moveTo>
                  <a:pt x="266700" y="0"/>
                </a:moveTo>
                <a:lnTo>
                  <a:pt x="266700" y="0"/>
                </a:lnTo>
                <a:cubicBezTo>
                  <a:pt x="413896" y="0"/>
                  <a:pt x="533400" y="119504"/>
                  <a:pt x="533400" y="266700"/>
                </a:cubicBezTo>
                <a:lnTo>
                  <a:pt x="533400" y="266700"/>
                </a:lnTo>
                <a:cubicBezTo>
                  <a:pt x="533400" y="413896"/>
                  <a:pt x="413896" y="533400"/>
                  <a:pt x="266700" y="533400"/>
                </a:cubicBezTo>
                <a:lnTo>
                  <a:pt x="266700" y="533400"/>
                </a:lnTo>
                <a:cubicBezTo>
                  <a:pt x="119504" y="533400"/>
                  <a:pt x="0" y="413896"/>
                  <a:pt x="0" y="266700"/>
                </a:cubicBezTo>
                <a:lnTo>
                  <a:pt x="0" y="266700"/>
                </a:lnTo>
                <a:cubicBezTo>
                  <a:pt x="0" y="119504"/>
                  <a:pt x="119504" y="0"/>
                  <a:pt x="266700" y="0"/>
                </a:cubicBezTo>
                <a:close/>
              </a:path>
            </a:pathLst>
          </a:custGeom>
          <a:solidFill>
            <a:srgbClr val="C0A062"/>
          </a:solidFill>
          <a:ln/>
        </p:spPr>
      </p:sp>
      <p:sp>
        <p:nvSpPr>
          <p:cNvPr id="19" name="Shape 16"/>
          <p:cNvSpPr/>
          <p:nvPr/>
        </p:nvSpPr>
        <p:spPr>
          <a:xfrm>
            <a:off x="8455000" y="26321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8575" y="28575"/>
                </a:moveTo>
                <a:cubicBezTo>
                  <a:pt x="28575" y="20672"/>
                  <a:pt x="22190" y="14288"/>
                  <a:pt x="14288" y="14288"/>
                </a:cubicBezTo>
                <a:cubicBezTo>
                  <a:pt x="6385" y="14288"/>
                  <a:pt x="0" y="20672"/>
                  <a:pt x="0" y="28575"/>
                </a:cubicBezTo>
                <a:lnTo>
                  <a:pt x="0" y="178594"/>
                </a:lnTo>
                <a:cubicBezTo>
                  <a:pt x="0" y="198328"/>
                  <a:pt x="15984" y="214313"/>
                  <a:pt x="35719" y="214313"/>
                </a:cubicBezTo>
                <a:lnTo>
                  <a:pt x="214313" y="214313"/>
                </a:lnTo>
                <a:cubicBezTo>
                  <a:pt x="222215" y="214313"/>
                  <a:pt x="228600" y="207928"/>
                  <a:pt x="228600" y="200025"/>
                </a:cubicBezTo>
                <a:cubicBezTo>
                  <a:pt x="228600" y="192122"/>
                  <a:pt x="222215" y="185738"/>
                  <a:pt x="214313" y="185738"/>
                </a:cubicBezTo>
                <a:lnTo>
                  <a:pt x="35719" y="185738"/>
                </a:lnTo>
                <a:cubicBezTo>
                  <a:pt x="31790" y="185738"/>
                  <a:pt x="28575" y="182523"/>
                  <a:pt x="28575" y="178594"/>
                </a:cubicBezTo>
                <a:lnTo>
                  <a:pt x="28575" y="28575"/>
                </a:lnTo>
                <a:close/>
                <a:moveTo>
                  <a:pt x="210116" y="67241"/>
                </a:moveTo>
                <a:cubicBezTo>
                  <a:pt x="215697" y="61659"/>
                  <a:pt x="215697" y="52596"/>
                  <a:pt x="210116" y="47015"/>
                </a:cubicBezTo>
                <a:cubicBezTo>
                  <a:pt x="204534" y="41434"/>
                  <a:pt x="195471" y="41434"/>
                  <a:pt x="189890" y="47015"/>
                </a:cubicBezTo>
                <a:lnTo>
                  <a:pt x="142875" y="94074"/>
                </a:lnTo>
                <a:lnTo>
                  <a:pt x="117247" y="68491"/>
                </a:lnTo>
                <a:cubicBezTo>
                  <a:pt x="111666" y="62910"/>
                  <a:pt x="102602" y="62910"/>
                  <a:pt x="97021" y="68491"/>
                </a:cubicBezTo>
                <a:lnTo>
                  <a:pt x="54159" y="111353"/>
                </a:lnTo>
                <a:cubicBezTo>
                  <a:pt x="48578" y="116934"/>
                  <a:pt x="48578" y="125998"/>
                  <a:pt x="54159" y="131579"/>
                </a:cubicBezTo>
                <a:cubicBezTo>
                  <a:pt x="59740" y="137160"/>
                  <a:pt x="68803" y="137160"/>
                  <a:pt x="74384" y="131579"/>
                </a:cubicBezTo>
                <a:lnTo>
                  <a:pt x="107156" y="98807"/>
                </a:lnTo>
                <a:lnTo>
                  <a:pt x="132784" y="124435"/>
                </a:lnTo>
                <a:cubicBezTo>
                  <a:pt x="138366" y="130016"/>
                  <a:pt x="147429" y="130016"/>
                  <a:pt x="153010" y="124435"/>
                </a:cubicBezTo>
                <a:lnTo>
                  <a:pt x="210160" y="67285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20" name="Text 17"/>
          <p:cNvSpPr/>
          <p:nvPr/>
        </p:nvSpPr>
        <p:spPr>
          <a:xfrm>
            <a:off x="8302600" y="3127400"/>
            <a:ext cx="34004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F7FAF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Relative Metrics Win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8302600" y="3470300"/>
            <a:ext cx="33813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A0AEC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Loan-to-income ratios and interaction-based measures are more predictive than absolute loan amounts or income values.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385763" y="4602138"/>
            <a:ext cx="11420475" cy="1228725"/>
          </a:xfrm>
          <a:custGeom>
            <a:avLst/>
            <a:gdLst/>
            <a:ahLst/>
            <a:cxnLst/>
            <a:rect l="l" t="t" r="r" b="b"/>
            <a:pathLst>
              <a:path w="11420475" h="1228725">
                <a:moveTo>
                  <a:pt x="76206" y="0"/>
                </a:moveTo>
                <a:lnTo>
                  <a:pt x="11344269" y="0"/>
                </a:lnTo>
                <a:cubicBezTo>
                  <a:pt x="11386357" y="0"/>
                  <a:pt x="11420475" y="34118"/>
                  <a:pt x="11420475" y="76206"/>
                </a:cubicBezTo>
                <a:lnTo>
                  <a:pt x="11420475" y="1152519"/>
                </a:lnTo>
                <a:cubicBezTo>
                  <a:pt x="11420475" y="1194607"/>
                  <a:pt x="11386357" y="1228725"/>
                  <a:pt x="11344269" y="1228725"/>
                </a:cubicBezTo>
                <a:lnTo>
                  <a:pt x="76206" y="1228725"/>
                </a:lnTo>
                <a:cubicBezTo>
                  <a:pt x="34118" y="1228725"/>
                  <a:pt x="0" y="1194607"/>
                  <a:pt x="0" y="1152519"/>
                </a:cubicBezTo>
                <a:lnTo>
                  <a:pt x="0" y="76206"/>
                </a:lnTo>
                <a:cubicBezTo>
                  <a:pt x="0" y="34147"/>
                  <a:pt x="34147" y="0"/>
                  <a:pt x="76206" y="0"/>
                </a:cubicBezTo>
                <a:close/>
              </a:path>
            </a:pathLst>
          </a:custGeom>
          <a:solidFill>
            <a:srgbClr val="C0A062">
              <a:alpha val="20000"/>
            </a:srgbClr>
          </a:solidFill>
          <a:ln w="12700">
            <a:solidFill>
              <a:srgbClr val="C0A062">
                <a:alpha val="4000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54844" y="5073625"/>
            <a:ext cx="214313" cy="285750"/>
          </a:xfrm>
          <a:custGeom>
            <a:avLst/>
            <a:gdLst/>
            <a:ahLst/>
            <a:cxnLst/>
            <a:rect l="l" t="t" r="r" b="b"/>
            <a:pathLst>
              <a:path w="214313" h="285750">
                <a:moveTo>
                  <a:pt x="163469" y="214313"/>
                </a:moveTo>
                <a:cubicBezTo>
                  <a:pt x="167543" y="201867"/>
                  <a:pt x="175692" y="190593"/>
                  <a:pt x="184900" y="180882"/>
                </a:cubicBezTo>
                <a:cubicBezTo>
                  <a:pt x="203150" y="161683"/>
                  <a:pt x="214312" y="135731"/>
                  <a:pt x="214312" y="107156"/>
                </a:cubicBezTo>
                <a:cubicBezTo>
                  <a:pt x="214312" y="47997"/>
                  <a:pt x="166315" y="0"/>
                  <a:pt x="107156" y="0"/>
                </a:cubicBezTo>
                <a:cubicBezTo>
                  <a:pt x="47997" y="0"/>
                  <a:pt x="0" y="47997"/>
                  <a:pt x="0" y="107156"/>
                </a:cubicBezTo>
                <a:cubicBezTo>
                  <a:pt x="0" y="135731"/>
                  <a:pt x="11162" y="161683"/>
                  <a:pt x="29412" y="180882"/>
                </a:cubicBezTo>
                <a:cubicBezTo>
                  <a:pt x="38621" y="190593"/>
                  <a:pt x="46825" y="201867"/>
                  <a:pt x="50843" y="214313"/>
                </a:cubicBezTo>
                <a:lnTo>
                  <a:pt x="163413" y="214313"/>
                </a:lnTo>
                <a:close/>
                <a:moveTo>
                  <a:pt x="160734" y="241102"/>
                </a:moveTo>
                <a:lnTo>
                  <a:pt x="53578" y="241102"/>
                </a:lnTo>
                <a:lnTo>
                  <a:pt x="53578" y="250031"/>
                </a:lnTo>
                <a:cubicBezTo>
                  <a:pt x="53578" y="274700"/>
                  <a:pt x="73558" y="294680"/>
                  <a:pt x="98227" y="294680"/>
                </a:cubicBezTo>
                <a:lnTo>
                  <a:pt x="116086" y="294680"/>
                </a:lnTo>
                <a:cubicBezTo>
                  <a:pt x="140754" y="294680"/>
                  <a:pt x="160734" y="274700"/>
                  <a:pt x="160734" y="250031"/>
                </a:cubicBezTo>
                <a:lnTo>
                  <a:pt x="160734" y="241102"/>
                </a:lnTo>
                <a:close/>
                <a:moveTo>
                  <a:pt x="102691" y="62508"/>
                </a:moveTo>
                <a:cubicBezTo>
                  <a:pt x="80479" y="62508"/>
                  <a:pt x="62508" y="80479"/>
                  <a:pt x="62508" y="102691"/>
                </a:cubicBezTo>
                <a:cubicBezTo>
                  <a:pt x="62508" y="110114"/>
                  <a:pt x="56536" y="116086"/>
                  <a:pt x="49113" y="116086"/>
                </a:cubicBezTo>
                <a:cubicBezTo>
                  <a:pt x="41690" y="116086"/>
                  <a:pt x="35719" y="110114"/>
                  <a:pt x="35719" y="102691"/>
                </a:cubicBezTo>
                <a:cubicBezTo>
                  <a:pt x="35719" y="65689"/>
                  <a:pt x="65689" y="35719"/>
                  <a:pt x="102691" y="35719"/>
                </a:cubicBezTo>
                <a:cubicBezTo>
                  <a:pt x="110114" y="35719"/>
                  <a:pt x="116086" y="41690"/>
                  <a:pt x="116086" y="49113"/>
                </a:cubicBezTo>
                <a:cubicBezTo>
                  <a:pt x="116086" y="56536"/>
                  <a:pt x="110114" y="62508"/>
                  <a:pt x="102691" y="62508"/>
                </a:cubicBezTo>
                <a:close/>
              </a:path>
            </a:pathLst>
          </a:custGeom>
          <a:solidFill>
            <a:srgbClr val="C0A062"/>
          </a:solidFill>
          <a:ln/>
        </p:spPr>
      </p:sp>
      <p:sp>
        <p:nvSpPr>
          <p:cNvPr id="24" name="Text 21"/>
          <p:cNvSpPr/>
          <p:nvPr/>
        </p:nvSpPr>
        <p:spPr>
          <a:xfrm>
            <a:off x="1090613" y="4797400"/>
            <a:ext cx="106203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F7FAF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Core Insight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1090613" y="5140300"/>
            <a:ext cx="10601325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A0AEC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Incorporating structural stability indicators and interaction-based measures enables lenders to </a:t>
            </a:r>
            <a:pPr>
              <a:lnSpc>
                <a:spcPct val="140000"/>
              </a:lnSpc>
            </a:pPr>
            <a:r>
              <a:rPr lang="en-US" sz="1200" b="1" dirty="0">
                <a:solidFill>
                  <a:srgbClr val="C0A06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more effectively distinguish reliable applicants from high-risk ones</a:t>
            </a:r>
            <a:pPr>
              <a:lnSpc>
                <a:spcPct val="140000"/>
              </a:lnSpc>
            </a:pPr>
            <a:r>
              <a:rPr lang="en-US" sz="1200" dirty="0">
                <a:solidFill>
                  <a:srgbClr val="A0AEC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, directly supporting the optimization of approval decisions and minimizing both opportunity loss and credit risk.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381000" y="60198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0"/>
                </a:moveTo>
                <a:lnTo>
                  <a:pt x="228600" y="0"/>
                </a:lnTo>
                <a:cubicBezTo>
                  <a:pt x="354768" y="0"/>
                  <a:pt x="457200" y="102432"/>
                  <a:pt x="457200" y="228600"/>
                </a:cubicBezTo>
                <a:lnTo>
                  <a:pt x="457200" y="228600"/>
                </a:lnTo>
                <a:cubicBezTo>
                  <a:pt x="457200" y="354768"/>
                  <a:pt x="354768" y="457200"/>
                  <a:pt x="228600" y="457200"/>
                </a:cubicBezTo>
                <a:lnTo>
                  <a:pt x="228600" y="457200"/>
                </a:lnTo>
                <a:cubicBezTo>
                  <a:pt x="102432" y="457200"/>
                  <a:pt x="0" y="354768"/>
                  <a:pt x="0" y="228600"/>
                </a:cubicBezTo>
                <a:lnTo>
                  <a:pt x="0" y="228600"/>
                </a:lnTo>
                <a:cubicBezTo>
                  <a:pt x="0" y="102432"/>
                  <a:pt x="102432" y="0"/>
                  <a:pt x="228600" y="0"/>
                </a:cubicBezTo>
                <a:close/>
              </a:path>
            </a:pathLst>
          </a:custGeom>
          <a:solidFill>
            <a:srgbClr val="C0A062">
              <a:alpha val="20000"/>
            </a:srgbClr>
          </a:solidFill>
          <a:ln/>
        </p:spPr>
      </p:sp>
      <p:sp>
        <p:nvSpPr>
          <p:cNvPr id="27" name="Shape 24"/>
          <p:cNvSpPr/>
          <p:nvPr/>
        </p:nvSpPr>
        <p:spPr>
          <a:xfrm>
            <a:off x="490538" y="6153150"/>
            <a:ext cx="238125" cy="190500"/>
          </a:xfrm>
          <a:custGeom>
            <a:avLst/>
            <a:gdLst/>
            <a:ahLst/>
            <a:cxnLst/>
            <a:rect l="l" t="t" r="r" b="b"/>
            <a:pathLst>
              <a:path w="238125" h="190500">
                <a:moveTo>
                  <a:pt x="119063" y="5953"/>
                </a:moveTo>
                <a:cubicBezTo>
                  <a:pt x="140419" y="5953"/>
                  <a:pt x="157758" y="23292"/>
                  <a:pt x="157758" y="44648"/>
                </a:cubicBezTo>
                <a:cubicBezTo>
                  <a:pt x="157758" y="66005"/>
                  <a:pt x="140419" y="83344"/>
                  <a:pt x="119063" y="83344"/>
                </a:cubicBezTo>
                <a:cubicBezTo>
                  <a:pt x="97706" y="83344"/>
                  <a:pt x="80367" y="66005"/>
                  <a:pt x="80367" y="44648"/>
                </a:cubicBezTo>
                <a:cubicBezTo>
                  <a:pt x="80367" y="23292"/>
                  <a:pt x="97706" y="5953"/>
                  <a:pt x="119063" y="5953"/>
                </a:cubicBezTo>
                <a:close/>
                <a:moveTo>
                  <a:pt x="35719" y="32742"/>
                </a:moveTo>
                <a:cubicBezTo>
                  <a:pt x="50504" y="32742"/>
                  <a:pt x="62508" y="44746"/>
                  <a:pt x="62508" y="59531"/>
                </a:cubicBezTo>
                <a:cubicBezTo>
                  <a:pt x="62508" y="74317"/>
                  <a:pt x="50504" y="86320"/>
                  <a:pt x="35719" y="86320"/>
                </a:cubicBezTo>
                <a:cubicBezTo>
                  <a:pt x="20933" y="86320"/>
                  <a:pt x="8930" y="74317"/>
                  <a:pt x="8930" y="59531"/>
                </a:cubicBezTo>
                <a:cubicBezTo>
                  <a:pt x="8930" y="44746"/>
                  <a:pt x="20933" y="32742"/>
                  <a:pt x="35719" y="32742"/>
                </a:cubicBezTo>
                <a:close/>
                <a:moveTo>
                  <a:pt x="0" y="154781"/>
                </a:moveTo>
                <a:cubicBezTo>
                  <a:pt x="0" y="128476"/>
                  <a:pt x="21320" y="107156"/>
                  <a:pt x="47625" y="107156"/>
                </a:cubicBezTo>
                <a:cubicBezTo>
                  <a:pt x="52388" y="107156"/>
                  <a:pt x="57001" y="107863"/>
                  <a:pt x="61354" y="109165"/>
                </a:cubicBezTo>
                <a:cubicBezTo>
                  <a:pt x="49113" y="122858"/>
                  <a:pt x="41672" y="140940"/>
                  <a:pt x="41672" y="160734"/>
                </a:cubicBezTo>
                <a:lnTo>
                  <a:pt x="41672" y="166688"/>
                </a:lnTo>
                <a:cubicBezTo>
                  <a:pt x="41672" y="170929"/>
                  <a:pt x="42565" y="174947"/>
                  <a:pt x="44165" y="178594"/>
                </a:cubicBezTo>
                <a:lnTo>
                  <a:pt x="11906" y="178594"/>
                </a:lnTo>
                <a:cubicBezTo>
                  <a:pt x="5321" y="178594"/>
                  <a:pt x="0" y="173273"/>
                  <a:pt x="0" y="166688"/>
                </a:cubicBezTo>
                <a:lnTo>
                  <a:pt x="0" y="154781"/>
                </a:lnTo>
                <a:close/>
                <a:moveTo>
                  <a:pt x="193960" y="178594"/>
                </a:moveTo>
                <a:cubicBezTo>
                  <a:pt x="195560" y="174947"/>
                  <a:pt x="196453" y="170929"/>
                  <a:pt x="196453" y="166688"/>
                </a:cubicBezTo>
                <a:lnTo>
                  <a:pt x="196453" y="160734"/>
                </a:lnTo>
                <a:cubicBezTo>
                  <a:pt x="196453" y="140940"/>
                  <a:pt x="189012" y="122858"/>
                  <a:pt x="176771" y="109165"/>
                </a:cubicBezTo>
                <a:cubicBezTo>
                  <a:pt x="181124" y="107863"/>
                  <a:pt x="185738" y="107156"/>
                  <a:pt x="190500" y="107156"/>
                </a:cubicBezTo>
                <a:cubicBezTo>
                  <a:pt x="216805" y="107156"/>
                  <a:pt x="238125" y="128476"/>
                  <a:pt x="238125" y="154781"/>
                </a:cubicBezTo>
                <a:lnTo>
                  <a:pt x="238125" y="166688"/>
                </a:lnTo>
                <a:cubicBezTo>
                  <a:pt x="238125" y="173273"/>
                  <a:pt x="232804" y="178594"/>
                  <a:pt x="226219" y="178594"/>
                </a:cubicBezTo>
                <a:lnTo>
                  <a:pt x="193960" y="178594"/>
                </a:lnTo>
                <a:close/>
                <a:moveTo>
                  <a:pt x="175617" y="59531"/>
                </a:moveTo>
                <a:cubicBezTo>
                  <a:pt x="175617" y="44746"/>
                  <a:pt x="187621" y="32742"/>
                  <a:pt x="202406" y="32742"/>
                </a:cubicBezTo>
                <a:cubicBezTo>
                  <a:pt x="217192" y="32742"/>
                  <a:pt x="229195" y="44746"/>
                  <a:pt x="229195" y="59531"/>
                </a:cubicBezTo>
                <a:cubicBezTo>
                  <a:pt x="229195" y="74317"/>
                  <a:pt x="217192" y="86320"/>
                  <a:pt x="202406" y="86320"/>
                </a:cubicBezTo>
                <a:cubicBezTo>
                  <a:pt x="187621" y="86320"/>
                  <a:pt x="175617" y="74317"/>
                  <a:pt x="175617" y="59531"/>
                </a:cubicBezTo>
                <a:close/>
                <a:moveTo>
                  <a:pt x="59531" y="160734"/>
                </a:moveTo>
                <a:cubicBezTo>
                  <a:pt x="59531" y="127843"/>
                  <a:pt x="86171" y="101203"/>
                  <a:pt x="119063" y="101203"/>
                </a:cubicBezTo>
                <a:cubicBezTo>
                  <a:pt x="151954" y="101203"/>
                  <a:pt x="178594" y="127843"/>
                  <a:pt x="178594" y="160734"/>
                </a:cubicBezTo>
                <a:lnTo>
                  <a:pt x="178594" y="166688"/>
                </a:lnTo>
                <a:cubicBezTo>
                  <a:pt x="178594" y="173273"/>
                  <a:pt x="173273" y="178594"/>
                  <a:pt x="166688" y="178594"/>
                </a:cubicBezTo>
                <a:lnTo>
                  <a:pt x="71438" y="178594"/>
                </a:lnTo>
                <a:cubicBezTo>
                  <a:pt x="64852" y="178594"/>
                  <a:pt x="59531" y="173273"/>
                  <a:pt x="59531" y="166688"/>
                </a:cubicBezTo>
                <a:lnTo>
                  <a:pt x="59531" y="160734"/>
                </a:lnTo>
                <a:close/>
              </a:path>
            </a:pathLst>
          </a:custGeom>
          <a:solidFill>
            <a:srgbClr val="C0A062"/>
          </a:solidFill>
          <a:ln/>
        </p:spPr>
      </p:sp>
      <p:sp>
        <p:nvSpPr>
          <p:cNvPr id="28" name="Text 25"/>
          <p:cNvSpPr/>
          <p:nvPr/>
        </p:nvSpPr>
        <p:spPr>
          <a:xfrm>
            <a:off x="990600" y="6038850"/>
            <a:ext cx="28098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7FAF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Data Bootcamp Group 12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990600" y="6267450"/>
            <a:ext cx="28003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A0AEC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Skye Xi • Jonathan Cain • Sab Rajesh • Krishnan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10397356" y="6057900"/>
            <a:ext cx="1409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050" dirty="0">
                <a:solidFill>
                  <a:srgbClr val="A0AEC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February 2026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10397356" y="6248400"/>
            <a:ext cx="1409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050" dirty="0">
                <a:solidFill>
                  <a:srgbClr val="A0AEC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Credit Risk EDA Report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theme/theme1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Credit Risk Exploratory Data Analysis</dc:title>
  <dc:subject>Credit Risk Exploratory Data Analysis</dc:subject>
  <dc:creator>Kimi</dc:creator>
  <cp:lastModifiedBy>Kimi</cp:lastModifiedBy>
  <cp:revision>1</cp:revision>
  <dcterms:created xsi:type="dcterms:W3CDTF">2026-02-28T02:55:49Z</dcterms:created>
  <dcterms:modified xsi:type="dcterms:W3CDTF">2026-02-28T02:55:49Z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4" name="AIGC">
    <vt:lpwstr>{"Label":"Credit Risk Exploratory Data Analysis","ContentProducer":"001191110108MACG2KBH8F10000","ProduceID":"19ca1f13-f462-8c61-8000-00009fa076a6","ReservedCode1":"","ContentPropagator":"001191110108MACG2KBH8F20000","PropagateID":"19ca1f13-f462-8c61-8000-00009fa076a6","ReservedCode2":""}</vt:lpwstr>
  </property>
</Properties>
</file>